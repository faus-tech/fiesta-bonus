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Fiesta Bonus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0" i="0">
                <a:solidFill>
                  <a:srgbClr val="BDD7EE"/>
                </a:solidFill>
                <a:latin typeface="Calibri"/>
              </a:rPr>
              <a:t>Two Options for Ownership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Premium-Based (Plan A) vs Coverage-Based (Plan 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11480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BDD7EE"/>
                </a:solidFill>
                <a:latin typeface="Calibri"/>
              </a:rPr>
              <a:t>With $35,000 NB / $20,000 REN minimums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46320"/>
            <a:ext cx="11091672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1">
                <a:solidFill>
                  <a:srgbClr val="BDD7EE"/>
                </a:solidFill>
                <a:latin typeface="Calibri"/>
              </a:rPr>
              <a:t>Modeled on actual Jan-Apr 2026 production: Abel, Dialinerys, Melissa, Flavia, Thalia, Monica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Glossary - What These Terms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Skip this slide if you know the insurance jargon.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 / 23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47120" cy="5266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418320"/>
              </a:tblGrid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NEW BUSINESS - first time the customer is on the books.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REWRITE - cancel an existing policy and write a NEW one (usually at a different carrier). Churns the book.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RENEWAL - the existing policy renews at the SAME carrier. Customer stays put.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PIF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PAID IN FULL - customer pays the entire premium upfront. Zero chargeback risk.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BI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BODILY INJURY liability - pays the OTHER person's injuries if your customer caused the accident.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UNINSURED MOTORIST - pays YOUR customer if hit by an uninsured driver. Cannot exist without BI.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PIP / 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PERSONAL INJURY PROTECTION and PROPERTY DAMAGE liability. Required in Florida.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Comp / Coll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COMPREHENSIVE / COLLISION - covers your customer's OWN car damage.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Collected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% of premium the customer actually paid. Down payment / total = collected %.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Safe Net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Money left after corporate royalty (21%) and overhead (30%). Bonus comes from this pool.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Chargeback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If a policy cancels within 90 days, the bonus is reversed.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Kicker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Bonus multiplier on the collected %. Higher down = bigger multiplier.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Minimum /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 monthly premium threshold the agent must hit to earn that bonus line.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FLIP scenario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Hypothetical: 'what if ALL rewrites had been renewals?'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SWAP scenario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Hypothetical: 'what if HALF the rewrites became renewals?'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We're Changing the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current plan pays for activity, not for the right activity.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What the current plan does today: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Counts NB and RWR together toward a 35-policy tier - so rewriting and writing new are the SAME.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renewals - agents have zero reason to keep a customer with the current carrier.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collected money - a $50 down looks the same as a $500 down at payout time.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coverage upsell (BI / UM / Comp/Coll).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Pays nothing for PIF (paid in full) - even though PIF has the least chargeback risk.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101010"/>
                </a:solidFill>
                <a:latin typeface="Calibri"/>
              </a:rPr>
              <a:t>• Has no profitability tie - the bonus is set without reference to commission economics.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cost of that design: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Agents rewrite customers between carriers to grow their count - even when the customer would have renewed.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Customer is moved, the policy starts a NEW 6-month term, persistency drops.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The agency loses the renewal commission it would have earned by keeping the customer in place.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404040"/>
                </a:solidFill>
                <a:latin typeface="Calibri"/>
              </a:rPr>
              <a:t>• We are paying premium bonus dollars for the worst kind of activity: churning the book.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What We Want the New Plan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Four behaviors. Each one is rewarded.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4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182880" cy="219456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70AD47"/>
                </a:solidFill>
                <a:latin typeface="Calibri"/>
              </a:rPr>
              <a:t>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6596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More new business - but only the kind we can actually keep.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18872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188720"/>
            <a:ext cx="182880" cy="21945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32588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2E75B6"/>
                </a:solidFill>
                <a:latin typeface="Calibri"/>
              </a:rPr>
              <a:t>COLLECT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96596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Bigger down payments and more PIF - less chargeback, more retention.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6616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566160"/>
            <a:ext cx="182880" cy="21945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BF9000"/>
                </a:solidFill>
                <a:latin typeface="Calibri"/>
              </a:rPr>
              <a:t>RETAIN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34340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Renew customers instead of rewriting them. Loyalty is a real number.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3566160"/>
            <a:ext cx="5486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3566160"/>
            <a:ext cx="182880" cy="219456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703320"/>
            <a:ext cx="4937760" cy="5486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800" b="1" i="0">
                <a:solidFill>
                  <a:srgbClr val="ED7D31"/>
                </a:solidFill>
                <a:latin typeface="Calibri"/>
              </a:rPr>
              <a:t>PROFIT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43400"/>
            <a:ext cx="493776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700" b="0" i="0">
                <a:solidFill>
                  <a:srgbClr val="101010"/>
                </a:solidFill>
                <a:latin typeface="Calibri"/>
              </a:rPr>
              <a:t>Bonus comes out of safe-net commission, not out of owner's pocket.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Two Proposed Plans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Premium-Based and Coverage-Based. Don't mix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5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5486400" cy="521208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5486400" cy="73152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143000"/>
            <a:ext cx="51206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PLAN A - PREMIUM-BASED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1">
                <a:solidFill>
                  <a:srgbClr val="1F4E78"/>
                </a:solidFill>
                <a:latin typeface="Calibri"/>
              </a:rPr>
              <a:t>Bonus by written-premium 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468880"/>
            <a:ext cx="5120640" cy="36576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NB pay scales with premium ($5 / $7 / $9 / $11 / $11+).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REN pays $4 / $5 / $6 by tier (lower than NB, on purpose).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RWR is flat $2 - no longer drives bonus.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Collected % kicker (+10% / +15% / +20% / +25%).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PIF add-on: +$8 NB / +$12 high NB / +$5 REN.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Simple payroll math. Lower payout overall.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45352" y="1097280"/>
            <a:ext cx="5486400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5352" y="1097280"/>
            <a:ext cx="5486400" cy="73152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143000"/>
            <a:ext cx="512064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PLAN B - COVERAGE-BASED (RECOMMENDED)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19202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1">
                <a:solidFill>
                  <a:srgbClr val="1F4E78"/>
                </a:solidFill>
                <a:latin typeface="Calibri"/>
              </a:rPr>
              <a:t>Bonus by coverage type, not premium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2468880"/>
            <a:ext cx="5120640" cy="36576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NB base $10 (PIP/PD OR PIP+Comp/Coll).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NB liability bundle +$5 if BI+UM both present.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BI alone does NOT earn the bundle (UM cannot exist without BI).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REN base $6, +$3 liability bundle.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RWR flat $2 - same as Plan A.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Same kicker + same PIF add-ons.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Best motivator. Closest to today's pay when behavior shifts.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11247120" cy="2286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0" i="1">
                <a:solidFill>
                  <a:srgbClr val="404040"/>
                </a:solidFill>
                <a:latin typeface="Calibri"/>
              </a:rPr>
              <a:t>Both plans share: collected kicker, PIF add-on, $35,000 NB / $20,000 REN minimums, 90-day chargeback.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BONUS PLAN (boss-approved framework)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No tiers. Flat per-policy base. Per-policy collected incentive on policies &gt;$1,200. Plus a book retention bonus.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6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960120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1. PER-POLICY BASE (flat, no tiers)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280160"/>
          <a:ext cx="566928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2468880"/>
              </a:tblGrid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Policy Type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Base per policy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>
                    <a:solidFill>
                      <a:srgbClr val="70AD47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NB (new business)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Every new policy written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RWR (rewrite)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Rewrites pay but barely - they don't drive the bonus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 (renewal)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Renewals pay per policy (this is NEW vs today)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960120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2. COLLECTED INCENTIVE (only on policies &gt; $1,200)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1280160"/>
          <a:ext cx="566928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68880"/>
              </a:tblGrid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Collected % of premium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Extra per policy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Below 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$0 (no incentive)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25% to 49%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50% to 99%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100% PIF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+$5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2834640"/>
            <a:ext cx="1161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3. BOOK RETENTION BONUS (paid every month, NOT gated by minimums)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3154680"/>
          <a:ext cx="11612880" cy="822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743200"/>
                <a:gridCol w="4754880"/>
              </a:tblGrid>
              <a:tr h="41148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is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Formula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 values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41148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% of NB premium written 6 months ago still on the books today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Retention Rate x $300/mo 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70% retention -&gt; $210/mo | 80% -&gt; $240/mo | 90% -&gt; $270/mo | 100% -&gt; $300/mo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251960"/>
            <a:ext cx="1161288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1" i="0">
                <a:solidFill>
                  <a:srgbClr val="1F4E78"/>
                </a:solidFill>
                <a:latin typeface="Calibri"/>
              </a:rPr>
              <a:t>4. RULES ON TOP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65760" y="4572000"/>
          <a:ext cx="116128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108960"/>
                <a:gridCol w="5943600"/>
              </a:tblGrid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Rule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NB monthly minimum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$35,000 NB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If NB premium &lt; $35k that month, NB pay = $0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 monthly minimum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$20,000 REN premium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If REN premium &lt; $20k that month, REN pay = 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RWR gate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Both NB AND REN gates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RWR pay only when both other gates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Chargeback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3 months (90 days)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100% bonus reversed if policy cancels/rewrites within 90 days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Excel tracker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Required for every policy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Agent enters policy info + down + premium. No entry = no bonus.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Renewal book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Assigned per agent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100">
                          <a:solidFill>
                            <a:srgbClr val="101010"/>
                          </a:solidFill>
                          <a:latin typeface="Calibri"/>
                        </a:rPr>
                        <a:t>Newer agents inherit a renewal book from former employees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Minimum Requirements (NEW)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NB premium &gt;= $35,000/mo AND REN premium &gt;= $20,000/mo. RWR pays only if both pass.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7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we added a minimum at all: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10972800" cy="7772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404040"/>
                </a:solidFill>
                <a:latin typeface="Calibri"/>
              </a:rPr>
              <a:t>The old plan required 35 NB+RWR policies. That counts rewriting. The new minimum is premium-based and SPLITS NB from REN - so the agent must be writing new business AND building a renewal book. RWR has no own minimum because we don't reward rewriting volume directly.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246888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43891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Gate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REAL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SWAP months pass (24)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NB &gt;= $35,000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9 (38%)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9 (38%)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Top performers earn NB bonus on today's behavior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REN &gt;= $20,000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0 (0%)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18 (75%)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Today's renewals are too small; swap unlocks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BOTH gates (for RWR)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0 (0%)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6 (25%)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Once renewal book exists, RWR also pays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4389120"/>
            <a:ext cx="1124712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3484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DOES THE MINIMUM COVER AGENT SALARY?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46320"/>
            <a:ext cx="10972800" cy="146304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Agent salary basis: $16-$22/hr x 40 hr/wk = $2,773-$3,813/mo (midpoint $3,300).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25% collected (today's typical): $13,750 collected x 11% x (1-21%) = ~$1,195 retained (36%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50% collected (kicker target): ~$2,390 retained (72% of salary).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At 75% collected (top performer): ~$3,585 retained (109% of salary) - covers salary AND generates profit for bonus.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101010"/>
                </a:solidFill>
                <a:latin typeface="Calibri"/>
              </a:rPr>
              <a:t>• The MINIMUM is the floor. The COLLECTED KICKER is the lever to cover salary and earn bonus on top.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Collected % Kicker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Bigger down payments = less chargeback = bigger bonus.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8 / 23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88720"/>
          <a:ext cx="112471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4846320"/>
                <a:gridCol w="228600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Collected %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Multiplier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Plain English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$10 target -&gt; Pays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Below 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1.00 (none)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Premium barely collected. No kicker.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15% - 24%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1.10 (+10%)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Minimum down. Small kicker.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25% - 49%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1.15 (+15%)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Standard down. Standard kicker.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50% - 99%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1.20 (+20%)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High collection. Stronger kicker.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100% (PIF)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x 1.25 (+25%)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Paid in full. Top kicker.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we incentivize collected % (not just written premium):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89120"/>
            <a:ext cx="10972800" cy="210312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Down payment + PIF money is the ONLY money we are SURE we will keep. Everything else can be charged back.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Bigger down -&gt; smaller monthly bills -&gt; customer is less likely to cancel -&gt; we keep more commission.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PIF (paid in full) = no chargeback risk at all. PIF earns the biggest kicker AND a PIF dollar add-on.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Some carriers pay commission as advance on written premium (chargeback if customer cancels). Some pay as-earned on collected. Either way - net commission ~= collected x rate. The kicker rewards retention through collection.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Safe Net - What It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The commission the agency EXPECTS to keep, after royalty and overhead.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9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How commission actually works: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201168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Most carriers pay commission UPFRONT on the WRITTEN premium (advance). Some pay AS EARNED on collected.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On advance carriers, if the customer stops paying, the carrier reverses the unearned commission (chargeback).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Commission RATES vary 8-15% across carriers. We use 11% as a conservative blended rate.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Long-run net commission ~= COLLECTED premium x commission rate. That's what the workbook uses.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65760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200400"/>
                <a:gridCol w="53035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Math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Example: $1,500 policy, $150 down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1. Written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Carrier's number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2. Commission advance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Premium x 11% blended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$165 advance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3. Net commission expected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Collected x 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$150 x 11% = $16.50 expected to keep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4. After royalty (21%)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x 0.79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$13.04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5. After overhead reserve (30%)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x 0.70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$9.13 SAFE 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6. Bonus review threshold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Safe net x 40%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$3.65 max bonus on this policy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Safe Net - Real Example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Abel Guaina, January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10 / 23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2286000"/>
                <a:gridCol w="4846320"/>
              </a:tblGrid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Number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means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NB + RWR + REN written premium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$73,734.92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What Abel sold and renewed in 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Carrier commission advance (x 11%)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$8,110.84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Carriers paid us this much upfront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Total collected from customers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$12,858.65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Cash that came 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Expected retained commission (x 11%)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$1,414.45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After chargeback math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After 17.5% royalty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$1,117.42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After corporate cut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SAFE NET (after 40% overhead reserve)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$782.19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Available for bonus + profit + taxes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Review threshold (40% of safe net)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$312.88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Bonus targets above this get flagged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Plan A target (no min): $252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$252.00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32% of safe net - OK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 b="1">
                          <a:solidFill>
                            <a:srgbClr val="101010"/>
                          </a:solidFill>
                          <a:latin typeface="Calibri"/>
                        </a:rPr>
                        <a:t>Plan B target (no min): $399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$399.46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200">
                          <a:solidFill>
                            <a:srgbClr val="101010"/>
                          </a:solidFill>
                          <a:latin typeface="Calibri"/>
                        </a:rPr>
                        <a:t>51% of safe net - flagged for review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39496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Takeaway: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60720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$700 of safe net means Abel's January contribution can support a bonus up to ~$280 before ownership wants a second look. The actual bonus depends on the plan rules - Plan A pays $252 (under threshold), Plan B pays $399 (above threshold, flagged but not auto-cut).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does CURRENT bonus DROP when RWR becomes REN?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Renewals pay MORE than rewrites - but only under the new plans.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11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1F4E78"/>
                </a:solidFill>
                <a:latin typeface="Calibri"/>
              </a:rPr>
              <a:t>Short answer: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500" b="0" i="0">
                <a:solidFill>
                  <a:srgbClr val="101010"/>
                </a:solidFill>
                <a:latin typeface="Calibri"/>
              </a:rPr>
              <a:t>The CURRENT plan does NOT pay anything for renewals. It only counts NB + RWR toward the 35-policy tier. When 50% of RWR moves to REN, the NB+RWR count drops, the tier drops, the bonus drops. Renewals 'paying more' is only true under the NEW plans (REN pays $4-$6 vs RWR $2).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Concrete example - Dialinerys Dieguez, March: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291840"/>
          <a:ext cx="112471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097280"/>
                <a:gridCol w="1097280"/>
                <a:gridCol w="1097280"/>
                <a:gridCol w="2377440"/>
                <a:gridCol w="2560320"/>
              </a:tblGrid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NB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RWR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Current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Plan B pays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REAL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SWAP (50% RWR -&gt; REN)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$680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$981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-$340 (BAD)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+$215 (GOOD)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5029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600" b="1" i="0">
                <a:solidFill>
                  <a:srgbClr val="1F4E78"/>
                </a:solidFill>
                <a:latin typeface="Calibri"/>
              </a:rPr>
              <a:t>Bottom line: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486400"/>
            <a:ext cx="10972800" cy="109728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Per swapped policy: Current loses ~$10 from the count tier. Plan B gains $4-$6 net ($4-$6 REN - $2 RWR).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Current, the agency literally pays LESS when the agent does the right thing.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Under Plan B, the agent gets MORE for retaining instead of rewriting - the exact incentive we want.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Step-By-Step: How the Bonus Is Calculated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Worked example: Dialinerys Dieguez, March 2026. Same agent, same month, three scenarios.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12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REAL (today)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71600"/>
            <a:ext cx="3703320" cy="5212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Volume: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38, $52k W / $10.5k C (20%)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69, $96k W / $19.7k C (20%)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7, $6k W / $3.1k C (52%)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Per-policy BASE: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= 38 x $7 = $266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= 7 x $5 = $35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= 69 x $2 = $138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Collected incentive (&gt;$1,200 only):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+$0/pol x 43% = $0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+$3/pol x 14% = $3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+$0/pol x 44% = $0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Retention (75% x $300) = $225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16966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TARGET TOTAL = $667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36626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Apply gates: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56285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$35k: PASS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75945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  <a:latin typeface="Calibri"/>
              </a:rPr>
              <a:t>  REN $6k vs $20k: FAIL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95604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C00000"/>
                </a:solidFill>
                <a:latin typeface="Calibri"/>
              </a:rPr>
              <a:t>  RWR (both): FAIL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515264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PAID = $491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24528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50% SWAP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24528" y="1371600"/>
            <a:ext cx="3703320" cy="5212080"/>
          </a:xfrm>
          <a:prstGeom prst="rect">
            <a:avLst/>
          </a:prstGeom>
          <a:solidFill>
            <a:srgbClr val="BDD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15968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Volume: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15968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38, $52k W / $10.5k C (20%)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15968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35, $48k W / $9.9k C (20%)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15968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41, $54k W / $12.9k C (24%)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5968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15968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Per-policy BASE: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5968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= 38 x $7 = $266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15968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= 41 x $5 = $205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15968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= 35 x $2 = $70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15968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Collected incentive (&gt;$1,200 only):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15968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+$0/pol x 43% = 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15968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+$0/pol x 40% = 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15968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+$0/pol x 43% = $0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15968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Retention (75% x $300) = $225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15968" y="416966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TARGET TOTAL = $766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15968" y="436626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Apply gates: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15968" y="456285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$35k: PASS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15968" y="475945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$54k vs $20k: PASS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15968" y="495604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(both): PASS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15968" y="515264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2E75B6"/>
                </a:solidFill>
                <a:latin typeface="Calibri"/>
              </a:rPr>
              <a:t>PAID = $766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174736" y="1005840"/>
            <a:ext cx="370332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100% FLIP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74736" y="1371600"/>
            <a:ext cx="3703320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66176" y="141732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Volume: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66176" y="161391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NB: 38, $52k W / $10.5k C (20%)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66176" y="181051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RWR: 7, $6k W / $3.1k C (52%)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66176" y="200710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>  REN: 69, $96k W / $19.7k C (20%)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66176" y="220370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01010"/>
                </a:solidFill>
                <a:latin typeface="Calibri"/>
              </a:rPr>
              <a:t/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66176" y="240030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Per-policy BASE: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66176" y="259689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= 38 x $7 = $266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6176" y="279349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= 69 x $5 = $345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66176" y="299008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= 7 x $2 = $14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66176" y="318668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Collected incentive (&gt;$1,200 only):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66176" y="338328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NB +$0/pol x 43% = $0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66176" y="357987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REN +$0/pol x 44% = $0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66176" y="377647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1F4E78"/>
                </a:solidFill>
                <a:latin typeface="Calibri"/>
              </a:rPr>
              <a:t>  RWR +$3/pol x 14% = $3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66176" y="397306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1F4E78"/>
                </a:solidFill>
                <a:latin typeface="Calibri"/>
              </a:rPr>
              <a:t>Retention (75% x $300) = $225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66176" y="416966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TARGET TOTAL = $853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66176" y="4366260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Apply gates: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66176" y="4562856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NB $52k vs $35k: PASS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66176" y="4759452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REN $96k vs $20k: PASS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266176" y="4956048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0" i="0">
                <a:solidFill>
                  <a:srgbClr val="70AD47"/>
                </a:solidFill>
                <a:latin typeface="Calibri"/>
              </a:rPr>
              <a:t>  RWR (both): PASS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66176" y="5152644"/>
            <a:ext cx="3520440" cy="196596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000" b="1" i="0">
                <a:solidFill>
                  <a:srgbClr val="BF9000"/>
                </a:solidFill>
                <a:latin typeface="Calibri"/>
              </a:rPr>
              <a:t>PAID = $853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Abel Guaina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13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$1425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$552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$389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$1,300. Plan B WITH MIN: REAL $1,110 | SWAP $1,425 | FLIP $1,586.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Dialinerys Dieguez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14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$548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$658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$322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$981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$735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$2695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$744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$487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$1164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$880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$3274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$3,140. Plan B WITH MIN: REAL $1,324 | SWAP $2,695 | FLIP $3,274.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Melissa Hernandez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15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$708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$637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$1651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$864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$786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$2264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$2,370. Plan B WITH MIN: REAL $814 | SWAP $1,651 | FLIP $2,264.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Flavia Parra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16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$374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$382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$138k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$1213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$2,070. Plan B WITH MIN: REAL $0 | SWAP $374 | FLIP $1,213.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Thalia Rojas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17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$154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$465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$243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$209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$3.1k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$704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$1,400. Plan B WITH MIN: REAL $0 | SWAP $465 | FLIP $704.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Monica Valdes - Month by Month, All Three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All values are Plan B WITH MIN (recommended). $W = written premium, $C = collected.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18 / 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6012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1F4E78"/>
                </a:solidFill>
                <a:latin typeface="Calibri"/>
              </a:rPr>
              <a:t>REAL (today)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3444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$519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274320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2E75B6"/>
                </a:solidFill>
                <a:latin typeface="Calibri"/>
              </a:rPr>
              <a:t>50% SWAP (RWR-&gt;REN)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01752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$24k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$3.6k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$126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$2.7k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$519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$18k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$3.9k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$113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$967</a:t>
                      </a:r>
                    </a:p>
                  </a:txBody>
                  <a:tcPr>
                    <a:solidFill>
                      <a:srgbClr val="BDD7E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4526280"/>
            <a:ext cx="11612880" cy="25603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200" b="1" i="0">
                <a:solidFill>
                  <a:srgbClr val="BF9000"/>
                </a:solidFill>
                <a:latin typeface="Calibri"/>
              </a:rPr>
              <a:t>100% FLIP (RWR&lt;-&gt;REN)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800600"/>
          <a:ext cx="7863840" cy="1399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502920"/>
                <a:gridCol w="777240"/>
                <a:gridCol w="777240"/>
                <a:gridCol w="502920"/>
                <a:gridCol w="777240"/>
                <a:gridCol w="777240"/>
                <a:gridCol w="502920"/>
                <a:gridCol w="777240"/>
                <a:gridCol w="777240"/>
                <a:gridCol w="1188720"/>
              </a:tblGrid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NB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RWR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REN#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$W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REN $C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Plan B WITH MIN</a:t>
                      </a:r>
                    </a:p>
                  </a:txBody>
                  <a:tcPr>
                    <a:solidFill>
                      <a:srgbClr val="BF9000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$8.2k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$47k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$252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$39k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$5.3k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$740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$30k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$6.2k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$0.3k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$35k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$7.3k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$191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  <a:tr h="233172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 b="1">
                          <a:solidFill>
                            <a:srgbClr val="101010"/>
                          </a:solidFill>
                          <a:latin typeface="Calibri"/>
                        </a:rPr>
                        <a:t>TOT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$36k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$170k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$28k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000">
                          <a:solidFill>
                            <a:srgbClr val="101010"/>
                          </a:solidFill>
                          <a:latin typeface="Calibri"/>
                        </a:rPr>
                        <a:t>$1505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6400800"/>
            <a:ext cx="1161288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ctr"/>
            <a:r>
              <a:rPr sz="1100" b="1" i="1">
                <a:solidFill>
                  <a:srgbClr val="1F4E78"/>
                </a:solidFill>
                <a:latin typeface="Calibri"/>
              </a:rPr>
              <a:t>Today's current plan pays $1,940. Plan B WITH MIN: REAL $519 | SWAP $967 | FLIP $1,505.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Headline - 4-Month Totals Across 3 Scenarios (6 agents)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REAL = today. 50% SWAP = half of rewrites become renewals. 100% FLIP = renewals &amp; rewrites fully swapped.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19 / 23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097280"/>
          <a:ext cx="11430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63040"/>
                <a:gridCol w="1463040"/>
                <a:gridCol w="1463040"/>
                <a:gridCol w="4297680"/>
              </a:tblGrid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Plan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REAL (today)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50% SWAP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100% FLIP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Current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$12,220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$2,750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CRASHES - current pays $0 for REN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A no-min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$11,462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$12,664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$13,589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Grows - new plan pays REN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A WITH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$7,297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$9,653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$11,322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Grows as REN gate opens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B no-min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$10,365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$12,963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$14,948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Top motivator - FLIP exceeds today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 b="1">
                          <a:solidFill>
                            <a:srgbClr val="101010"/>
                          </a:solidFill>
                          <a:latin typeface="Calibri"/>
                        </a:rPr>
                        <a:t>Plan B WITH MIN (RECOMMENDED)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$3,766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$7,578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$10,545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45720" rIns="45720" tIns="18288" bIns="18288" wrap="square" anchor="ctr"/>
                    <a:lstStyle/>
                    <a:p>
                      <a:pPr algn="ctr"/>
                      <a:r>
                        <a:rPr sz="1300">
                          <a:solidFill>
                            <a:srgbClr val="101010"/>
                          </a:solidFill>
                          <a:latin typeface="Calibri"/>
                        </a:rPr>
                        <a:t>FLIP matches today's $12k pay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3891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The headline: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10972800" cy="173736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Current plan COLLAPSES under the flip ($2,750 vs today's $12,220). It only rewards rewrite VOLUME.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Plan B WITH MIN under 100% FLIP = $10,545. Compare to today's current $12,220: agents earn the SAME for doing the RIGHT behavior.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Plan B no-min under FLIP = $14,948, which is ABOVE today's pay. Some headroom if ownership wants to be more generous.</a:t>
            </a:r>
          </a:p>
          <a:p>
            <a:pPr>
              <a:lnSpc>
                <a:spcPct val="120000"/>
              </a:lnSpc>
            </a:pPr>
            <a:r>
              <a:rPr sz="1300">
                <a:solidFill>
                  <a:srgbClr val="101010"/>
                </a:solidFill>
                <a:latin typeface="Calibri"/>
              </a:rPr>
              <a:t>• The pitch to the agent: 'today you're earning $509/mo on rewrites. Under the new plan, when you renew instead, you earn the same dollars - but the customer stays put.'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How We Protect Profit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Three layers. 90-day chargeback is the strongest.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20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3749039" cy="521208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3749039" cy="73152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MINIMUM REQUIREMENTS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NB premium ≥ $35,000/mo AND REN premium ≥ $20,000/mo. RWR pays only if both pass.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If the agent is not producing baseline volume, NO bonus that month. Easy to understand, easy to enforce.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2" y="1188720"/>
            <a:ext cx="3749039" cy="52120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70832" y="1188720"/>
            <a:ext cx="3749039" cy="73152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REVIEW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If monthly bonus &gt; 40% of safe net, ownership reviews.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Soft flag, not auto-cut. Catches outlier months where collection is unusually low.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4464" y="1188720"/>
            <a:ext cx="3749039" cy="5212080"/>
          </a:xfrm>
          <a:prstGeom prst="rect">
            <a:avLst/>
          </a:prstGeom>
          <a:solidFill>
            <a:srgbClr val="FC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4464" y="1188720"/>
            <a:ext cx="3749039" cy="7315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75904" y="1234440"/>
            <a:ext cx="356616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90-DAY CHARGEBACK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2103120"/>
            <a:ext cx="3383280" cy="12801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1F4E78"/>
                </a:solidFill>
                <a:latin typeface="Calibri"/>
              </a:rPr>
              <a:t>100% of the paid bonus is REVERSED if the policy cancels or rewrites within 90 days.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3474720"/>
            <a:ext cx="3383280" cy="2743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101010"/>
                </a:solidFill>
                <a:latin typeface="Calibri"/>
              </a:rPr>
              <a:t>This is the real profit shield. Matches the carrier's commission chargeback exposure exactly. If the agency loses commission, the agent loses bonus.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Plan B with $35,000/$20,000 minimums. Pilot 90 days, then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21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137160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28600" cy="137160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200" b="1" i="0">
                <a:solidFill>
                  <a:srgbClr val="1F4E78"/>
                </a:solidFill>
                <a:latin typeface="Calibri"/>
              </a:rPr>
              <a:t>PLAN B - Coverage-Based, with $35,000 NB / $20,000 REN minimums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737360"/>
            <a:ext cx="10332720" cy="6858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0" i="0">
                <a:solidFill>
                  <a:srgbClr val="101010"/>
                </a:solidFill>
                <a:latin typeface="Calibri"/>
              </a:rPr>
              <a:t>Best balance of agent motivation, sales-story clarity, profitability protection, and pay-near-current when behavior shifts.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Why Plan B over Plan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00400"/>
            <a:ext cx="10972800" cy="18288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B has the strongest UPSELL story: 'every BI+UM bundle is worth $5'. Easy to coach, easy to defend.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B pays closest to today's number when behavior shifts (close to par in SWAP scenario).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B rewards coverage QUALITY - which carriers prefer and persistency improves.</a:t>
            </a:r>
          </a:p>
          <a:p>
            <a:pPr>
              <a:lnSpc>
                <a:spcPct val="120000"/>
              </a:lnSpc>
            </a:pPr>
            <a:r>
              <a:rPr sz="1400">
                <a:solidFill>
                  <a:srgbClr val="101010"/>
                </a:solidFill>
                <a:latin typeface="Calibri"/>
              </a:rPr>
              <a:t>• Plan A is leaner (lower cost) - keep as fallback if Plan B is too generous.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Levers to fine-tune over time: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  <a:latin typeface="Calibri"/>
              </a:rPr>
              <a:t>1) Coverage adoption (estimated 35% of NB, 30% of REN - track actual).   2) Minimum thresholds - softer ($25k/$15k) if too punishing, tighter ($45k/$25k) if too easy.   3) PIF and kicker amounts to balance pay vs profit.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Implementation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30352"/>
            <a:ext cx="11430000" cy="32004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200" b="0" i="1">
                <a:solidFill>
                  <a:srgbClr val="BDD7EE"/>
                </a:solidFill>
                <a:latin typeface="Calibri"/>
              </a:rPr>
              <a:t>Three phases. ~10 weeks from approval to first chargeback review.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47688"/>
            <a:ext cx="12188952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647688"/>
            <a:ext cx="731520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l"/>
            <a:r>
              <a:rPr sz="1000" b="0" i="0">
                <a:solidFill>
                  <a:srgbClr val="404040"/>
                </a:solidFill>
                <a:latin typeface="Calibri"/>
              </a:rPr>
              <a:t>Fiesta Bonus Plan - Ownership Decision Deck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647688"/>
            <a:ext cx="731520" cy="210312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ctr">
            <a:spAutoFit/>
          </a:bodyPr>
          <a:lstStyle/>
          <a:p>
            <a:pPr algn="r"/>
            <a:r>
              <a:rPr sz="1000" b="0" i="0">
                <a:solidFill>
                  <a:srgbClr val="404040"/>
                </a:solidFill>
                <a:latin typeface="Calibri"/>
              </a:rPr>
              <a:t>22 / 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97280"/>
            <a:ext cx="11247120" cy="1691640"/>
          </a:xfrm>
          <a:prstGeom prst="rect">
            <a:avLst/>
          </a:prstGeom>
          <a:solidFill>
            <a:srgbClr val="BDD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228600" cy="169164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1887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2E75B6"/>
                </a:solidFill>
                <a:latin typeface="Calibri"/>
              </a:rPr>
              <a:t>WEEK 1-2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1887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APPROVE + COMMUNICATE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160020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Ownership picks Plan A or B and signs off on minimums.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Manager rolls out the rules to the agents.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Print the Agent Quick Reference (in the workbook) for each desk.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11247120" cy="1691640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228600" cy="1691640"/>
          </a:xfrm>
          <a:prstGeom prst="rect">
            <a:avLst/>
          </a:prstGeom>
          <a:solidFill>
            <a:srgbClr val="70AD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7180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70AD47"/>
                </a:solidFill>
                <a:latin typeface="Calibri"/>
              </a:rPr>
              <a:t>WEEK 3-6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9718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PILOT MONTH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38328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Run the plan side-by-side with the OLD plan for ONE FULL MONTH.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Pay agents the HIGHER of the two each month during the pilot.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Use the manual tracker to verify coverage / PIF / collected.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End of month: compare actual paid vs forecast and adjust if needed.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663440"/>
            <a:ext cx="11247120" cy="169164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663440"/>
            <a:ext cx="228600" cy="16916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7548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400" b="1" i="0">
                <a:solidFill>
                  <a:srgbClr val="BF9000"/>
                </a:solidFill>
                <a:latin typeface="Calibri"/>
              </a:rPr>
              <a:t>WEEK 7-10+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475488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1" i="0">
                <a:solidFill>
                  <a:srgbClr val="1F4E78"/>
                </a:solidFill>
                <a:latin typeface="Calibri"/>
              </a:rPr>
              <a:t>FULL ROLLOUT + REVIEWS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66360"/>
            <a:ext cx="10515600" cy="1143000"/>
          </a:xfrm>
          <a:prstGeom prst="rect">
            <a:avLst/>
          </a:prstGeom>
          <a:noFill/>
          <a:ln>
            <a:noFill/>
          </a:ln>
        </p:spPr>
        <p:txBody>
          <a:bodyPr wrap="square" tIns="91440" bIns="91440">
            <a:spAutoFit/>
          </a:bodyPr>
          <a:lstStyle/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Switch to NEW plan exclusively.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Run monthly review at the 40% safe-net flag.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At week 12 (90 days after first paid policies), run the FIRST CHARGEBACK review.</a:t>
            </a:r>
          </a:p>
          <a:p>
            <a:pPr>
              <a:lnSpc>
                <a:spcPct val="100000"/>
              </a:lnSpc>
            </a:pPr>
            <a:r>
              <a:rPr sz="1200">
                <a:solidFill>
                  <a:srgbClr val="101010"/>
                </a:solidFill>
                <a:latin typeface="Calibri"/>
              </a:rPr>
              <a:t>• At 90 days end: re-baseline rates if the renewal book has started to build.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88952" cy="91440"/>
          </a:xfrm>
          <a:prstGeom prst="rect">
            <a:avLst/>
          </a:prstGeom>
          <a:solidFill>
            <a:srgbClr val="BF9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91672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Decision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1672" cy="73152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400" b="0" i="0">
                <a:solidFill>
                  <a:srgbClr val="BDD7EE"/>
                </a:solidFill>
                <a:latin typeface="Calibri"/>
              </a:rPr>
              <a:t>Plan B with the new minimums.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Calibri"/>
              </a:rPr>
              <a:t>Workbook companion file: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2000" b="1" i="0">
                <a:solidFill>
                  <a:srgbClr val="BDD7EE"/>
                </a:solidFill>
                <a:latin typeface="Calibri"/>
              </a:rPr>
              <a:t>Bonus_Proposal_FIXED_Premium_vs_Coverage.xlsx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54880"/>
            <a:ext cx="11091672" cy="457200"/>
          </a:xfrm>
          <a:prstGeom prst="rect">
            <a:avLst/>
          </a:prstGeom>
          <a:noFill/>
          <a:ln>
            <a:noFill/>
          </a:ln>
        </p:spPr>
        <p:txBody>
          <a:bodyPr wrap="square" lIns="73152" rIns="73152" tIns="36576" bIns="36576" anchor="t">
            <a:spAutoFit/>
          </a:bodyPr>
          <a:lstStyle/>
          <a:p>
            <a:pPr algn="l"/>
            <a:r>
              <a:rPr sz="1800" b="0" i="1">
                <a:solidFill>
                  <a:srgbClr val="BDD7EE"/>
                </a:solidFill>
                <a:latin typeface="Calibri"/>
              </a:rPr>
              <a:t>Two options. One decision. Ready to roll out in 10 weeks.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