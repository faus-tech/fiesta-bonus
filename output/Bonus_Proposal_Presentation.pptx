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Two Options for Ownership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Premium-Based (Plan A) vs Coverage-Based (Plan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$35,000 NB / $20,000 REN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Two Proposed Plans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Premium-Based and Coverage-Based. Don't mix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00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486400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PLAN A - PREMIUM-BASED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written-premium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pay scales with premium ($5 / $7 / $9 / $11 / $11+).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pays $4 / $5 / $6 by tier (lower than NB, on purpose).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is flat $2 - no longer drives bonus.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Collected % kicker (+10% / +15% / +20% / +25%).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PIF add-on: +$8 NB / +$12 high NB / +$5 REN.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Simple payroll math. Lower payout overall.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097280"/>
            <a:ext cx="548640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097280"/>
            <a:ext cx="5486400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PLAN B - COVERAGE-BASED (RECOMMENDED)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coverage type, not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base $10 (PIP/PD OR PIP+Comp/Coll).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liability bundle +$5 if BI+UM both present.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BI alone does NOT earn the bundle (UM cannot exist without BI).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base $6, +$3 liability bundle.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flat $2 - same as Plan A.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Same kicker + same PIF add-ons.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Best motivator. Closest to today's pay when behavior shifts.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  <a:latin typeface="Calibri"/>
              </a:rPr>
              <a:t>Both plans share: collected kicker, PIF add-on, $35,000 NB / $20,000 REN minimums, 90-day chargeback.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 (boss-approved framework)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No tiers. Flat per-policy base. Per-policy collected incentive on policies &gt;$1,200. Plus a book retention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PER-POLICY BASE (TIERED by written premium)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914400"/>
                <a:gridCol w="137160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Premium 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$1,800 - $2,499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$2,500 -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$13+$2/$1k (max $25)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COLLECTED INCENTIVE (only on policies &gt; $1,200)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Collected % of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Extra per policy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Below 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 (no incentive)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25% to 49%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50% to 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3464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BOOK RETENTION BONUS (paid every month, NOT gated by minimums)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54680"/>
          <a:ext cx="11612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4754880"/>
              </a:tblGrid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values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% of NB premium written 6 months ago still on the books 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Retention Rate x $300/mo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70% retention -&gt; $210/mo | 80% -&gt; $240/mo | 90% -&gt; $270/mo | 100% -&gt; $300/mo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5196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57200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NB premium &lt; $35k that month, NB pay = 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$20,000 REN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REN premium &lt; $20k that month,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Both NB AND REN gates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pay only when both other gates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Excel tracker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Required for every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Agent enters policy info + down + premium. No entry = no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Assigned per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Newer agents inherit a renewal book from former employees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$35,000/mo AND REN premium &gt;= $20,000/mo. RWR pays only if both pass.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$35,000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9 (38%)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9 (38%)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earn NB bonus on today's behavior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&gt;= $20,000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18 (75%)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Today's renewals are too small; swap unlocks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$13,750 collected x 11% x (1-21%) = ~$1,195 retained (36%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~$2,390 retained (72%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~$3,585 retained (109% of salary) - covers salary AND generates profit for bonus.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Multiplier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$10 target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1.00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- 24%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1.10 (+10%)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1.15 (+15%)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 Standard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50%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1.20 (+20%)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Stronger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(PIF)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1.25 (+25%)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51%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plans (REN pays $4-$6 vs RWR $2).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 B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+$215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Plan B gains $4-$6 net ($4-$6 REN - $2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Plan B,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69, $96k W / $19.7k C (20%, avg $1,395)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7, $6k W / $3.1k C (52%, avg $852)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'Under $1,200': 7 x $4 = $28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69 x $3 = $207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+$0/pol x 43% = 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+$3/pol x 14% = $3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+$0/pol x 44% = $0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$729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$35k: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  <a:latin typeface="Calibri"/>
              </a:rPr>
              <a:t>  REN $6k vs $20k: 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  <a:latin typeface="Calibri"/>
              </a:rPr>
              <a:t>  RWR (both): 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$491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Volume: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35, $48k W / $9.9k C (20%, avg $1,375)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41, $54k W / $12.9k C (24%, avg $1,319)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'$1,200-$1,799': 41 x $6 = $246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35 x $3 = $105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+$0/pol x 43% = 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+$0/pol x 40% =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+$0/pol x 43% = 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$842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$35k: PASS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$54k vs $20k: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5968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5968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$842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Volume: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7, $6k W / $3.1k C (52%, avg $852)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69, $96k W / $19.7k C (20%, avg $1,395)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'$1,200-$1,799': 69 x $6 = $414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'Under $1,200': 7 x $2 = $14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+$0/pol x 43% = 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+$0/pol x 44% = 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+$3/pol x 14% = $3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$922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6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$35k: PASS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66176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$96k vs $20k: PASS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66176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66176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$922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$1425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Plan B WITH MIN: REAL $1,110 | SWAP $1,425 | FLIP $1,586.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$658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$981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$2695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$744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$880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$3274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Plan B WITH MIN: REAL $1,324 | SWAP $2,695 | FLIP $3,274.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$708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$1651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Plan B WITH MIN: REAL $814 | SWAP $1,651 | FLIP $2,264.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Plan B WITH MIN: REAL $0 | SWAP $374 | FLIP $1,213.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$465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$704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Plan B WITH MIN: REAL $0 | SWAP $465 | FLIP $704.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$740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$1505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Plan B WITH MIN: REAL $519 | SWAP $967 | FLIP $1,505.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463040"/>
                <a:gridCol w="4297680"/>
              </a:tblGrid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$11,842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$13,079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$13,730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- new plan pays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as REN gate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$10,365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$12,963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$14,948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Top motivator - FLIP exceeds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$7,578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FLIP matches today's $12k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7373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WITH MIN under 100% FLIP = $10,545. Compare to today's current $12,220: agents earn the SAME for doing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no-min under FLIP = $14,948, which is ABOVE today's pay. Some headroom if ownership wants to be more generous.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you earn the same dollars - but the customer stays put.'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$35,000/mo AND REN premium ≥ $20,000/mo. RWR pays only if both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Plan B with $35,000/$20,000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PLAN B - Coverage-Based, with $35,000 NB / $20,000 REN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Plan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- keep as fallback if Plan B is too generous.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(estimated 35% of NB, 30% of REN - track actual).   2) Minimum thresholds - softer ($25k/$15k) if too punishing, tighter ($45k/$25k) if too easy.   3) PIF and kicker amounts to balance pay vs profit.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22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 or B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Plan B with the new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Bonus_Proposal_FIXED_Premium_vs_Coverage.xlsx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Two options.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