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Fiesta Bonus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0" i="0">
                <a:solidFill>
                  <a:srgbClr val="BDD7EE"/>
                </a:solidFill>
                <a:latin typeface="Calibri"/>
              </a:rPr>
              <a:t>Two Options for Ownership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Premium-Based (Plan A) vs Coverage-Based (Plan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BDD7EE"/>
                </a:solidFill>
                <a:latin typeface="Calibri"/>
              </a:rPr>
              <a:t>With $35,000 NB / $20,000 REN minimums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1">
                <a:solidFill>
                  <a:srgbClr val="BDD7EE"/>
                </a:solidFill>
                <a:latin typeface="Calibri"/>
              </a:rPr>
              <a:t>Modeled on actual Jan-Apr 2026 production: Abel, Dialinerys, Melissa, Flavia, Thalia, Monica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We're Changing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The current plan pays for activity, not for the right activity.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What the current plan does today: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210312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Counts NB and RWR together toward a 35-policy tier - so rewriting and writing new are the SAME.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renewals - agents have zero reason to keep a customer with the current carrier.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collected money - a $50 down looks the same as a $500 down at payout time.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coverage upsell (BI / UM / Comp/Coll).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PIF (paid in full) - even though PIF has the least chargeback risk.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Has no profitability tie - the bonus is set without reference to commission economics.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The cost of that design: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Agents rewrite customers between carriers to grow their count - even when the customer would have renewed.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Customer is moved, the policy starts a NEW 6-month term, persistency drops.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The agency loses the renewal commission it would have earned by keeping the customer in place.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We are paying premium bonus dollars for the worst kind of activity: churning the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We Want the New Plan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Four behaviors. Each one is rewarded.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3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82880" cy="219456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70AD47"/>
                </a:solidFill>
                <a:latin typeface="Calibri"/>
              </a:rPr>
              <a:t>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01010"/>
                </a:solidFill>
                <a:latin typeface="Calibri"/>
              </a:rPr>
              <a:t>More new business - but only the kind we can actually keep.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486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182880" cy="2194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2E75B6"/>
                </a:solidFill>
                <a:latin typeface="Calibri"/>
              </a:rP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01010"/>
                </a:solidFill>
                <a:latin typeface="Calibri"/>
              </a:rPr>
              <a:t>Bigger down payments and more PIF - less chargeback, more retention.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5486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182880" cy="219456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BF9000"/>
                </a:solidFill>
                <a:latin typeface="Calibri"/>
              </a:rPr>
              <a:t>RETAIN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01010"/>
                </a:solidFill>
                <a:latin typeface="Calibri"/>
              </a:rPr>
              <a:t>Renew customers instead of rewriting them. Loyalty is a real number.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54864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566160"/>
            <a:ext cx="182880" cy="2194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0332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D7D31"/>
                </a:solidFill>
                <a:latin typeface="Calibri"/>
              </a:rPr>
              <a:t>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4340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01010"/>
                </a:solidFill>
                <a:latin typeface="Calibri"/>
              </a:rPr>
              <a:t>Bonus comes out of safe-net commission, not out of owner's pocket.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Two Proposed Plans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Premium-Based and Coverage-Based. Don't mix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4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486400" cy="521208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486400" cy="7315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PLAN A - PREMIUM-BASED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1">
                <a:solidFill>
                  <a:srgbClr val="1F4E78"/>
                </a:solidFill>
                <a:latin typeface="Calibri"/>
              </a:rPr>
              <a:t>Bonus by written-premium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120640" cy="36576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NB pay scales with premium ($5 / $7 / $9 / $11 / $11+).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REN pays $4 / $5 / $6 by tier (lower than NB, on purpose).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RWR is flat $2 - no longer drives bonus.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Collected % kicker (+10% / +15% / +20% / +25%).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PIF add-on: +$8 NB / +$12 high NB / +$5 REN.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Simple payroll math. Lower payout overall.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097280"/>
            <a:ext cx="5486400" cy="52120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097280"/>
            <a:ext cx="5486400" cy="73152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1430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PLAN B - COVERAGE-BASED (RECOMMENDED)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920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1">
                <a:solidFill>
                  <a:srgbClr val="1F4E78"/>
                </a:solidFill>
                <a:latin typeface="Calibri"/>
              </a:rPr>
              <a:t>Bonus by coverage type, not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468880"/>
            <a:ext cx="5120640" cy="36576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NB base $10 (PIP/PD OR PIP+Comp/Coll).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NB liability bundle +$5 if BI+UM both present.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BI alone does NOT earn the bundle (UM cannot exist without BI).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REN base $6, +$3 liability bundle.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RWR flat $2 - same as Plan A.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Same kicker + same PIF add-ons.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Best motivator. Closest to today's pay when behavior shifts.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1">
                <a:solidFill>
                  <a:srgbClr val="404040"/>
                </a:solidFill>
                <a:latin typeface="Calibri"/>
              </a:rPr>
              <a:t>Both plans share: collected kicker, PIF add-on, $35,000 NB / $20,000 REN minimums, 90-day chargeback.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Plan A - Premium-Based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Per-policy bonus by written-premium tier. Then collected-% kicker.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5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68580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286000"/>
              </a:tblGrid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NB Tier (Written Premium)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Pay per Policy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Plain English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Under $1,200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Low-premium NB earns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$1,200 - $1,799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Standard NB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$1,800 - $2,199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Higher premium earns more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$2,200 - $2,999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Strong premium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$3,000+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$11 + $2 per $1k (cap $25)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Commercial / high-premium upside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1097280"/>
          <a:ext cx="4206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</a:tblGrid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REN Tier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Pay per Policy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Under $1,200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$2 flat (any RWR)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$1,200 - $1,799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No tier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$1,800+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No coverage stacking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657600"/>
          <a:ext cx="6858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286000"/>
              </a:tblGrid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Add-on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Collected Kicker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+10/+15/+20/+25%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15-24 / 25-49 / 50-99 / 100% collected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PIF Add (NB &lt;$3k)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+$8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Policy paid in full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PIF Add (NB $3k+)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+$12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Policy paid in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PIF Add (REN)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+$5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Renewal paid in full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589520" y="2834640"/>
            <a:ext cx="4206240" cy="3474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8803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246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$2,000 NB (BI+UM, 25% collected, not PIF)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53872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83133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Tier: $1,800-$2,199 = $9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12394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Coverage add: $0 (Plan A has no coverage)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41655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Kicker: 25% collected = +15% (x 1.15)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7091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PIF: not PIF, 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017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29437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PER-POLICY PAY: $9 x 1.15 = $10.35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Plan B - Coverage-Based Rules (RECOMMENDED)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Per-policy bonus by COVERAGE TYPE. No premium tiers. Same kicker + PIF.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6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320040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Bonus Line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 Policy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Pays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NB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PIP/PD ONLY, or PIP+Comp/Coll (any auto NB)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NB LIABILITY ADD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+$5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BI AND UM both on the policy (bundle)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BI 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$0 add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BI without UM does NOT earn the bundle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UM ALONE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Not possible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FL rules block UM without BI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REN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Any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REN LIABILITY ADD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+$3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BI+UM both on the renewal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$2 flat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Any rewrite (no coverage stacking)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389120"/>
          <a:ext cx="6858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3200400"/>
              </a:tblGrid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Add-on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Collected Kicker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+10/+15/+20/+25%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Same as Plan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PIF NB (&lt;$3k)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+$8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Paid in full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PIF NB ($3k+)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+$12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Paid in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PIF REN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+$5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Renewal paid in full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589520" y="1097280"/>
            <a:ext cx="4206240" cy="5029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887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WORKED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002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$2,000 NB (BI+UM, 25% collected, not PIF)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8928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18541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Base coverage: $10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47802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Liability bundle (BI+UM): +$5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7706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Subtotal: $15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063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Kicker: 25% collected = +15% (x 1.15)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3558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PIF: not PIF, 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64845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9410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PER-POLICY PAY: $15 x 1.15 = $17.25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23367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526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Same policy on Plan A: $10.35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81888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Calibri"/>
              </a:rPr>
              <a:t>Plan B rewards coverage upsell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Minimum Requirements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NB premium &gt;= $35,000/mo AND REN premium &gt;= $20,000/mo. RWR pays only if both pass.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Why we added a minimum at all: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The old plan required 35 NB+RWR policies. That counts rewriting. The new minimum is premium-based and SPLITS NB from REN - so the agent must be writing new business AND building a renewal book. RWR has no own minimum because we don't reward rewriting volume directly.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4688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438912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REAL months pass (24)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SWAP months pass (24)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Plain English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NB &gt;= $35,000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9 (38%)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9 (38%)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Top performers earn NB bonus on today's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REN &gt;= $20,000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0 (0%)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18 (75%)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Today's renewals are too small; swap unlocks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BOTH gates (for RWR)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0 (0%)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6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Once renewal book exists, RWR also pays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389120"/>
            <a:ext cx="1124712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DOES THE MINIMUM COVER AGENT SALARY?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$35,000 NB + $20,000 REN = $55,000 written premium.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At 25% collected (today's typical): $13,750 collected -&gt; ~$1,248 retained commission. Just below salary.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At 50% collected (after kicker push): $27,500 collected -&gt; ~$2,496 retained. COVERS ~$2,500 entry-level salary.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The MINIMUM is the production floor. The COLLECTED KICKER is the lever to actually cover salary and earn bonus on 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Collected % Kicker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Bigger down payments = less chargeback = bigger bonus.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8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4846320"/>
                <a:gridCol w="228600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Collected %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Multiplier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Plain English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$10 target -&gt; Pays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Below 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x 1.00 (none)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Premium barely collected. No kicker.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15% - 24%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x 1.10 (+10%)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Minimum down. Small kicker.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25% - 49%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x 1.15 (+15%)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Standard down. Standard kicker.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50% - 99%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x 1.20 (+20%)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High collection. Stronger kicker.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$12.00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100% (PIF)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x 1.25 (+25%)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Paid in full. Top kicker.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Why we incentivize collected % (not just written premium):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972800" cy="210312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Down payment + PIF money is the ONLY money we are SURE we will keep. Everything else can be charged back.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Bigger down -&gt; smaller monthly bills -&gt; customer is less likely to cancel -&gt; we keep more commission.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PIF (paid in full) = no chargeback risk at all. PIF earns the biggest kicker AND a PIF dollar add-on.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Some carriers pay commission as advance on written premium (chargeback if customer cancels). Some pay as-earned on collected. Either way - net commission ~= collected x rate. The kicker rewards retention through collection.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Safe Net - What It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The commission the agency EXPECTS to keep, after royalty and overhead.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How commission actually works: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2011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Most carriers pay commission UPFRONT on the WRITTEN premium (advance). Some pay AS EARNED on what was collected.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On advance carriers, if the customer stops paying, the carrier reverses the unearned commission (chargeback).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Commission RATES vary 8-15% across carriers. We use 11% as a conservative blended rate.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Long-run net commission ~= COLLECTED premium x commission rate. That's what the workbook uses.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657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30352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Example: $1,500 policy, $150 down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1. Written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Carrier's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2. Commission advance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Premium x 11% blended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$165 advance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3. Net commission expected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Collected x 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$150 x 11% = $16.50 expected to 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4. After royalty (17.5%)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x 0.825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$13.61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5. After overhead reserve (40%)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x 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$8.17 SAFE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6. Bonus review threshold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Safe net x 40%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$3.27 max bonus on this 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Safe Net - Real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Abel Guaina, January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10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484632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NB + RWR + REN written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$73,734.92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What Abel sold and renewed in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Carrier commission advance (x 11%)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$8,110.84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Carriers paid us this much upfront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Total collected from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$12,858.65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Cash that came 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Expected retained commission (x 11%)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$1,414.45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After chargeback math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After 17.5% royalty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$1,166.92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After corporate 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SAFE NET (after 40% overhead reserve)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$700.15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Available for bonus + profit + taxes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Review threshold (40% of safe 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$280.06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Bonus targets above this get flagged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Plan A target (no min): $252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$252.00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36% of safe net - OK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01010"/>
                          </a:solidFill>
                          <a:latin typeface="Calibri"/>
                        </a:rPr>
                        <a:t>Plan B target (no min): $399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$399.46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57% of safe net - flagged for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Takeaway: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$700 of safe net means Abel's January contribution can support a bonus up to ~$280 before ownership wants a second look. The actual bonus depends on the plan rules - Plan A pays $252 (under threshold), Plan B pays $399 (above threshold, flagged but not auto-cut).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does CURRENT bonus DROP when RWR becomes REN?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Renewals pay MORE than rewrites - but only under the new plans.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F4E78"/>
                </a:solidFill>
                <a:latin typeface="Calibri"/>
              </a:rPr>
              <a:t>Short 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01010"/>
                </a:solidFill>
                <a:latin typeface="Calibri"/>
              </a:rPr>
              <a:t>The CURRENT plan does NOT pay anything for renewals. It only counts NB + RWR toward the 35-policy tier. When 50% of RWR moves to REN, the NB+RWR count drops, the tier drops, the bonus drops. Renewals 'paying more' is only true under the NEW plans (REN pays $4-$6 vs RWR $2).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Concrete example - Dialinerys Dieguez, March: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9184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  <a:gridCol w="1097280"/>
                <a:gridCol w="1097280"/>
                <a:gridCol w="2377440"/>
                <a:gridCol w="2560320"/>
              </a:tblGrid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Current pays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 B pays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SWAP (50% RWR -&gt; REN)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$680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$879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-34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+34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-$340 (BAD)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+$178 (GOOD)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Bottom line: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Per swapped policy: Current loses ~$10 from the count tier. Plan B gains $4-$6 net ($4-$6 REN - $2 RWR).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Under Current, the agency literally pays LESS when the agent does the right thing.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Under Plan B, the agent gets MORE for retaining instead of rewriting - the exact incentive we want.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Abel Guaina - Month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Real (today) and Swap (50% RWR converted to REN). All bonuses are with the new $35k/$20k minimums.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REAL DATA (today's behavior)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$294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$349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$995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36792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SWAP (50% of RWR moved to 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$443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$129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$349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$1273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72800" cy="19202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Current plan today: $1,300. Under SWAP behavior, current DROPS to $850 (-$450) because the count tier loses RWR volume.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B WITH MIN today: $995. Under SWAP behavior, Plan B GROWS to $1,273 (+$278) because renewals now pay.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A WITH MIN today: $593. Under SWAP: $800 (+$207).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The behavior change is rewarded under both new plans. Today's plan punishes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Dialinerys Dieguez - Month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Real (today) and Swap (50% RWR converted to REN). All bonuses are with the new $35k/$20k minimums.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REAL DATA (today's behavior)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$270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$491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$427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$1188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36792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SWAP (50% of RWR moved to 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$589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$281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$879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$659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$2408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72800" cy="19202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Current plan today: $3,140. Under SWAP behavior, current DROPS to $1,990 (-$1,150) because the count tier loses RWR volume.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B WITH MIN today: $1,188. Under SWAP behavior, Plan B GROWS to $2,408 (+$1,220) because renewals now pay.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A WITH MIN today: $708. Under SWAP: $1,668 (+$960).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The behavior change is rewarded under both new plans. Today's plan punishes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Melissa Hernandez - Month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Real (today) and Swap (50% RWR converted to REN). All bonuses are with the new $35k/$20k minimums.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REAL DATA (today's behavior)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$401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$329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$730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36792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SWAP (50% of RWR moved to 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$636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$131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$572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$137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$1475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72800" cy="19202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Current plan today: $2,370. Under SWAP behavior, current DROPS to $1,470 (-$900) because the count tier loses RWR volume.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B WITH MIN today: $730. Under SWAP behavior, Plan B GROWS to $1,475 (+$745) because renewals now pay.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A WITH MIN today: $366. Under SWAP: $908 (+$542).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The behavior change is rewarded under both new plans. Today's plan punishes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Flavia Parra - Month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Real (today) and Swap (50% RWR converted to REN). All bonuses are with the new $35k/$20k minimums.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REAL DATA (today's behavior)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36792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SWAP (50% of RWR moved to 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$144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$183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$327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72800" cy="19202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Current plan today: $2,070. Under SWAP behavior, current DROPS to $1,400 (-$670) because the count tier loses RWR volume.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B WITH MIN today: $0. Under SWAP behavior, Plan B GROWS to $327 (+$327) because renewals now pay.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A WITH MIN today: $0. Under SWAP: $189 (+$189).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The behavior change is rewarded under both new plans. Today's plan punishes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Thalia Rojas - Month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Real (today) and Swap (50% RWR converted to REN). All bonuses are with the new $35k/$20k minimums.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REAL DATA (today's behavior)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36792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SWAP (50% of RWR moved to 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$137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$135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$135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$406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72800" cy="19202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Current plan today: $1,400. Under SWAP behavior, current DROPS to $0 (-$1,400) because the count tier loses RWR volume.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B WITH MIN today: $0. Under SWAP behavior, Plan B GROWS to $406 (+$406) because renewals now pay.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A WITH MIN today: $0. Under SWAP: $275 (+$275).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The behavior change is rewarded under both new plans. Today's plan punishes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Monica Valdes - Month by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Real (today) and Swap (50% RWR converted to REN). All bonuses are with the new $35k/$20k minimums.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REAL DATA (today's behavior)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$465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$465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36792" y="10058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SWAP (50% of RWR moved to REN)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325880"/>
          <a:ext cx="5852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914400"/>
                <a:gridCol w="960120"/>
                <a:gridCol w="960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WITH MIN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$182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$110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$465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$99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$857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72800" cy="19202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Current plan today: $1,940. Under SWAP behavior, current DROPS to $1,400 (-$540) because the count tier loses RWR volume.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B WITH MIN today: $465. Under SWAP behavior, Plan B GROWS to $857 (+$391) because renewals now pay.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Plan A WITH MIN today: $356. Under SWAP: $640 (+$284).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The behavior change is rewarded under both new plans. Today's plan punishes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Headline - 4-Month Totals (6 agents)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Side-by-side comparison: today vs the future-state target.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18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377440"/>
                <a:gridCol w="1371600"/>
                <a:gridCol w="3108960"/>
              </a:tblGrid>
              <a:tr h="45720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REAL (today)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SWAP (50% RWR -&gt; REN)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 $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Current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$12,220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$7,110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$-5,110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DROPS - current punishes the swap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Plan A no-min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$6,219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$7,474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$+1,255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GROWS - new plan rewards renewals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Plan A WITH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$2,024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$4,480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$+2,456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GROWS - swap unlocks REN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Plan B no-min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$9,459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$11,616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$+2,157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GROWS - matches today's pay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Plan B WITH MIN (RECOMMENDED)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$3,378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$6,746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$+3,368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GROWS strongly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What this tells us: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73736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Current plan drops $5,110 (-42%) under the swap - it actively punishes the right behavior.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Plan B no-min in SWAP is $11,616 - close to today's $12,220.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Plan B WITH MIN in SWAP is $6,746 - 81% of today's pay, but with proper incentives.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Every new plan grows when behavior shifts. The bigger the agent's renewal book, the bigger their bonus.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We Protect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Three layers. 90-day chargeback is the strongest.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19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49039" cy="521208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749039" cy="7315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MINIMUM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NB premium ≥ $35,000/mo AND REN premium ≥ $20,000/mo. RWR pays only if both pass.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If the agent is not producing baseline volume, NO bonus that month. Easy to understand, easy to enforce.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188720"/>
            <a:ext cx="3749039" cy="52120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188720"/>
            <a:ext cx="3749039" cy="73152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2344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REVIEW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0312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If monthly bonus &gt; 40% of safe net, ownership reviews.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47472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Soft flag, not auto-cut. Catches outlier months where collection is unusually 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4464" y="1188720"/>
            <a:ext cx="3749039" cy="521208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1188720"/>
            <a:ext cx="3749039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2344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90-DAY CHARGEBACK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10312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100% of the paid bonus is REVERSED if the policy cancels or rewrites within 90 days.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47472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1010"/>
                </a:solidFill>
                <a:latin typeface="Calibri"/>
              </a:rPr>
              <a:t>This is the real profit shield. Matches the carrier's commission chargeback exposure exactly. If the agency loses commission, the agent loses bonus.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Plan B with $35,000/$20,000 minimums. Pilot 90 days, then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20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28600" cy="13716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F4E78"/>
                </a:solidFill>
                <a:latin typeface="Calibri"/>
              </a:rPr>
              <a:t>PLAN B - Coverage-Based, with $35,000 NB / $20,000 REN minimums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01010"/>
                </a:solidFill>
                <a:latin typeface="Calibri"/>
              </a:rPr>
              <a:t>Best balance of agent motivation, sales-story clarity, profitability protection, and pay-near-current when behavior shifts.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Why Plan B over Plan 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Plan B has the strongest UPSELL story: 'every BI+UM bundle is worth $5'. Easy to coach, easy to defend.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Plan B pays closest to today's number when behavior shifts (close to par in SWAP scenario).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Plan B rewards coverage QUALITY - which carriers prefer and persistency improves.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Plan A is leaner (lower cost) - keep as fallback if Plan B is too generous.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Levers to fine-tune over time: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1) Coverage adoption (estimated 35% of NB, 30% of REN - track actual).   2) Minimum thresholds - softer ($25k/$15k) if too punishing, tighter ($45k/$25k) if too easy.   3) PIF and kicker amounts to balance pay vs profit.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Three phases. ~10 weeks from approval to first chargeback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21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1691640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28600" cy="1691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WEEK 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188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APPROVE + COMMUNICATE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Ownership picks Plan A or B and signs off on minimums.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Manager rolls out the rules to the agents.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Print the Agent Quick Reference (in the workbook) for each desk.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11247120" cy="169164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228600" cy="169164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  <a:latin typeface="Calibri"/>
              </a:rPr>
              <a:t>WEEK 3-6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71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PILOT MONTH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Run the plan side-by-side with the OLD plan for ONE FULL MONTH.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Pay agents the HIGHER of the two each month during the pilot.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Use the manual tracker to verify coverage / PIF / collected.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End of month: compare actual paid vs forecast and adjust if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1247120" cy="169164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228600" cy="16916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BF9000"/>
                </a:solidFill>
                <a:latin typeface="Calibri"/>
              </a:rPr>
              <a:t>WEEK 7-10+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FULL ROLLOUT +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Switch to NEW plan exclusively.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Run monthly review at the 40% safe-net flag.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At week 12 (90 days after first paid policies), run the FIRST CHARGEBACK review.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01010"/>
                </a:solidFill>
                <a:latin typeface="Calibri"/>
              </a:rPr>
              <a:t>• At 90 days end: re-baseline rates if the renewal book has started to build.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Decision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0" i="0">
                <a:solidFill>
                  <a:srgbClr val="BDD7EE"/>
                </a:solidFill>
                <a:latin typeface="Calibri"/>
              </a:rPr>
              <a:t>Plan B with the new minimums.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Workbook companion file: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BDD7EE"/>
                </a:solidFill>
                <a:latin typeface="Calibri"/>
              </a:rPr>
              <a:t>Bonus_Proposal_FIXED_Premium_vs_Coverage.xlsx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1">
                <a:solidFill>
                  <a:srgbClr val="BDD7EE"/>
                </a:solidFill>
                <a:latin typeface="Calibri"/>
              </a:rPr>
              <a:t>Two options. One decision. Ready to roll out in 10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