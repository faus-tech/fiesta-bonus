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Two Options for Ownership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Premium-Based (Plan A) vs Coverage-Based (Plan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$35,000 NB / $20,000 REN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Two Proposed Plans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Premium-Based and Coverage-Based. Don't mix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00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486400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PLAN A - PREMIUM-BASED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written-premium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pay scales with premium ($5 / $7 / $9 / $11 / $11+).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pays $4 / $5 / $6 by tier (lower than NB, on purpose).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is flat $2 - no longer drives bonus.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Collected % kicker (+10% / +15% / +20% / +25%).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PIF add-on: +$8 NB / +$12 high NB / +$5 REN.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Simple payroll math. Lower payout overall.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097280"/>
            <a:ext cx="548640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097280"/>
            <a:ext cx="5486400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PLAN B - COVERAGE-BASED (RECOMMENDED)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coverage type, not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base $10 (PIP/PD OR PIP+Comp/Coll).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liability bundle +$5 if BI+UM both present.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BI alone does NOT earn the bundle (UM cannot exist without BI).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base $6, +$3 liability bundle.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flat $2 - same as Plan A.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Same kicker + same PIF add-ons.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Best motivator. Closest to today's pay when behavior shifts.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  <a:latin typeface="Calibri"/>
              </a:rPr>
              <a:t>Both plans share: collected kicker, PIF add-on, $35,000 NB / $20,000 REN minimums, 90-day chargeback.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A - Premium-Based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Per-policy bonus by written-premium tier. Then collected-% kicker.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68580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28600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NB Tier (Written Premium)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Pay per Policy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Low-premium NB earns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Standard NB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$1,800 - $2,199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Higher premium earns more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$2,200 - $2,999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Strong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$3,000+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 + $2 per $1k (cap $28)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Commercial / high-premium upside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1097280"/>
          <a:ext cx="4206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280160"/>
                <a:gridCol w="128016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REN Tier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Pay per Policy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Under $1,200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 flat (any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$1,200 - $1,799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 tier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$1,800+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 coverage stacking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6858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28600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Kicker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+10/+15/+20/+25%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15-24 / 25-49 / 50-99 / 100% collected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(NB &lt;$3k)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Policy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(NB $3k+)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Policy paid in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Add (REN)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589520" y="2834640"/>
            <a:ext cx="4206240" cy="3474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88036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WORKED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324612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$2,000 NB (BI+UM, 25% collected, not PIF)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353872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83133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Tier: $1,800-$2,199 = $11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412394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Coverage add: $0 (Plan A has no coverage)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441655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Kicker: 25% collected = +15% (x 1.15)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470916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PIF: not PIF,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500176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529437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PER-POLICY PAY: $11 x 1.15 = $12.65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Plan B - Coverage-Based Rules (RECOMMENDED)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Per-policy bonus by COVERAGE TYPE. No premium tiers. Same kicker + PIF.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6858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32004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Bonus Line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Per Policy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Pays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PIP/PD ONLY, or PIP+Comp/Coll (any auto NB)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LIABILITY ADD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AND UM both on the policy (bundle)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ALONE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$0 add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 without UM does NOT earn the bundle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UM ALONE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Not possible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FL rules block UM without BI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Any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LIABILITY ADD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BI+UM both on the renewal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 flat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Any rewrite (no coverage stacking)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4389120"/>
          <a:ext cx="68580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320040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Kicker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+10/+15/+20/+25%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Same as Plan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NB (&lt;$3k)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NB ($3k+)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PIF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paid in full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118872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WORKED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60020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$2,000 NB (BI+UM, 25% collected, not PIF)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89280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8541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Base coverage: $11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47802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Liability bundle (BI+UM): +$6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277063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Subtotal: $17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0632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Kicker: 25% collected = +15% (x 1.15)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35584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PIF: not PIF, 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648456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941064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PER-POLICY PAY: $17 x 1.15 = $19.55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4233672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52628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Same policy on Plan A: $12.65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4818888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1">
                <a:solidFill>
                  <a:srgbClr val="404040"/>
                </a:solidFill>
                <a:latin typeface="Calibri"/>
              </a:rPr>
              <a:t>Plan B rewards coverage upsell directly.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$35,000/mo AND REN premium &gt;= $20,000/mo. RWR pays only if both pass.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$35,000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9 (38%)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9 (38%)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earn NB bonus on today's behavior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&gt;= $20,000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18 (75%)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Today's renewals are too small; swap unlocks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$13,750 collected x 11% x (1-21%) = ~$1,195 retained (36%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~$2,390 retained (72%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~$3,585 retained (109% of salary) - covers salary AND generates profit for bonus.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Multiplier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$10 target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1.00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- 24%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1.10 (+10%)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1.15 (+15%)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 Standard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50%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1.20 (+20%)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Stronger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(PIF)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1.25 (+25%)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51%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plans (REN pays $4-$6 vs RWR $2).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 B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+$215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Plan B gains $4-$6 net ($4-$6 REN - $2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Plan B,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029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3220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4708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$52,435 written / $10,547 coll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6197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collected % = 20.1%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7685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69, $96,228 W / $19,700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9174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7, $5,962 W / $3,080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92150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Calculate per line: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13639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 = 38x($11+0.35x$6)x1.10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5127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   = 38x$13.10 x 1.10 = $548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6616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 = 7x($7+0.30x$3)x1.20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8104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    = 7x$7.90 x 1.20 = $66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99592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= 69x$2x1.10 = $152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21081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  TARGET = $766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42569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64058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85546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$35k min: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07034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  <a:latin typeface="Calibri"/>
              </a:rPr>
              <a:t>  REN $6k vs $20k min: 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528523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  <a:latin typeface="Calibri"/>
              </a:rPr>
              <a:t>  RWR (both pass?): FAIL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50011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71500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$548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24528" y="1371600"/>
            <a:ext cx="3703320" cy="502920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5968" y="141732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Volume: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163220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184708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$52,435 written / $10,547 coll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206197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collected % = 20.1%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27685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35, $48,114 W / $9,850 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49174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41, $54,077 W / $12,930 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270662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292150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Calculate per line: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5968" y="313639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 = 38x($11+0.35x$6)x1.10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35127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   = 38x$13.10 x 1.10 = $548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56616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 = 41x($7+0.30x$3)x1.10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378104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    = 41x$7.90 x 1.10 = $356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399592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= 35x$2x1.10 = $77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21081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  TARGET = $981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442569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5968" y="464058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5968" y="485546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$35k min: PASS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15968" y="507034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$54k vs $20k min: PASS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15968" y="528523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 pass?): PASS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15968" y="550011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15968" y="571500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$981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74736" y="1371600"/>
            <a:ext cx="3703320" cy="50292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66176" y="141732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Volume: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163220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 policies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184708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$52,435 written / $10,547 coll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66176" y="206197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collected % = 20.1%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227685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7, $5,962 W / $3,080 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49174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69, $96,228 W / $19,700 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6176" y="270662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6" y="292150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Calculate per line: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6176" y="313639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 = 38x($11+0.35x$6)x1.10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35127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   = 38x$13.10 x 1.10 = $548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56616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 = 69x($7+0.30x$3)x1.10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6" y="378104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    = 69x$7.90 x 1.10 = $600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66176" y="399592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= 7x$2x1.20 = $17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66176" y="421081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  TARGET = $1164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66176" y="442569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66176" y="464058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66176" y="4855464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$35k min: PASS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6" y="5070348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$96k vs $20k min: PASS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66176" y="5285232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 pass?): PASS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5500116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66176" y="5715000"/>
            <a:ext cx="3520440" cy="2148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$1164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$1425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Plan B WITH MIN: REAL $1,110 | SWAP $1,425 | FLIP $1,586.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$658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$981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$2695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$744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$880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$3274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Plan B WITH MIN: REAL $1,324 | SWAP $2,695 | FLIP $3,274.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$708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$1651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Plan B WITH MIN: REAL $814 | SWAP $1,651 | FLIP $2,264.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Plan B WITH MIN: REAL $0 | SWAP $374 | FLIP $1,213.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$465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$704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Plan B WITH MIN: REAL $0 | SWAP $465 | FLIP $704.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$740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$1505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Plan B WITH MIN: REAL $519 | SWAP $967 | FLIP $1,505.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463040"/>
                <a:gridCol w="4297680"/>
              </a:tblGrid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$6,971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$8,666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$9,817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- new plan pays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$5,251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as REN gate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$10,365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$12,963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$14,948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Top motivator - FLIP exceeds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$7,578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FLIP matches today's $12k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7373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WITH MIN under 100% FLIP = $10,545. Compare to today's current $12,220: agents earn the SAME for doing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no-min under FLIP = $14,948, which is ABOVE today's pay. Some headroom if ownership wants to be more generous.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you earn the same dollars - but the customer stays put.'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$35,000/mo AND REN premium ≥ $20,000/mo. RWR pays only if both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Plan B with $35,000/$20,000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22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PLAN B - Coverage-Based, with $35,000 NB / $20,000 REN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Plan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- keep as fallback if Plan B is too generous.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(estimated 35% of NB, 30% of REN - track actual).   2) Minimum thresholds - softer ($25k/$15k) if too punishing, tighter ($45k/$25k) if too easy.   3) PIF and kicker amounts to balance pay vs profit.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23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 or B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Plan B with the new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Bonus_Proposal_FIXED_Premium_vs_Coverage.xlsx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Two options.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