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88952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1672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Fiesta Bonus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1091672" cy="7315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0" i="0">
                <a:solidFill>
                  <a:srgbClr val="BDD7EE"/>
                </a:solidFill>
                <a:latin typeface="Calibri"/>
              </a:rPr>
              <a:t>Two Options for Ownership Decision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74720"/>
            <a:ext cx="11091672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Premium-Based vs Coverage-Based, with a Persistency Alternative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1091672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600" b="0" i="1">
                <a:solidFill>
                  <a:srgbClr val="BDD7EE"/>
                </a:solidFill>
                <a:latin typeface="Calibri"/>
              </a:rPr>
              <a:t>Modeled on real Jan-Apr 2026 production: Abel, Dialinerys, Melissa, Flavia, Thalia, Monica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035040"/>
            <a:ext cx="11091672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0" i="1">
                <a:solidFill>
                  <a:srgbClr val="BDD7EE"/>
                </a:solidFill>
                <a:latin typeface="Calibri"/>
              </a:rPr>
              <a:t>Prepared for ownership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Why We're Changing the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The current plan pays for activity, not for the right activity.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2 / 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What the current plan does today: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972800" cy="210312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Counts NB and RWR together toward a 35-policy tier - so rewriting and writing new are the SAME.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renewals - agents have zero reason to keep a customer with the current carrier.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collected money - a $50 down looks the same as a $500 down at payout time.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coverage upsell (BI / UM / Comp/Coll).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PIF (paid in full) - even though PIF has the least chargeback risk.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Has no profitability tie - the bonus number is set without reference to commission economics.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8404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The cost of that design: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97680"/>
            <a:ext cx="10972800" cy="18288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Agents rewrite customers between carriers to grow their count - even when the customer would have renewed.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Customer is moved, the policy starts a NEW 6-month term, persistency drops.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The agency loses the renewal commission it would have earned by keeping the customer in place.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We are paying premium bonus dollars for the worst kind of activity: churning the book.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What We Want the New Plan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Four behaviors. Each one is rewarded.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3 / 17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88720"/>
            <a:ext cx="182880" cy="219456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325880"/>
            <a:ext cx="493776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70AD47"/>
                </a:solidFill>
                <a:latin typeface="Calibri"/>
              </a:rPr>
              <a:t>WRITE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965960"/>
            <a:ext cx="493776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700" b="0" i="0">
                <a:solidFill>
                  <a:srgbClr val="101010"/>
                </a:solidFill>
                <a:latin typeface="Calibri"/>
              </a:rPr>
              <a:t>More new business - but only the kind we can actually keep.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188720"/>
            <a:ext cx="5486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188720"/>
            <a:ext cx="182880" cy="219456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325880"/>
            <a:ext cx="493776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2E75B6"/>
                </a:solidFill>
                <a:latin typeface="Calibri"/>
              </a:rPr>
              <a:t>COLLECT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965960"/>
            <a:ext cx="493776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700" b="0" i="0">
                <a:solidFill>
                  <a:srgbClr val="101010"/>
                </a:solidFill>
                <a:latin typeface="Calibri"/>
              </a:rPr>
              <a:t>Bigger down payments and more PIF - less chargeback, more retention.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566160"/>
            <a:ext cx="5486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566160"/>
            <a:ext cx="182880" cy="219456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493776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BF9000"/>
                </a:solidFill>
                <a:latin typeface="Calibri"/>
              </a:rPr>
              <a:t>RETAIN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343400"/>
            <a:ext cx="493776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700" b="0" i="0">
                <a:solidFill>
                  <a:srgbClr val="101010"/>
                </a:solidFill>
                <a:latin typeface="Calibri"/>
              </a:rPr>
              <a:t>Renew customers instead of rewriting them. Loyalty is a real number.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3566160"/>
            <a:ext cx="5486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6480" y="3566160"/>
            <a:ext cx="182880" cy="219456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3703320"/>
            <a:ext cx="493776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ED7D31"/>
                </a:solidFill>
                <a:latin typeface="Calibri"/>
              </a:rPr>
              <a:t>PROFIT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343400"/>
            <a:ext cx="493776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700" b="0" i="0">
                <a:solidFill>
                  <a:srgbClr val="101010"/>
                </a:solidFill>
                <a:latin typeface="Calibri"/>
              </a:rPr>
              <a:t>Bonus comes out of safe-net commission, not out of owner's pocket.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Two Proposed Plans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Premium-Based and Coverage-Based. Don't mix them.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4 / 17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5486400" cy="521208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5486400" cy="73152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143000"/>
            <a:ext cx="512064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PLAN A - PREMIUM-BASED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20240"/>
            <a:ext cx="512064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500" b="0" i="1">
                <a:solidFill>
                  <a:srgbClr val="1F4E78"/>
                </a:solidFill>
                <a:latin typeface="Calibri"/>
              </a:rPr>
              <a:t>Bonus by written-premium tier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468880"/>
            <a:ext cx="5120640" cy="36576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NB pay scales with premium ($5/$7/$9/$11/$11+).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REN pays $4/$5/$6 by tier (lower than NB, on purpose).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RWR is flat $2 - no longer drives bonus.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Collected % kicker (+10% / +15% / +20% / +25%).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PIF add-on: +$8 NB / +$12 high NB / +$5 REN.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Simple payroll math. Lower payout overall.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45352" y="1097280"/>
            <a:ext cx="5486400" cy="521208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45352" y="1097280"/>
            <a:ext cx="5486400" cy="73152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1143000"/>
            <a:ext cx="512064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PLAN B - COVERAGE-BASED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1920240"/>
            <a:ext cx="512064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500" b="0" i="1">
                <a:solidFill>
                  <a:srgbClr val="1F4E78"/>
                </a:solidFill>
                <a:latin typeface="Calibri"/>
              </a:rPr>
              <a:t>Bonus by coverage type, not premium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2468880"/>
            <a:ext cx="5120640" cy="36576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NB base $10 (PIP/PD OR PIP+Comp/Coll).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NB liability bundle +$5 if BI+UM both present.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BI alone does NOT earn the bundle (UM cannot exist without BI).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REN base $6, +$3 liability bundle.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RWR flat $2 - same as Plan A.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Same kicker + same PIF add-ons.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Best motivator. Closest to today's pay when behavior shifts.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00800"/>
            <a:ext cx="1124712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0" i="1">
                <a:solidFill>
                  <a:srgbClr val="404040"/>
                </a:solidFill>
                <a:latin typeface="Calibri"/>
              </a:rPr>
              <a:t>Both plans share: collected kicker, PIF add-on, monthly minimums, 90-day chargeback.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Plan A - Premium-Based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Per-policy bonus by written-premium tier. Then collected-% kicker.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5 / 17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685800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194560"/>
                <a:gridCol w="2286000"/>
              </a:tblGrid>
              <a:tr h="329184">
                <a:tc>
                  <a:txBody>
                    <a:bodyPr lIns="54864" rIns="54864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NB Tier (Written Premium)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Pay per Policy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Plain English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  <a:tr h="32918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Under $1,200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Low-premium NB earns base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$1,200 - $1,799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Standard NB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$1,800 - $2,199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Higher premium earns more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$2,200 - $2,999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Strong premium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$3,000+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$11 + $2 per $1k (cap $25)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Commercial / high-premium upside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589520" y="1097280"/>
          <a:ext cx="420624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280160"/>
                <a:gridCol w="1280160"/>
              </a:tblGrid>
              <a:tr h="329184">
                <a:tc>
                  <a:txBody>
                    <a:bodyPr lIns="54864" rIns="54864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REN Tier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Pay per Policy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32918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Under $1,200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$2 flat (any RWR)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$1,200 - $1,799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No tier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$1,800+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No coverage stacking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657600"/>
          <a:ext cx="68580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194560"/>
                <a:gridCol w="2286000"/>
              </a:tblGrid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Add-on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When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Collected Kicker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+10/+15/+20/+25%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15-24/25-49/50-99/100% collected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PIF Add (NB &lt;$3k)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+$8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Policy paid in full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PIF Add (NB $3k+)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+$12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Policy paid in full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PIF Add (REN)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+$5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Renewal paid in full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7589520" y="2834640"/>
            <a:ext cx="4206240" cy="3291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26679" y="2880360"/>
            <a:ext cx="3931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WORKED 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79" y="324612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$2,000 NB (BI+UM, 25% collected, not PIF)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3538728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26679" y="3831336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Tier: $1,800-$2,199 = $9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26679" y="4123944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Coverage add: $0 (Plan A has no coverage)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79" y="4416552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Kicker: 25% collected = +15% (x 1.15)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26679" y="470916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PIF: not PIF, $0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26679" y="5001768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5294376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PER-POLICY PAY: $9 x 1.15 = $10.35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Plan B - Coverage-Based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Per-policy bonus by COVERAGE TYPE. No premium tiers. Same kicker + PIF.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6 / 17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6858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463040"/>
                <a:gridCol w="3200400"/>
              </a:tblGrid>
              <a:tr h="365760">
                <a:tc>
                  <a:txBody>
                    <a:bodyPr lIns="54864" rIns="54864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Bonus Line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Per Policy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When It Pays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36576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NB BASE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PIP/PD ONLY, or PIP+Comp/Coll (any auto NB)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NB LIABILITY ADD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+$5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BI AND UM both on the policy (bundle)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BI ALONE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$0 add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BI without UM does NOT earn the bundle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UM ALONE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Not possible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FL rules block UM without BI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REN BASE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Any renewal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REN LIABILITY ADD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+$3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BI+UM both on the renewal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$2 flat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Any rewrite (no coverage stacking)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4389120"/>
          <a:ext cx="68580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463040"/>
                <a:gridCol w="3200400"/>
              </a:tblGrid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Add-on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When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Collected Kicker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+10/+15/+20/+25%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Same as Plan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PIF NB (&lt;$3k)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+$8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Paid in full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PIF NB ($3k+)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+$12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Paid in full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PIF REN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+$5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Renewal paid in full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589520" y="1097280"/>
            <a:ext cx="4206240" cy="5029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26679" y="1188720"/>
            <a:ext cx="3931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WORKED 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160020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$2,000 NB (BI+UM, 25% collected, not PIF)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79" y="1892808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2185416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Base coverage: $10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26679" y="2478024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Liability bundle (BI+UM): +$5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26679" y="2770632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Subtotal: $15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79" y="306324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Kicker: 25% collected = +15% (x 1.15)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26679" y="3355848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PIF: not PIF, $0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26679" y="3648456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3941064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PER-POLICY PAY: $15 x 1.15 = $17.25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26679" y="4233672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26679" y="452628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404040"/>
                </a:solidFill>
                <a:latin typeface="Calibri"/>
              </a:rPr>
              <a:t>Same policy on Plan A: $10.35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79" y="4818888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1">
                <a:solidFill>
                  <a:srgbClr val="404040"/>
                </a:solidFill>
                <a:latin typeface="Calibri"/>
              </a:rPr>
              <a:t>Plan B rewards coverage upsell directly.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Plan C - Persistency (Alternative Idea)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Flat per-policy. REN = NB on purpose. RWR drops to $1.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7 / 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How it works: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972800" cy="155448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NB = $8 flat. No tiers, no coverage detail.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REN = $8 flat - SAME as NB. The strongest possible retention signal.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RWR = $1 flat - actively discourages churning the book.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Same collected % kicker. Same 90-day chargeback. Same minimums.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0040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When to use Plan C instead of A or B: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57600"/>
            <a:ext cx="10972800" cy="128016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If the priority is breaking the rewrite habit as fast as possible.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If payroll simplicity matters more than coverage / premium signal.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If a separate quarterly contest will reward premium / coverage growth.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02920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Tradeoff: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440680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0" i="0">
                <a:solidFill>
                  <a:srgbClr val="404040"/>
                </a:solidFill>
                <a:latin typeface="Calibri"/>
              </a:rPr>
              <a:t>Plan C does NOT reward premium size or coverage upsell. An agent writing $500 NBs earns the same as one writing $3,000 NBs. That is by design - the message is 'retain, do not rewrite' - but it loses the premium-quality and coverage-quality incentives that A and B have.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Minimum Requirements (NEW)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NB premium &gt;= $25,000/mo AND REN premium &gt;= $15,000/mo. RWR pays only if both pass.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8 / 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Why we added a minimum at all: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972800" cy="8229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0" i="0">
                <a:solidFill>
                  <a:srgbClr val="404040"/>
                </a:solidFill>
                <a:latin typeface="Calibri"/>
              </a:rPr>
              <a:t>The old plan required 35 NB+RWR policies. That counts rewriting. The new minimum is premium-based and SPLITS NB from REN - so the agent must be writing new business AND building a renewal book. RWR has no own minimum because we don't want to reward rewriting volume directly.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651760"/>
            <a:ext cx="5486400" cy="3383280"/>
          </a:xfrm>
          <a:prstGeom prst="rect">
            <a:avLst/>
          </a:prstGeom>
          <a:solidFill>
            <a:srgbClr val="BDD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97480"/>
            <a:ext cx="512064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DATA-DRIVEN: why these numbers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60"/>
            <a:ext cx="5120640" cy="283464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NB $25,000: 71% of REAL months pass. Achievable on today's behavior - most agents earn NB bonus most months.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REN $15,000: only 4% of REAL months pass. Today's renewals are too small.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REN $15,000: 96% of SWAP months pass. Once agents shift from rewriting to renewing, almost every month opens the REN gate.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RWR gate: needs BOTH. Today essentially zero months pass. Once swap behavior arrives, most months unlock RWR too.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Net effect: bonus paid even on REAL data (NB at least), and BIG step-up once the renewal book is built.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45352" y="2651760"/>
            <a:ext cx="5486400" cy="33832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2697480"/>
            <a:ext cx="512064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DOES THE MINIMUM COVER SALARY?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3108960"/>
            <a:ext cx="5120640" cy="283464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$25,000 NB + $15,000 REN = $40,000 written premium.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At 25% collected (today's typical): $10,000 collected.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x 11% blended commission x 0.825 (after royalty) = ~$908 retained.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At 50% collected (after kicker push): ~$1,815 retained.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vs ~$2,200/mo entry-level agent salary cost.</a:t>
            </a: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The MINIMUM alone does not fully cover salary at 25% collection. The COLLECTED KICKER is the lever - push collection up, agent pays for themselves, bonus comes from real profit.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300" b="1" i="1">
                <a:solidFill>
                  <a:srgbClr val="1F4E78"/>
                </a:solidFill>
                <a:latin typeface="Calibri"/>
              </a:rPr>
              <a:t>Rule: NB bonus pays only if NB gate passes. REN bonus pays only if REN gate passes. RWR bonus pays only if BOTH pass.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Collected % Kicker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Bigger down payments = less chargeback = bigger bonus.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9 / 17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88720"/>
          <a:ext cx="112471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286000"/>
                <a:gridCol w="4846320"/>
                <a:gridCol w="2286000"/>
              </a:tblGrid>
              <a:tr h="365760">
                <a:tc>
                  <a:txBody>
                    <a:bodyPr lIns="54864" rIns="54864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Collected %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Multiplier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Plain English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$10 target -&gt; Pays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6576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Below 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x 1.00 (none)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Premium barely collected. No kicker.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15% - 24%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x 1.10 (+10%)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Minimum down. Small kicker.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$11.00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25% - 49%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x 1.15 (+15%)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Standard down. Standard kicker.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$11.50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50% - 99%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x 1.20 (+20%)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High collection. Stronger kicker.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$12.00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100% (PIF)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x 1.25 (+25%)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Paid in full. Top kicker.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$12.50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93192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Why we incentivize collected % (not just written premium):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89120"/>
            <a:ext cx="10972800" cy="210312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Down payment + PIF money is the ONLY money we are sure we will keep. Everything else can be charged back.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Bigger down -&gt; smaller monthly bills -&gt; customer is less likely to cancel -&gt; we keep more commission.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PIF (paid in full) = no chargeback risk at all. That is why PIF earns the biggest kicker AND a PIF dollar add-on.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The kicker is applied to the per-policy target BEFORE the safety cap. Higher collected agents take home meaningfully more.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Safe Net - What It Means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The commission the agency EXPECTS to keep, after royalty and overhead.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10 / 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How commission actually works: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972800" cy="201168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Most carriers pay commission UPFRONT on the WRITTEN premium (advance). A few pay AS EARNED on what was collected.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On advance carriers, if the customer stops paying, the carrier reverses the unearned commission (chargeback).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Commission RATES vary 8-15% across carriers. We use 11% as a conservative blended rate.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Long-run net commission ~= COLLECTED premium x commission rate. That is what the workbook uses.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657600"/>
          <a:ext cx="112471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200400"/>
                <a:gridCol w="5303520"/>
              </a:tblGrid>
              <a:tr h="365760">
                <a:tc>
                  <a:txBody>
                    <a:bodyPr lIns="54864" rIns="54864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Math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Example: $1,500 policy, $150 down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6576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1. Written premium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Carrier's number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2. Commission advance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Premium x 11% blended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$165 advance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3. Net commission expected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Collected x 11%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$150 x 11% = $16.50 expected to keep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4. After royalty (17.5%)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x 0.825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$13.61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5. After overhead reserve (40%)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x 0.60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$8.17 SAFE 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6. Bonus review threshold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Safe net x 40%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$3.27 max bonus on this policy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Safe Net - Real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Abel Guaina, January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11 / 17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471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286000"/>
                <a:gridCol w="4846320"/>
              </a:tblGrid>
              <a:tr h="365760">
                <a:tc>
                  <a:txBody>
                    <a:bodyPr lIns="54864" rIns="54864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Number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6576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NB + RWR + REN written premium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$73,734.92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What Abel sold and renewed in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Carrier commission advance (x 11%)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$8,110.84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Carriers paid us this much upfront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Total collected from customers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$12,858.65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Cash that came 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Expected retained commission (x 11%)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$1,414.45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After chargeback math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After 17.5% royalty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$1,166.92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After corporate cut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SAFE NET (after 40% overhead reserve)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$700.15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Available for bonus + profit + taxes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Review threshold (40% of safe net)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$280.06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Bonus targets above this get flagged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Plan A target (no min): $252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$252.00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36% of safe net - OK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Plan B target (no min): $399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$399.46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57% of safe net - flagged for review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539496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</a:rPr>
              <a:t>Takeaway: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760720"/>
            <a:ext cx="10972800" cy="8229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$700 of safe net means Abel's January contribution can support a bonus up to ~$280 before ownership wants a second look. The actual bonus depends on the plan rules - Plan A pays $252 (under threshold), Plan B pays $399 (above threshold, flagged but not auto-cut).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Real Agent Examples - 4-Month Totals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Six agents, January through April 2026. What each plan pays.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12 / 17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097280"/>
          <a:ext cx="1143000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280160"/>
                <a:gridCol w="1280160"/>
                <a:gridCol w="1371600"/>
                <a:gridCol w="1280160"/>
                <a:gridCol w="1371600"/>
                <a:gridCol w="1280160"/>
                <a:gridCol w="1463040"/>
              </a:tblGrid>
              <a:tr h="329184">
                <a:tc>
                  <a:txBody>
                    <a:bodyPr lIns="54864" rIns="54864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Current
(today)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Plan A
no-min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Plan A
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Plan B
no-min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Plan B
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Plan C
no-min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Plan C
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2918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Abel Guaina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$1,010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$710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$1,560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$1,148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$1,162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$782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Dialinerys Dieguez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$3,140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$1,514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$999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$2,196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$1,602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$1,517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$1,079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Melissa Hernandez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$2,370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$932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$366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$1,480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$730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$948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$497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Flavia Parra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$2,070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$931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$479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$1,543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$908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$1,010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$618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Thalia Rojas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$671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$1,039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$736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Monica Valdes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$1,940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$1,161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$865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$1,641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$1,318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$1,107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$898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TOTAL (6 agents)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$12,220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$6,219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$3,419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$9,459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$5,705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$6,481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$3,873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502920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</a:rPr>
              <a:t>Read - this is REAL DATA (current rewrite-heavy behavior):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440680"/>
            <a:ext cx="10972800" cy="118872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All three new plans cost LESS than today on real data. We are not overpaying for the wrong behavior anymore.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Plan B costs the most among the new plans - that is the price of being the most motivating.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WITH minimums (NB $25,000 / REN $15,000), the totals drop because many months miss the REN gate. The 'unlock' is the next slide.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What if 50% of Rewrites Become Renewals?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Same agents, same months, same premiums - just RWR reclassified as REN.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13 / 17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47120" cy="3145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463040"/>
                <a:gridCol w="2194560"/>
                <a:gridCol w="1371600"/>
                <a:gridCol w="1097280"/>
                <a:gridCol w="3017520"/>
              </a:tblGrid>
              <a:tr h="393192">
                <a:tc>
                  <a:txBody>
                    <a:bodyPr lIns="54864" rIns="54864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Plan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REAL (today)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SWAP (50% RWR -&gt; REN)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Δ $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Δ %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Direction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9319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Current plan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$12,220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$7,110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$-5,110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-42%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DROPS - bad for agent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Plan A no-min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$6,219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$7,474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$+1,255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+20%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GROWS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319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Plan A WITH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$3,419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$6,465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$+3,046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+89%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GROWS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Plan B no-min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$9,459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$11,616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$+2,157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+23%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GROWS - matches today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319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$5,705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$9,894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$+4,188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+73%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GROWS strongly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Plan C no-min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$6,481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$9,565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$+3,084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+48%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GROWS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319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Plan C WITH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$3,873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$8,387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$+4,514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+117%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GROWS strongly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502920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The headline: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440680"/>
            <a:ext cx="10972800" cy="118872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Current plan DROPS $5,110 (-42%) when behavior shifts - it punishes the right behavior.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Every new plan GROWS when behavior shifts - the design rewards renewing instead of rewriting.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Plan B in SWAP pays $11,616 (no-min) or $9,894 (with-min) vs today's $12,220 - close to par when behavior is right.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How We Protect Profit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Three layers. 90-day chargeback is the strongest.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14 / 17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3749039" cy="521208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88720"/>
            <a:ext cx="3749039" cy="73152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34440"/>
            <a:ext cx="356616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MINIMUM REQUIREMENTS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03120"/>
            <a:ext cx="338328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NB premium ≥ $25,000/mo AND REN premium ≥ $15,000/mo. RWR pays only if both pass.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74720"/>
            <a:ext cx="3383280" cy="2743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If the agent is not producing baseline volume, NO bonus that month. Easy to understand, easy to enforce.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70832" y="1188720"/>
            <a:ext cx="3749039" cy="521208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1188720"/>
            <a:ext cx="3749039" cy="73152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62272" y="1234440"/>
            <a:ext cx="356616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REVIEW THRESHOLD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2103120"/>
            <a:ext cx="338328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If monthly bonus &gt; 40% of safe net, ownership reviews.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3474720"/>
            <a:ext cx="3383280" cy="2743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Soft flag, not auto-cut. Catches outlier months where collection % is unusually low or premium tier is unusually high.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84464" y="1188720"/>
            <a:ext cx="3749039" cy="5212080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84464" y="1188720"/>
            <a:ext cx="3749039" cy="73152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75904" y="1234440"/>
            <a:ext cx="356616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90-DAY CHARGEBACK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67344" y="2103120"/>
            <a:ext cx="338328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100% of the paid bonus is REVERSED if the policy cancels or rewrites within 90 days.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67344" y="3474720"/>
            <a:ext cx="3383280" cy="2743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This is the real profit shield. Matches the carrier's commission chargeback exposure exactly. If the agency loses commission, the agent loses bonus.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Plan B with the new minimums. Pilot 90 days, then review.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15 / 17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11247120" cy="137160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228600" cy="137160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280160"/>
            <a:ext cx="103327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200" b="1" i="0">
                <a:solidFill>
                  <a:srgbClr val="1F4E78"/>
                </a:solidFill>
                <a:latin typeface="Calibri"/>
              </a:rPr>
              <a:t>PLAN B - Coverage-Based, with $25k NB / $15k REN minimums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737360"/>
            <a:ext cx="10332720" cy="6858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0" i="0">
                <a:solidFill>
                  <a:srgbClr val="101010"/>
                </a:solidFill>
                <a:latin typeface="Calibri"/>
              </a:rPr>
              <a:t>Best balance of agent motivation, sales-story clarity, profitability protection, and pay-near-current when behavior shifts.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Why Plan B over A or C: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200400"/>
            <a:ext cx="10972800" cy="210312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B has the strongest UPSELL story: 'every BI+UM bundle is worth $5'. Easy to coach, easy to defend.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B pays closest to today's number when behavior shifts (close to par in SWAP scenario).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B rewards coverage QUALITY - which carriers prefer and persistency improves.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Plan A is leaner (lower cost) but feels small to agents. Use as fallback if B is too generous.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Plan C is simplest but ignores premium / coverage signal. Use only if A and B are both rejected.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48640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Open levers to fine-tune: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72800" cy="7315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404040"/>
                </a:solidFill>
                <a:latin typeface="Calibri"/>
              </a:rPr>
              <a:t>1) Coverage adoption assumption (35% of NB, 30% of REN today) - track actual.   2) Minimum thresholds - softer ($20k/$10k) or tighter ($35k/$20k) per ownership taste.   3) PIF add-on amounts.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Implementation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Three phases. ~10 weeks from approval to first chargeback review.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16 / 17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11247120" cy="1691640"/>
          </a:xfrm>
          <a:prstGeom prst="rect">
            <a:avLst/>
          </a:prstGeom>
          <a:solidFill>
            <a:srgbClr val="BDD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228600" cy="16916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18872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  <a:latin typeface="Calibri"/>
              </a:rPr>
              <a:t>WEEK 1-2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18872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APPROVE + COMMUNICATE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600200"/>
            <a:ext cx="10515600" cy="11430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Ownership picks Plan A, B, or C and signs off on minimums.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Manager rolls out the rules to the agents.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Print the Agent Quick Reference (in the workbook) for each desk.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80360"/>
            <a:ext cx="11247120" cy="169164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880360"/>
            <a:ext cx="228600" cy="169164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97180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70AD47"/>
                </a:solidFill>
                <a:latin typeface="Calibri"/>
              </a:rPr>
              <a:t>WEEK 3-6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29718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PILOT MONTH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383280"/>
            <a:ext cx="10515600" cy="11430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Run the plan side-by-side with the OLD plan for ONE FULL MONTH.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Pay agents the HIGHER of the two each month during the pilot.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Use the manual tracker to verify coverage / PIF / collected.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End of month: compare actual paid vs forecast and adjust if needed.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663440"/>
            <a:ext cx="11247120" cy="169164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663440"/>
            <a:ext cx="228600" cy="16916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75488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BF9000"/>
                </a:solidFill>
                <a:latin typeface="Calibri"/>
              </a:rPr>
              <a:t>WEEK 7-10+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475488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FULL ROLLOUT + REVIEWS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166360"/>
            <a:ext cx="10515600" cy="11430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Switch to NEW plan exclusively.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Run monthly review at the 40% safe-net flag.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At week 12 (90 days after first paid policies), run the FIRST CHARGEBACK review.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At 90 days end: re-baseline rates if the renewal book has started to build.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88952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1672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Decision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1091672" cy="7315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400" b="0" i="0">
                <a:solidFill>
                  <a:srgbClr val="BDD7EE"/>
                </a:solidFill>
                <a:latin typeface="Calibri"/>
              </a:rPr>
              <a:t>Pick the plan that fits the agency culture.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74720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Workbook companion file: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000" b="1" i="0">
                <a:solidFill>
                  <a:srgbClr val="BDD7EE"/>
                </a:solidFill>
                <a:latin typeface="Calibri"/>
              </a:rPr>
              <a:t>Bonus_Proposal_FIXED_Premium_vs_Coverage.xlsx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54880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0" i="1">
                <a:solidFill>
                  <a:srgbClr val="BDD7EE"/>
                </a:solidFill>
                <a:latin typeface="Calibri"/>
              </a:rPr>
              <a:t>Three options. One decision. We're set up to roll out in 10 weeks.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