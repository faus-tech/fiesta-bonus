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Fiesta Bonus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0" i="0">
                <a:solidFill>
                  <a:srgbClr val="BDD7EE"/>
                </a:solidFill>
                <a:latin typeface="Calibri"/>
              </a:rPr>
              <a:t>Final Proposal for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Premium-Tiered Base + Per-Policy Collected Incentive + Book Retention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BDD7EE"/>
                </a:solidFill>
                <a:latin typeface="Calibri"/>
              </a:rPr>
              <a:t>With $45,000 NB premium / 30% retention minimums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BDD7EE"/>
                </a:solidFill>
                <a:latin typeface="Calibri"/>
              </a:rPr>
              <a:t>Modeled on actual Jan-Apr 2026 production: Abel, Dialinerys, Melissa, Flavia, Thalia, Monica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We're Changing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current plan pays for activity, not for the right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2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What the current plan does today: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210312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Counts NB and RWR together toward a 35-policy tier - so rewriting and writing new are the SAME.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renewals - agents have zero reason to keep a customer with the current carrier.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collected money - a $50 down looks the same as a $500 down at payout time.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coverage upsell (BI / UM / Comp/Coll).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Pays nothing for PIF (paid in full) - even though PIF has the least chargeback risk.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101010"/>
                </a:solidFill>
                <a:latin typeface="Calibri"/>
              </a:rPr>
              <a:t>• Has no profitability tie - the bonus is set without reference to commission economics.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The cost of that design: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Agents rewrite customers between carriers to grow their count - even when the customer would have renewed.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Customer is moved, the policy starts a NEW 6-month term, persistency drops.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The agency loses the renewal commission it would have earned by keeping the customer in place.</a:t>
            </a:r>
          </a:p>
          <a:p>
            <a:pPr>
              <a:lnSpc>
                <a:spcPct val="120000"/>
              </a:lnSpc>
            </a:pPr>
            <a:r>
              <a:rPr sz="1500">
                <a:solidFill>
                  <a:srgbClr val="404040"/>
                </a:solidFill>
                <a:latin typeface="Calibri"/>
              </a:rPr>
              <a:t>• We are paying premium bonus dollars for the worst kind of activity: churning the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BONUS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Same idea as today's 30/38/50 count tiers, but driven by monthly WRITTEN PREMIUM. $1,000 NB at $100k.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3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1. NEW BUSINESS - 5 tiers by monthly written premium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8016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01168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Monthly NB premium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NB pays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T1 (min req)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Above $100k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+$5k of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+$50 (1%)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9601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2. REWRITES - same breakpoints, pays ~HALF (gated by NB $45k)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280160"/>
          <a:ext cx="5669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19456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Monthly RWR premium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RWR pays (~half of NB)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$85,000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Above $100k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+$5k of 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+$25 (0.5%)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749039"/>
            <a:ext cx="1161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3. RENEWALS - own tiers starting at $25k, gated by 30% retention rate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69080"/>
          <a:ext cx="1161288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371600"/>
                <a:gridCol w="1371600"/>
                <a:gridCol w="1371600"/>
                <a:gridCol w="1463040"/>
                <a:gridCol w="2286000"/>
              </a:tblGrid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Above $100k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Monthly REN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$65,000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+$5k of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REN pays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+$40 (0.8%)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074920"/>
          <a:ext cx="1161288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103120"/>
                <a:gridCol w="2103120"/>
                <a:gridCol w="2103120"/>
                <a:gridCol w="2103120"/>
              </a:tblGrid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Retention rate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30-49%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50-74%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75-99%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9260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Kicker on top of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+$1,000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5806440"/>
            <a:ext cx="1161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4E78"/>
                </a:solidFill>
                <a:latin typeface="Calibri"/>
              </a:rPr>
              <a:t>4. RULES ON TOP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6126480"/>
          <a:ext cx="1161288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08960"/>
                <a:gridCol w="5943600"/>
              </a:tblGrid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NB monthly 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$45,000 NB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Equals T1 entry. NB &lt; $45k -&gt; NB pay = $0 (also blocks RWR)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REN monthly minimum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30% retention rate of book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Retain &lt; 30% -&gt; REN pay = 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Chargeback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 months (90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100% bonus reversed if policy cancels/rewrites within 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Minimum Requirements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NB premium &gt;= $45,000/mo + REN retention &gt;= 30% of book. RWR follows NB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we added a minimum at all: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Calibri"/>
              </a:rPr>
              <a:t>The old plan required 35 NB+RWR policies. That counts rewriting. The new minimum is premium-based and SPLITS NB from REN - so the agent must be writing new business AND building a renewal book. RWR has no own minimum because we don't reward rewriting volume directly.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4688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4389120"/>
              </a:tblGrid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 months pass (24)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SWAP months pass (24)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Plain English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NB &gt;= 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4/24 (17%)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4/24 (17%)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Top performers only - $45k is a stretch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REN retention &gt;= 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modeled 75% (75% &gt;= 30%)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75% &gt;= 30% pass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Industry typical retention; model assumes 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BOTH gates (for RWR)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0 (0%)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6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200">
                          <a:solidFill>
                            <a:srgbClr val="101010"/>
                          </a:solidFill>
                          <a:latin typeface="Calibri"/>
                        </a:rPr>
                        <a:t>Once renewal book exists, RWR also pays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389120"/>
            <a:ext cx="1124712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F4E78"/>
                </a:solidFill>
                <a:latin typeface="Calibri"/>
              </a:rPr>
              <a:t>DOES THE MINIMUM COVER AGENT SALARY?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Agent salary basis: $16-$22/hr x 40 hr/wk = $2,773-$3,813/mo (midpoint $3,300).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At 25% collected (today's typical): $11,250 collected x 11% x (1-21%) = ~$978 retained (30% of salary).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At 50% collected (typical push target): ~$1,955 retained (59% of salary).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At 75% collected (top performer): ~$2,933 retained (89% of salary) - covers salary AND generates profit.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01010"/>
                </a:solidFill>
                <a:latin typeface="Calibri"/>
              </a:rPr>
              <a:t>• The MINIMUM is the floor. The COLLECTED KICKER is the lever to cover salary and earn bonus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does CURRENT bonus DROP when RWR becomes REN?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Renewals pay MORE than rewrites - but only under the new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5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F4E78"/>
                </a:solidFill>
                <a:latin typeface="Calibri"/>
              </a:rPr>
              <a:t>Short answer: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01010"/>
                </a:solidFill>
                <a:latin typeface="Calibri"/>
              </a:rPr>
              <a:t>The CURRENT plan does NOT pay anything for renewals. It only counts NB + RWR toward the 35-policy tier. When 50% of RWR moves to REN, the NB+RWR count drops, the tier drops, the bonus drops. Renewals 'paying more' is only true under the NEW plan, where the REN tier pays a separate bonus once retention rate hits 30%.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Concrete example - Dialinerys Dieguez, March: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9184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1097280"/>
                <a:gridCol w="1097280"/>
                <a:gridCol w="2377440"/>
                <a:gridCol w="2560320"/>
              </a:tblGrid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Current pays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New plan pays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SWAP (50% RWR -&gt; REN)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$680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+34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-$340 (BAD)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+$600 (GOOD)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F4E78"/>
                </a:solidFill>
                <a:latin typeface="Calibri"/>
              </a:rPr>
              <a:t>Bottom line: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Per swapped policy: Current loses ~$10 from the count tier. New plan gains by climbing the REN premium tiers as the renewal book grows.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Under Current, the agency literally pays LESS when the agent does the right thing.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Under the new plan, the agent gets MORE for retaining instead of rewriting - the exact incentive we want.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Step-By-Step: How the Bonus Is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Worked example: Dialinerys Dieguez, March 2026. Same agent, same month, three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3703320" cy="5212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Monthly volume: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1391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NB: 38 policies, $52k 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1051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RWR: 69 policies, $96k written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0710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REN: 7 policies, $6k written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20370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Hit a premium tier: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0030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NB $52k -&gt; T1 $45k = $250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9689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RWR $96k -&gt; T4 $85k = $350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9349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REN $6k -&gt; Below T1 = 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9008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TARGET TOTAL = $600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18668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Apply gates: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NB $52k vs $45k: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7987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REN retention 75% vs 30%: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7647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RWR (follows NB):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7306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F4E78"/>
                </a:solidFill>
                <a:latin typeface="Calibri"/>
              </a:rPr>
              <a:t>PAID = $600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1371600"/>
            <a:ext cx="3703320" cy="5212080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141732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Monthly volume: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161391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NB: 38 policies, $52k written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181051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RWR: 35 policies, $48k written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200710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REN: 41 policies, $54k written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220370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Hit a premium tier: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240030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NB $52k -&gt; T1 $45k = $250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259689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RWR $48k -&gt; T1 $45k = $100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279349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REN $54k -&gt; T2 $40k = $850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299008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TARGET TOTAL = $1200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318668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Apply gates: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338328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NB $52k vs $45k: 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357987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REN retention 75% vs 30%: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377647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RWR (follows NB):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397306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PAID = $1200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4736" y="1371600"/>
            <a:ext cx="3703320" cy="521208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6176" y="141732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Monthly volume: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161391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NB: 38 policies, $52k written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181051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RWR: 7 policies, $6k written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200710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  REN: 69 policies, $96k written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220370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Hit a premium tier: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40030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NB $52k -&gt; T1 $45k = $250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6" y="259689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RWR $6k -&gt; Below T1 = 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6176" y="279349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F4E78"/>
                </a:solidFill>
                <a:latin typeface="Calibri"/>
              </a:rPr>
              <a:t>  REN $96k -&gt; T4 $80k = $1050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6176" y="299008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TARGET TOTAL = $1300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6176" y="3186684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Apply gates: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6176" y="3383280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NB $52k vs $45k: 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6176" y="3579876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REN retention 75% vs 30%: PASS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6176" y="3776472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70AD47"/>
                </a:solidFill>
                <a:latin typeface="Calibri"/>
              </a:rPr>
              <a:t>  RWR (follows NB): 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6176" y="3973068"/>
            <a:ext cx="3520440" cy="1965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F9000"/>
                </a:solidFill>
                <a:latin typeface="Calibri"/>
              </a:rPr>
              <a:t>PAID = $1300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NB Bonus Examples - Who Hits Which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T1 $45k=$250 | T2 $55k=$375 | T3 $70k=$525 | T4 $85k=$725 | T5 $100k=$1,000 | Above $100k: +$50 per $5k. Min req $45k.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NB Premium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24528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NB Premium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74736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NB Premium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RWR Bonus Examples - Who Hits Which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T1 $45k=$100 | T2 $55k=$200 | T3 $70k=$275 | T4 $85k=$350 | T5 $100k=$500 | Above $100k: +$25 per $5k. Gated by NB min.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RWR Premium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$96k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T4 T4 $85k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T4 T4 $85k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T2 $55k -&gt; $200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24528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RWR Premium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T1 $45k -&gt; 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74736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RWR Premium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REN Bonus Examples - Who Hits Which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T1 $25k=$250 | T2 $40k=$350 | T3 $65k=$450 | T4 $80k=$550 | T5 $100k=$800 | Above $100k: +$40 per $5k. Retention KICKER on top: 50-74%=+$250 | 75-99%=+$500 | 100%=+$1,000. Min 30% retention 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REN Premium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24528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REN Premium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T1 $25k -&gt; 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T1 $25k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T1 $25k -&gt; 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T1 $25k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T1 $25k -&gt; 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Below T1 (min not met)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74736" y="1417320"/>
          <a:ext cx="3703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68680"/>
                <a:gridCol w="164592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REN Premium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Tier / Bonus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$96k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T4 T4 $80k -&gt; $550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T4 T4 $80k -&gt; $550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T3 T3 $65k -&gt; $450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Flavia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T2 T2 $40k -&gt; 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Thalia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T1 T1 $25k -&gt; 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Combined Bonus Examples - All Three Lines + Total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Per agent-month: NB tier + RWR tier + REN tier = TOTAL BONUS. Top 8 by total bonus per scenario.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417320"/>
          <a:ext cx="37033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"/>
                <a:gridCol w="594360"/>
                <a:gridCol w="594360"/>
                <a:gridCol w="731520"/>
              </a:tblGrid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 / 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Top-10 total (this scenario)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24528" y="1417320"/>
          <a:ext cx="37033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"/>
                <a:gridCol w="594360"/>
                <a:gridCol w="594360"/>
                <a:gridCol w="731520"/>
              </a:tblGrid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 / 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Top-10 total (this scenario)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$3,625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74736" y="1417320"/>
          <a:ext cx="37033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"/>
                <a:gridCol w="594360"/>
                <a:gridCol w="594360"/>
                <a:gridCol w="731520"/>
              </a:tblGrid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Agent / 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NB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RWR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REN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Dialinerys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Melissa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101010"/>
                          </a:solidFill>
                          <a:latin typeface="Calibri"/>
                        </a:rPr>
                        <a:t>Top-10 total (this scenario)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900">
                          <a:solidFill>
                            <a:srgbClr val="101010"/>
                          </a:solidFill>
                          <a:latin typeface="Calibri"/>
                        </a:rPr>
                        <a:t>$4,925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Current vs New Plan - Per Agent-Month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CURRENT = count-tier on NB+RWR. NEW = NB tier + RWR tier + REN tier + retention kicker. Sorted by delta. # = policy count, $ = written premium.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 (today)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417320"/>
          <a:ext cx="4389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40080"/>
                <a:gridCol w="640080"/>
                <a:gridCol w="640080"/>
                <a:gridCol w="502920"/>
                <a:gridCol w="502920"/>
                <a:gridCol w="59436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Agent / Mo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NB # / $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RWR # / $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REN # / $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Abel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30 / 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17 / 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5 / 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36 / $69k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28 / $39k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0 / $0k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$590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$-215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Abel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13 / 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19 / 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7 / 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33 / 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44 / $64k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 / 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$-270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Abel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25 / 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17 / $28k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9 / 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Abel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27 / $38k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15 / $15k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13 / $11k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Thalia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10 / $16k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28 / $33k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4 / 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Thalia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14 / 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$28k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5 / $7k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Thalia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19 / $18k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19 / $20k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6 / 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4-mo total (all agents)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$12,220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$-10,545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50% SWAP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24528" y="1417320"/>
          <a:ext cx="4389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40080"/>
                <a:gridCol w="640080"/>
                <a:gridCol w="640080"/>
                <a:gridCol w="502920"/>
                <a:gridCol w="502920"/>
                <a:gridCol w="59436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Agent / Mo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NB # / $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RWR # / $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REN # / $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33 / $50k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22 / 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$52k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38 / $52k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35 / $48k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41 / $54k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$680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+$520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23 / 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$33k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35 / $45k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13 / 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19 / $25k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19 / $26k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23 / $29k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19 / $24k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$31k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21 / $32k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15 / $24k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16 / $27k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23 / $30k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28 / $43k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37 / $54k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28 / $40k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$28k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25 / $29k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$470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+$280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Melissa 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31 / $37k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24 / 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4-mo total (all agents)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$7,110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$8,375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+$1,265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0584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100% FLIP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74736" y="1417320"/>
          <a:ext cx="4389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40080"/>
                <a:gridCol w="640080"/>
                <a:gridCol w="640080"/>
                <a:gridCol w="502920"/>
                <a:gridCol w="502920"/>
                <a:gridCol w="594360"/>
              </a:tblGrid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Agent / Mo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NB # / $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RWR # / $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REN # / $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BF9000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38 / $52k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7 / $6k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69 / $96k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Melissa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13 / $8k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 / $1k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37 / $50k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Melissa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28 / 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 / $1k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48 / $57k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Melissa Apr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15 / $19k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0 / $0k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37 / $43k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Flavia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23 / $22k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 / $2k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42 / $44k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Monica Jan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23 / $29k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6 / $7k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37 / $49k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Monica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21 / $32k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 / $3k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29 / $47k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Dialiner Feb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23 / $30k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9 / $12k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56 / $86k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$1,050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Monica 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36 / $69k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0 / $0k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28 / $39k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 b="1">
                          <a:solidFill>
                            <a:srgbClr val="101010"/>
                          </a:solidFill>
                          <a:latin typeface="Calibri"/>
                        </a:rPr>
                        <a:t>4-mo total (all agents)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$2,750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$18,475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800">
                          <a:solidFill>
                            <a:srgbClr val="101010"/>
                          </a:solidFill>
                          <a:latin typeface="Calibri"/>
                        </a:rPr>
                        <a:t>+$15,725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Headline - 4-Month Totals Across 3 Scenarios (6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REAL = today. 50% SWAP = half of rewrites become renewals. 100% FLIP = renewals &amp; rewrites fully swapped.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12 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972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463040"/>
                <a:gridCol w="3931920"/>
              </a:tblGrid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REAL (today)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50% SWAP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100% FLIP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Current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$7,110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CRASHES - current pays $0 for 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New plan - no minimum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$2,925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$8,375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$18,475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Calculated target before applying minimums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101010"/>
                          </a:solidFill>
                          <a:latin typeface="Calibri"/>
                        </a:rPr>
                        <a:t>New plan WITH MIN (RECOMMENDED)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$8,375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$18,475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288" bIns="18288" wrap="square" anchor="ctr"/>
                    <a:lstStyle/>
                    <a:p>
                      <a:pPr algn="ctr"/>
                      <a:r>
                        <a:rPr sz="1300">
                          <a:solidFill>
                            <a:srgbClr val="101010"/>
                          </a:solidFill>
                          <a:latin typeface="Calibri"/>
                        </a:rPr>
                        <a:t>Pays when NB &gt;= $45k/mo and retention &gt;=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The headline: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23774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Current plan COLLAPSES under the flip ($2,750 vs today's $12,220). It only rewards rewrite VOLUME.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New plan WITH MIN under 100% FLIP = $18,475 (151% of today's $12,220). The agency keeps more profit while still rewarding the right behavior.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New plan rewards what the current plan ignores: writing bigger NB books AND keeping renewals - each has its own premium tier ladder.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101010"/>
                </a:solidFill>
                <a:latin typeface="Calibri"/>
              </a:rPr>
              <a:t>• The pitch to the agent: 'today you're earning $509/mo on rewrites. Under the new plan, when you renew instead, the REN tier kicks in - up to $800 at $100k retained.'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Bonus Plan with $45,000 NB + 30% retention minimums. Pilot 90 days, then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731520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Fiesta Bonus Plan - Ownership Decision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47688"/>
            <a:ext cx="731520" cy="210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Calibri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28600" cy="13716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F4E78"/>
                </a:solidFill>
                <a:latin typeface="Calibri"/>
              </a:rPr>
              <a:t>THE NEW BONUS PLAN - with $45,000 NB premium + 30% retention minimums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01010"/>
                </a:solidFill>
                <a:latin typeface="Calibri"/>
              </a:rPr>
              <a:t>Balanced for agent motivation, retention upside, profit protection, and clean payroll math.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Why the new plan beats today's: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Same structure as today (count tiers -&gt; $X) but driven by PREMIUM written, not policy count.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Pays for RENEWALS (today's plan pays $0) - REN gets its own tier ladder starting at $25k.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Bigger jumps at the top tiers - $1,000 NB at $100k premium, with linear 1% upside above.</a:t>
            </a:r>
          </a:p>
          <a:p>
            <a:pPr>
              <a:lnSpc>
                <a:spcPct val="120000"/>
              </a:lnSpc>
            </a:pPr>
            <a:r>
              <a:rPr sz="1400">
                <a:solidFill>
                  <a:srgbClr val="101010"/>
                </a:solidFill>
                <a:latin typeface="Calibri"/>
              </a:rPr>
              <a:t>• Pays more under FLIP ($18,475 vs today's $12,220) but only when the agency keeps the book - REAL behavior pays only $1,675. The pay scales with the retention upside.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F4E78"/>
                </a:solidFill>
                <a:latin typeface="Calibri"/>
              </a:rPr>
              <a:t>Levers to fine-tune over time: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1) Tier amounts (lower entry / higher top to motivate harder).   2) Tier breakpoints ($45k entry / $100k top - tighten or loosen the ladder).   3) Retention rate gate (30% today - dial up over time as the renewal book builds).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9144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Decision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0" i="0">
                <a:solidFill>
                  <a:srgbClr val="BDD7EE"/>
                </a:solidFill>
                <a:latin typeface="Calibri"/>
              </a:rPr>
              <a:t>The new bonus plan with NB &amp; retention minimums.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Workbook companion file: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BDD7EE"/>
                </a:solidFill>
                <a:latin typeface="Calibri"/>
              </a:rPr>
              <a:t>Bonus_Plan_FINAL.xlsx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1">
                <a:solidFill>
                  <a:srgbClr val="BDD7EE"/>
                </a:solidFill>
                <a:latin typeface="Calibri"/>
              </a:rPr>
              <a:t>One plan. One decision. Ready to roll out in 10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