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F4E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3108960"/>
            <a:ext cx="12188952" cy="91440"/>
          </a:xfrm>
          <a:prstGeom prst="rect">
            <a:avLst/>
          </a:prstGeom>
          <a:solidFill>
            <a:srgbClr val="BF9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914400"/>
            <a:ext cx="11091672" cy="91440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5400" b="1" i="0">
                <a:solidFill>
                  <a:srgbClr val="FFFFFF"/>
                </a:solidFill>
                <a:latin typeface="Calibri"/>
              </a:rPr>
              <a:t>Fiesta Bonus Plan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828800"/>
            <a:ext cx="11091672" cy="73152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2800" b="0" i="0">
                <a:solidFill>
                  <a:srgbClr val="BDD7EE"/>
                </a:solidFill>
                <a:latin typeface="Calibri"/>
              </a:rPr>
              <a:t>Final Proposal for Ownership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3474720"/>
            <a:ext cx="11091672" cy="50292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2000" b="0" i="0">
                <a:solidFill>
                  <a:srgbClr val="FFFFFF"/>
                </a:solidFill>
                <a:latin typeface="Calibri"/>
              </a:rPr>
              <a:t>Premium-Tiered Base + Per-Policy Collected Incentive + Book Retention Bonus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4114800"/>
            <a:ext cx="11091672" cy="50292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800" b="0" i="0">
                <a:solidFill>
                  <a:srgbClr val="BDD7EE"/>
                </a:solidFill>
                <a:latin typeface="Calibri"/>
              </a:rPr>
              <a:t>With $45,000 NB premium / 30% retention minimums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4846320"/>
            <a:ext cx="11091672" cy="50292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500" b="0" i="1">
                <a:solidFill>
                  <a:srgbClr val="BDD7EE"/>
                </a:solidFill>
                <a:latin typeface="Calibri"/>
              </a:rPr>
              <a:t>Modeled on actual Jan-Apr 2026 production: Abel, Dialinerys, Melissa, Flavia, Thalia, Monica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868680"/>
          </a:xfrm>
          <a:prstGeom prst="rect">
            <a:avLst/>
          </a:prstGeom>
          <a:solidFill>
            <a:srgbClr val="1F4E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09728"/>
            <a:ext cx="11430000" cy="45720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  <a:latin typeface="Calibri"/>
              </a:rPr>
              <a:t>Glossary - What These Terms Mean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530352"/>
            <a:ext cx="11430000" cy="32004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1200" b="0" i="1">
                <a:solidFill>
                  <a:srgbClr val="BDD7EE"/>
                </a:solidFill>
                <a:latin typeface="Calibri"/>
              </a:rPr>
              <a:t>Skip this slide if you know the insurance jargon.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647688"/>
            <a:ext cx="12188952" cy="210312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6647688"/>
            <a:ext cx="7315200" cy="210312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1000" b="0" i="0">
                <a:solidFill>
                  <a:srgbClr val="404040"/>
                </a:solidFill>
                <a:latin typeface="Calibri"/>
              </a:rPr>
              <a:t>Fiesta Bonus Plan - Ownership Decision Deck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38560" y="6647688"/>
            <a:ext cx="731520" cy="210312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ctr">
            <a:spAutoFit/>
          </a:bodyPr>
          <a:lstStyle/>
          <a:p>
            <a:pPr algn="r"/>
            <a:r>
              <a:rPr sz="1000" b="0" i="0">
                <a:solidFill>
                  <a:srgbClr val="404040"/>
                </a:solidFill>
                <a:latin typeface="Calibri"/>
              </a:rPr>
              <a:t>2 / 22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457200" y="1097280"/>
          <a:ext cx="11247120" cy="526694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8800"/>
                <a:gridCol w="9418320"/>
              </a:tblGrid>
              <a:tr h="329184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Term</a:t>
                      </a:r>
                    </a:p>
                  </a:txBody>
                  <a:tcPr>
                    <a:solidFill>
                      <a:srgbClr val="1F4E78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What it means</a:t>
                      </a:r>
                    </a:p>
                  </a:txBody>
                  <a:tcPr>
                    <a:solidFill>
                      <a:srgbClr val="1F4E78"/>
                    </a:solidFill>
                  </a:tcPr>
                </a:tc>
              </a:tr>
              <a:tr h="329184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200" b="1">
                          <a:solidFill>
                            <a:srgbClr val="101010"/>
                          </a:solidFill>
                          <a:latin typeface="Calibri"/>
                        </a:rPr>
                        <a:t>NB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200">
                          <a:solidFill>
                            <a:srgbClr val="101010"/>
                          </a:solidFill>
                          <a:latin typeface="Calibri"/>
                        </a:rPr>
                        <a:t>NEW BUSINESS - first time the customer is on the books.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200" b="1">
                          <a:solidFill>
                            <a:srgbClr val="101010"/>
                          </a:solidFill>
                          <a:latin typeface="Calibri"/>
                        </a:rPr>
                        <a:t>RWR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200">
                          <a:solidFill>
                            <a:srgbClr val="101010"/>
                          </a:solidFill>
                          <a:latin typeface="Calibri"/>
                        </a:rPr>
                        <a:t>REWRITE - cancel an existing policy and write a NEW one (usually at a different carrier). Churns the book.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329184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200" b="1">
                          <a:solidFill>
                            <a:srgbClr val="101010"/>
                          </a:solidFill>
                          <a:latin typeface="Calibri"/>
                        </a:rPr>
                        <a:t>REN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200">
                          <a:solidFill>
                            <a:srgbClr val="101010"/>
                          </a:solidFill>
                          <a:latin typeface="Calibri"/>
                        </a:rPr>
                        <a:t>RENEWAL - the existing policy renews at the SAME carrier. Customer stays put.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200" b="1">
                          <a:solidFill>
                            <a:srgbClr val="101010"/>
                          </a:solidFill>
                          <a:latin typeface="Calibri"/>
                        </a:rPr>
                        <a:t>PIF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200">
                          <a:solidFill>
                            <a:srgbClr val="101010"/>
                          </a:solidFill>
                          <a:latin typeface="Calibri"/>
                        </a:rPr>
                        <a:t>PAID IN FULL - customer pays the entire premium upfront. Zero chargeback risk.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329184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200" b="1">
                          <a:solidFill>
                            <a:srgbClr val="101010"/>
                          </a:solidFill>
                          <a:latin typeface="Calibri"/>
                        </a:rPr>
                        <a:t>BI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200">
                          <a:solidFill>
                            <a:srgbClr val="101010"/>
                          </a:solidFill>
                          <a:latin typeface="Calibri"/>
                        </a:rPr>
                        <a:t>BODILY INJURY liability - pays the OTHER person's injuries if your customer caused the accident.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200" b="1">
                          <a:solidFill>
                            <a:srgbClr val="101010"/>
                          </a:solidFill>
                          <a:latin typeface="Calibri"/>
                        </a:rPr>
                        <a:t>UM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200">
                          <a:solidFill>
                            <a:srgbClr val="101010"/>
                          </a:solidFill>
                          <a:latin typeface="Calibri"/>
                        </a:rPr>
                        <a:t>UNINSURED MOTORIST - pays YOUR customer if hit by an uninsured driver. Cannot exist without BI.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329184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200" b="1">
                          <a:solidFill>
                            <a:srgbClr val="101010"/>
                          </a:solidFill>
                          <a:latin typeface="Calibri"/>
                        </a:rPr>
                        <a:t>PIP / PD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200">
                          <a:solidFill>
                            <a:srgbClr val="101010"/>
                          </a:solidFill>
                          <a:latin typeface="Calibri"/>
                        </a:rPr>
                        <a:t>PERSONAL INJURY PROTECTION and PROPERTY DAMAGE liability. Required in Florida.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200" b="1">
                          <a:solidFill>
                            <a:srgbClr val="101010"/>
                          </a:solidFill>
                          <a:latin typeface="Calibri"/>
                        </a:rPr>
                        <a:t>Comp / Coll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200">
                          <a:solidFill>
                            <a:srgbClr val="101010"/>
                          </a:solidFill>
                          <a:latin typeface="Calibri"/>
                        </a:rPr>
                        <a:t>COMPREHENSIVE / COLLISION - covers your customer's OWN car damage.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329184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200" b="1">
                          <a:solidFill>
                            <a:srgbClr val="101010"/>
                          </a:solidFill>
                          <a:latin typeface="Calibri"/>
                        </a:rPr>
                        <a:t>Collected 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200">
                          <a:solidFill>
                            <a:srgbClr val="101010"/>
                          </a:solidFill>
                          <a:latin typeface="Calibri"/>
                        </a:rPr>
                        <a:t>% of premium the customer actually paid. Down payment / total = collected %.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200" b="1">
                          <a:solidFill>
                            <a:srgbClr val="101010"/>
                          </a:solidFill>
                          <a:latin typeface="Calibri"/>
                        </a:rPr>
                        <a:t>Safe Net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200">
                          <a:solidFill>
                            <a:srgbClr val="101010"/>
                          </a:solidFill>
                          <a:latin typeface="Calibri"/>
                        </a:rPr>
                        <a:t>Money left after corporate royalty (21%) and overhead (30%). Bonus comes from this pool.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329184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200" b="1">
                          <a:solidFill>
                            <a:srgbClr val="101010"/>
                          </a:solidFill>
                          <a:latin typeface="Calibri"/>
                        </a:rPr>
                        <a:t>Chargeback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200">
                          <a:solidFill>
                            <a:srgbClr val="101010"/>
                          </a:solidFill>
                          <a:latin typeface="Calibri"/>
                        </a:rPr>
                        <a:t>If a policy cancels within 90 days, the bonus is reversed.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200" b="1">
                          <a:solidFill>
                            <a:srgbClr val="101010"/>
                          </a:solidFill>
                          <a:latin typeface="Calibri"/>
                        </a:rPr>
                        <a:t>Kicker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200">
                          <a:solidFill>
                            <a:srgbClr val="101010"/>
                          </a:solidFill>
                          <a:latin typeface="Calibri"/>
                        </a:rPr>
                        <a:t>Bonus multiplier on the collected %. Higher down = bigger multiplier.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329184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200" b="1">
                          <a:solidFill>
                            <a:srgbClr val="101010"/>
                          </a:solidFill>
                          <a:latin typeface="Calibri"/>
                        </a:rPr>
                        <a:t>Minimum / Gate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200">
                          <a:solidFill>
                            <a:srgbClr val="101010"/>
                          </a:solidFill>
                          <a:latin typeface="Calibri"/>
                        </a:rPr>
                        <a:t>A monthly premium threshold the agent must hit to earn that bonus line.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200" b="1">
                          <a:solidFill>
                            <a:srgbClr val="101010"/>
                          </a:solidFill>
                          <a:latin typeface="Calibri"/>
                        </a:rPr>
                        <a:t>FLIP scenario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200">
                          <a:solidFill>
                            <a:srgbClr val="101010"/>
                          </a:solidFill>
                          <a:latin typeface="Calibri"/>
                        </a:rPr>
                        <a:t>Hypothetical: 'what if ALL rewrites had been renewals?'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329184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200" b="1">
                          <a:solidFill>
                            <a:srgbClr val="101010"/>
                          </a:solidFill>
                          <a:latin typeface="Calibri"/>
                        </a:rPr>
                        <a:t>SWAP scenario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200">
                          <a:solidFill>
                            <a:srgbClr val="101010"/>
                          </a:solidFill>
                          <a:latin typeface="Calibri"/>
                        </a:rPr>
                        <a:t>Hypothetical: 'what if HALF the rewrites became renewals?'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868680"/>
          </a:xfrm>
          <a:prstGeom prst="rect">
            <a:avLst/>
          </a:prstGeom>
          <a:solidFill>
            <a:srgbClr val="1F4E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09728"/>
            <a:ext cx="11430000" cy="45720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  <a:latin typeface="Calibri"/>
              </a:rPr>
              <a:t>Why We're Changing the Plan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530352"/>
            <a:ext cx="11430000" cy="32004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1200" b="0" i="1">
                <a:solidFill>
                  <a:srgbClr val="BDD7EE"/>
                </a:solidFill>
                <a:latin typeface="Calibri"/>
              </a:rPr>
              <a:t>The current plan pays for activity, not for the right activity.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647688"/>
            <a:ext cx="12188952" cy="210312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6647688"/>
            <a:ext cx="7315200" cy="210312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1000" b="0" i="0">
                <a:solidFill>
                  <a:srgbClr val="404040"/>
                </a:solidFill>
                <a:latin typeface="Calibri"/>
              </a:rPr>
              <a:t>Fiesta Bonus Plan - Ownership Decision Deck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38560" y="6647688"/>
            <a:ext cx="731520" cy="210312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ctr">
            <a:spAutoFit/>
          </a:bodyPr>
          <a:lstStyle/>
          <a:p>
            <a:pPr algn="r"/>
            <a:r>
              <a:rPr sz="1000" b="0" i="0">
                <a:solidFill>
                  <a:srgbClr val="404040"/>
                </a:solidFill>
                <a:latin typeface="Calibri"/>
              </a:rPr>
              <a:t>3 / 22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097280"/>
            <a:ext cx="11247120" cy="45720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800" b="1" i="0">
                <a:solidFill>
                  <a:srgbClr val="1F4E78"/>
                </a:solidFill>
                <a:latin typeface="Calibri"/>
              </a:rPr>
              <a:t>What the current plan does today: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554480"/>
            <a:ext cx="10972800" cy="2103120"/>
          </a:xfrm>
          <a:prstGeom prst="rect">
            <a:avLst/>
          </a:prstGeom>
          <a:noFill/>
          <a:ln>
            <a:noFill/>
          </a:ln>
        </p:spPr>
        <p:txBody>
          <a:bodyPr wrap="square" tIns="91440" bIns="91440">
            <a:spAutoFit/>
          </a:bodyPr>
          <a:lstStyle/>
          <a:p>
            <a:pPr>
              <a:lnSpc>
                <a:spcPct val="120000"/>
              </a:lnSpc>
            </a:pPr>
            <a:r>
              <a:rPr sz="1500">
                <a:solidFill>
                  <a:srgbClr val="101010"/>
                </a:solidFill>
                <a:latin typeface="Calibri"/>
              </a:rPr>
              <a:t>• Counts NB and RWR together toward a 35-policy tier - so rewriting and writing new are the SAME.</a:t>
            </a:r>
          </a:p>
          <a:p>
            <a:pPr>
              <a:lnSpc>
                <a:spcPct val="120000"/>
              </a:lnSpc>
            </a:pPr>
            <a:r>
              <a:rPr sz="1500">
                <a:solidFill>
                  <a:srgbClr val="101010"/>
                </a:solidFill>
                <a:latin typeface="Calibri"/>
              </a:rPr>
              <a:t>• Pays nothing for renewals - agents have zero reason to keep a customer with the current carrier.</a:t>
            </a:r>
          </a:p>
          <a:p>
            <a:pPr>
              <a:lnSpc>
                <a:spcPct val="120000"/>
              </a:lnSpc>
            </a:pPr>
            <a:r>
              <a:rPr sz="1500">
                <a:solidFill>
                  <a:srgbClr val="101010"/>
                </a:solidFill>
                <a:latin typeface="Calibri"/>
              </a:rPr>
              <a:t>• Pays nothing for collected money - a $50 down looks the same as a $500 down at payout time.</a:t>
            </a:r>
          </a:p>
          <a:p>
            <a:pPr>
              <a:lnSpc>
                <a:spcPct val="120000"/>
              </a:lnSpc>
            </a:pPr>
            <a:r>
              <a:rPr sz="1500">
                <a:solidFill>
                  <a:srgbClr val="101010"/>
                </a:solidFill>
                <a:latin typeface="Calibri"/>
              </a:rPr>
              <a:t>• Pays nothing for coverage upsell (BI / UM / Comp/Coll).</a:t>
            </a:r>
          </a:p>
          <a:p>
            <a:pPr>
              <a:lnSpc>
                <a:spcPct val="120000"/>
              </a:lnSpc>
            </a:pPr>
            <a:r>
              <a:rPr sz="1500">
                <a:solidFill>
                  <a:srgbClr val="101010"/>
                </a:solidFill>
                <a:latin typeface="Calibri"/>
              </a:rPr>
              <a:t>• Pays nothing for PIF (paid in full) - even though PIF has the least chargeback risk.</a:t>
            </a:r>
          </a:p>
          <a:p>
            <a:pPr>
              <a:lnSpc>
                <a:spcPct val="120000"/>
              </a:lnSpc>
            </a:pPr>
            <a:r>
              <a:rPr sz="1500">
                <a:solidFill>
                  <a:srgbClr val="101010"/>
                </a:solidFill>
                <a:latin typeface="Calibri"/>
              </a:rPr>
              <a:t>• Has no profitability tie - the bonus is set without reference to commission economics.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3840480"/>
            <a:ext cx="11247120" cy="45720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800" b="1" i="0">
                <a:solidFill>
                  <a:srgbClr val="1F4E78"/>
                </a:solidFill>
                <a:latin typeface="Calibri"/>
              </a:rPr>
              <a:t>The cost of that design: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4297680"/>
            <a:ext cx="10972800" cy="1828800"/>
          </a:xfrm>
          <a:prstGeom prst="rect">
            <a:avLst/>
          </a:prstGeom>
          <a:noFill/>
          <a:ln>
            <a:noFill/>
          </a:ln>
        </p:spPr>
        <p:txBody>
          <a:bodyPr wrap="square" tIns="91440" bIns="91440">
            <a:spAutoFit/>
          </a:bodyPr>
          <a:lstStyle/>
          <a:p>
            <a:pPr>
              <a:lnSpc>
                <a:spcPct val="120000"/>
              </a:lnSpc>
            </a:pPr>
            <a:r>
              <a:rPr sz="1500">
                <a:solidFill>
                  <a:srgbClr val="404040"/>
                </a:solidFill>
                <a:latin typeface="Calibri"/>
              </a:rPr>
              <a:t>• Agents rewrite customers between carriers to grow their count - even when the customer would have renewed.</a:t>
            </a:r>
          </a:p>
          <a:p>
            <a:pPr>
              <a:lnSpc>
                <a:spcPct val="120000"/>
              </a:lnSpc>
            </a:pPr>
            <a:r>
              <a:rPr sz="1500">
                <a:solidFill>
                  <a:srgbClr val="404040"/>
                </a:solidFill>
                <a:latin typeface="Calibri"/>
              </a:rPr>
              <a:t>• Customer is moved, the policy starts a NEW 6-month term, persistency drops.</a:t>
            </a:r>
          </a:p>
          <a:p>
            <a:pPr>
              <a:lnSpc>
                <a:spcPct val="120000"/>
              </a:lnSpc>
            </a:pPr>
            <a:r>
              <a:rPr sz="1500">
                <a:solidFill>
                  <a:srgbClr val="404040"/>
                </a:solidFill>
                <a:latin typeface="Calibri"/>
              </a:rPr>
              <a:t>• The agency loses the renewal commission it would have earned by keeping the customer in place.</a:t>
            </a:r>
          </a:p>
          <a:p>
            <a:pPr>
              <a:lnSpc>
                <a:spcPct val="120000"/>
              </a:lnSpc>
            </a:pPr>
            <a:r>
              <a:rPr sz="1500">
                <a:solidFill>
                  <a:srgbClr val="404040"/>
                </a:solidFill>
                <a:latin typeface="Calibri"/>
              </a:rPr>
              <a:t>• We are paying premium bonus dollars for the worst kind of activity: churning the book.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868680"/>
          </a:xfrm>
          <a:prstGeom prst="rect">
            <a:avLst/>
          </a:prstGeom>
          <a:solidFill>
            <a:srgbClr val="1F4E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09728"/>
            <a:ext cx="11430000" cy="45720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  <a:latin typeface="Calibri"/>
              </a:rPr>
              <a:t>What We Want the New Plan to Do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530352"/>
            <a:ext cx="11430000" cy="32004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1200" b="0" i="1">
                <a:solidFill>
                  <a:srgbClr val="BDD7EE"/>
                </a:solidFill>
                <a:latin typeface="Calibri"/>
              </a:rPr>
              <a:t>Four behaviors. Each one is rewarded.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647688"/>
            <a:ext cx="12188952" cy="210312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6647688"/>
            <a:ext cx="7315200" cy="210312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1000" b="0" i="0">
                <a:solidFill>
                  <a:srgbClr val="404040"/>
                </a:solidFill>
                <a:latin typeface="Calibri"/>
              </a:rPr>
              <a:t>Fiesta Bonus Plan - Ownership Decision Deck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38560" y="6647688"/>
            <a:ext cx="731520" cy="210312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ctr">
            <a:spAutoFit/>
          </a:bodyPr>
          <a:lstStyle/>
          <a:p>
            <a:pPr algn="r"/>
            <a:r>
              <a:rPr sz="1000" b="0" i="0">
                <a:solidFill>
                  <a:srgbClr val="404040"/>
                </a:solidFill>
                <a:latin typeface="Calibri"/>
              </a:rPr>
              <a:t>4 / 22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188720"/>
            <a:ext cx="5486400" cy="219456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1188720"/>
            <a:ext cx="182880" cy="2194560"/>
          </a:xfrm>
          <a:prstGeom prst="rect">
            <a:avLst/>
          </a:prstGeom>
          <a:solidFill>
            <a:srgbClr val="70AD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1325880"/>
            <a:ext cx="4937760" cy="54864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2800" b="1" i="0">
                <a:solidFill>
                  <a:srgbClr val="70AD47"/>
                </a:solidFill>
                <a:latin typeface="Calibri"/>
              </a:rPr>
              <a:t>WRITE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1965960"/>
            <a:ext cx="4937760" cy="128016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700" b="0" i="0">
                <a:solidFill>
                  <a:srgbClr val="101010"/>
                </a:solidFill>
                <a:latin typeface="Calibri"/>
              </a:rPr>
              <a:t>More new business - but only the kind we can actually keep.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126480" y="1188720"/>
            <a:ext cx="5486400" cy="219456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126480" y="1188720"/>
            <a:ext cx="182880" cy="2194560"/>
          </a:xfrm>
          <a:prstGeom prst="rect">
            <a:avLst/>
          </a:prstGeom>
          <a:solidFill>
            <a:srgbClr val="2E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92240" y="1325880"/>
            <a:ext cx="4937760" cy="54864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2800" b="1" i="0">
                <a:solidFill>
                  <a:srgbClr val="2E75B6"/>
                </a:solidFill>
                <a:latin typeface="Calibri"/>
              </a:rPr>
              <a:t>COLLECT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92240" y="1965960"/>
            <a:ext cx="4937760" cy="128016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700" b="0" i="0">
                <a:solidFill>
                  <a:srgbClr val="101010"/>
                </a:solidFill>
                <a:latin typeface="Calibri"/>
              </a:rPr>
              <a:t>Bigger down payments and more PIF - less chargeback, more retention.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7200" y="3566160"/>
            <a:ext cx="5486400" cy="219456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57200" y="3566160"/>
            <a:ext cx="182880" cy="2194560"/>
          </a:xfrm>
          <a:prstGeom prst="rect">
            <a:avLst/>
          </a:prstGeom>
          <a:solidFill>
            <a:srgbClr val="BF9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2960" y="3703320"/>
            <a:ext cx="4937760" cy="54864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2800" b="1" i="0">
                <a:solidFill>
                  <a:srgbClr val="BF9000"/>
                </a:solidFill>
                <a:latin typeface="Calibri"/>
              </a:rPr>
              <a:t>RETAIN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2960" y="4343400"/>
            <a:ext cx="4937760" cy="128016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700" b="0" i="0">
                <a:solidFill>
                  <a:srgbClr val="101010"/>
                </a:solidFill>
                <a:latin typeface="Calibri"/>
              </a:rPr>
              <a:t>Renew customers instead of rewriting them. Loyalty is a real number.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126480" y="3566160"/>
            <a:ext cx="5486400" cy="219456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126480" y="3566160"/>
            <a:ext cx="182880" cy="2194560"/>
          </a:xfrm>
          <a:prstGeom prst="rect">
            <a:avLst/>
          </a:prstGeom>
          <a:solidFill>
            <a:srgbClr val="ED7D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92240" y="3703320"/>
            <a:ext cx="4937760" cy="54864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2800" b="1" i="0">
                <a:solidFill>
                  <a:srgbClr val="ED7D31"/>
                </a:solidFill>
                <a:latin typeface="Calibri"/>
              </a:rPr>
              <a:t>PROFIT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92240" y="4343400"/>
            <a:ext cx="4937760" cy="128016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700" b="0" i="0">
                <a:solidFill>
                  <a:srgbClr val="101010"/>
                </a:solidFill>
                <a:latin typeface="Calibri"/>
              </a:rPr>
              <a:t>Bonus comes out of safe-net commission, not out of owner's pocket.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868680"/>
          </a:xfrm>
          <a:prstGeom prst="rect">
            <a:avLst/>
          </a:prstGeom>
          <a:solidFill>
            <a:srgbClr val="1F4E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09728"/>
            <a:ext cx="11430000" cy="45720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  <a:latin typeface="Calibri"/>
              </a:rPr>
              <a:t>THE BONUS PLAN (boss-approved framework)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530352"/>
            <a:ext cx="11430000" cy="32004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1200" b="0" i="1">
                <a:solidFill>
                  <a:srgbClr val="BDD7EE"/>
                </a:solidFill>
                <a:latin typeface="Calibri"/>
              </a:rPr>
              <a:t>No tiers. Flat per-policy base. Per-policy collected incentive on policies &gt;$1,200. Plus a book retention bonus.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647688"/>
            <a:ext cx="12188952" cy="210312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6647688"/>
            <a:ext cx="7315200" cy="210312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1000" b="0" i="0">
                <a:solidFill>
                  <a:srgbClr val="404040"/>
                </a:solidFill>
                <a:latin typeface="Calibri"/>
              </a:rPr>
              <a:t>Fiesta Bonus Plan - Ownership Decision Deck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38560" y="6647688"/>
            <a:ext cx="731520" cy="210312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ctr">
            <a:spAutoFit/>
          </a:bodyPr>
          <a:lstStyle/>
          <a:p>
            <a:pPr algn="r"/>
            <a:r>
              <a:rPr sz="1000" b="0" i="0">
                <a:solidFill>
                  <a:srgbClr val="404040"/>
                </a:solidFill>
                <a:latin typeface="Calibri"/>
              </a:rPr>
              <a:t>5 / 22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960120"/>
            <a:ext cx="5669280" cy="27432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300" b="1" i="0">
                <a:solidFill>
                  <a:srgbClr val="1F4E78"/>
                </a:solidFill>
                <a:latin typeface="Calibri"/>
              </a:rPr>
              <a:t>1. PER-POLICY BASE (TIERED by written premium)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65760" y="1280160"/>
          <a:ext cx="5669280" cy="17556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8800"/>
                <a:gridCol w="1554480"/>
                <a:gridCol w="914400"/>
                <a:gridCol w="1371600"/>
              </a:tblGrid>
              <a:tr h="292608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Premium tier</a:t>
                      </a:r>
                    </a:p>
                  </a:txBody>
                  <a:tcPr>
                    <a:solidFill>
                      <a:srgbClr val="70AD47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NB</a:t>
                      </a:r>
                    </a:p>
                  </a:txBody>
                  <a:tcPr>
                    <a:solidFill>
                      <a:srgbClr val="70AD47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RWR</a:t>
                      </a:r>
                    </a:p>
                  </a:txBody>
                  <a:tcPr>
                    <a:solidFill>
                      <a:srgbClr val="70AD47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REN</a:t>
                      </a:r>
                    </a:p>
                  </a:txBody>
                  <a:tcPr>
                    <a:solidFill>
                      <a:srgbClr val="70AD47"/>
                    </a:solidFill>
                  </a:tcPr>
                </a:tc>
              </a:tr>
              <a:tr h="292608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>
                          <a:solidFill>
                            <a:srgbClr val="101010"/>
                          </a:solidFill>
                          <a:latin typeface="Calibri"/>
                        </a:rPr>
                        <a:t>Under $1,200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>
                          <a:solidFill>
                            <a:srgbClr val="101010"/>
                          </a:solidFill>
                          <a:latin typeface="Calibri"/>
                        </a:rPr>
                        <a:t>$5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>
                          <a:solidFill>
                            <a:srgbClr val="101010"/>
                          </a:solidFill>
                          <a:latin typeface="Calibri"/>
                        </a:rPr>
                        <a:t>$2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>
                          <a:solidFill>
                            <a:srgbClr val="101010"/>
                          </a:solidFill>
                          <a:latin typeface="Calibri"/>
                        </a:rPr>
                        <a:t>$4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>
                          <a:solidFill>
                            <a:srgbClr val="101010"/>
                          </a:solidFill>
                          <a:latin typeface="Calibri"/>
                        </a:rPr>
                        <a:t>$1,200 - $1,799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>
                          <a:solidFill>
                            <a:srgbClr val="101010"/>
                          </a:solidFill>
                          <a:latin typeface="Calibri"/>
                        </a:rPr>
                        <a:t>$7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>
                          <a:solidFill>
                            <a:srgbClr val="101010"/>
                          </a:solidFill>
                          <a:latin typeface="Calibri"/>
                        </a:rPr>
                        <a:t>$3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>
                          <a:solidFill>
                            <a:srgbClr val="101010"/>
                          </a:solidFill>
                          <a:latin typeface="Calibri"/>
                        </a:rPr>
                        <a:t>$6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92608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>
                          <a:solidFill>
                            <a:srgbClr val="101010"/>
                          </a:solidFill>
                          <a:latin typeface="Calibri"/>
                        </a:rPr>
                        <a:t>$1,800 - $2,499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>
                          <a:solidFill>
                            <a:srgbClr val="101010"/>
                          </a:solidFill>
                          <a:latin typeface="Calibri"/>
                        </a:rPr>
                        <a:t>$10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>
                          <a:solidFill>
                            <a:srgbClr val="101010"/>
                          </a:solidFill>
                          <a:latin typeface="Calibri"/>
                        </a:rPr>
                        <a:t>$4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>
                          <a:solidFill>
                            <a:srgbClr val="101010"/>
                          </a:solidFill>
                          <a:latin typeface="Calibri"/>
                        </a:rPr>
                        <a:t>$8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>
                          <a:solidFill>
                            <a:srgbClr val="101010"/>
                          </a:solidFill>
                          <a:latin typeface="Calibri"/>
                        </a:rPr>
                        <a:t>$2,500 - $2,999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>
                          <a:solidFill>
                            <a:srgbClr val="101010"/>
                          </a:solidFill>
                          <a:latin typeface="Calibri"/>
                        </a:rPr>
                        <a:t>$13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>
                          <a:solidFill>
                            <a:srgbClr val="101010"/>
                          </a:solidFill>
                          <a:latin typeface="Calibri"/>
                        </a:rPr>
                        <a:t>$4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>
                          <a:solidFill>
                            <a:srgbClr val="101010"/>
                          </a:solidFill>
                          <a:latin typeface="Calibri"/>
                        </a:rPr>
                        <a:t>$10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92608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>
                          <a:solidFill>
                            <a:srgbClr val="101010"/>
                          </a:solidFill>
                          <a:latin typeface="Calibri"/>
                        </a:rPr>
                        <a:t>$3,000+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>
                          <a:solidFill>
                            <a:srgbClr val="101010"/>
                          </a:solidFill>
                          <a:latin typeface="Calibri"/>
                        </a:rPr>
                        <a:t>$13+$2/$1k (max $25)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>
                          <a:solidFill>
                            <a:srgbClr val="101010"/>
                          </a:solidFill>
                          <a:latin typeface="Calibri"/>
                        </a:rPr>
                        <a:t>$4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>
                          <a:solidFill>
                            <a:srgbClr val="101010"/>
                          </a:solidFill>
                          <a:latin typeface="Calibri"/>
                        </a:rPr>
                        <a:t>$10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263640" y="960120"/>
            <a:ext cx="5669280" cy="27432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300" b="1" i="0">
                <a:solidFill>
                  <a:srgbClr val="1F4E78"/>
                </a:solidFill>
                <a:latin typeface="Calibri"/>
              </a:rPr>
              <a:t>2. COLLECTED INCENTIVE (only on policies &gt; $1,200)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6263640" y="1280160"/>
          <a:ext cx="5669280" cy="1920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00400"/>
                <a:gridCol w="2468880"/>
              </a:tblGrid>
              <a:tr h="320040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Collected % of premium</a:t>
                      </a:r>
                    </a:p>
                  </a:txBody>
                  <a:tcPr>
                    <a:solidFill>
                      <a:srgbClr val="2E75B6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Extra per policy</a:t>
                      </a:r>
                    </a:p>
                  </a:txBody>
                  <a:tcPr>
                    <a:solidFill>
                      <a:srgbClr val="2E75B6"/>
                    </a:solidFill>
                  </a:tcPr>
                </a:tc>
              </a:tr>
              <a:tr h="320040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>
                          <a:solidFill>
                            <a:srgbClr val="101010"/>
                          </a:solidFill>
                          <a:latin typeface="Calibri"/>
                        </a:rPr>
                        <a:t>Below 15%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>
                          <a:solidFill>
                            <a:srgbClr val="101010"/>
                          </a:solidFill>
                          <a:latin typeface="Calibri"/>
                        </a:rPr>
                        <a:t>$0 (no incentive)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>
                          <a:solidFill>
                            <a:srgbClr val="101010"/>
                          </a:solidFill>
                          <a:latin typeface="Calibri"/>
                        </a:rPr>
                        <a:t>15% to 19%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>
                          <a:solidFill>
                            <a:srgbClr val="101010"/>
                          </a:solidFill>
                          <a:latin typeface="Calibri"/>
                        </a:rPr>
                        <a:t>+$1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320040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>
                          <a:solidFill>
                            <a:srgbClr val="101010"/>
                          </a:solidFill>
                          <a:latin typeface="Calibri"/>
                        </a:rPr>
                        <a:t>20% to 24%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>
                          <a:solidFill>
                            <a:srgbClr val="101010"/>
                          </a:solidFill>
                          <a:latin typeface="Calibri"/>
                        </a:rPr>
                        <a:t>+$2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>
                          <a:solidFill>
                            <a:srgbClr val="101010"/>
                          </a:solidFill>
                          <a:latin typeface="Calibri"/>
                        </a:rPr>
                        <a:t>25% to 99%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>
                          <a:solidFill>
                            <a:srgbClr val="101010"/>
                          </a:solidFill>
                          <a:latin typeface="Calibri"/>
                        </a:rPr>
                        <a:t>+$5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320040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>
                          <a:solidFill>
                            <a:srgbClr val="101010"/>
                          </a:solidFill>
                          <a:latin typeface="Calibri"/>
                        </a:rPr>
                        <a:t>100% PIF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>
                          <a:solidFill>
                            <a:srgbClr val="101010"/>
                          </a:solidFill>
                          <a:latin typeface="Calibri"/>
                        </a:rPr>
                        <a:t>+$8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365760" y="2834640"/>
            <a:ext cx="11612880" cy="27432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300" b="1" i="0">
                <a:solidFill>
                  <a:srgbClr val="1F4E78"/>
                </a:solidFill>
                <a:latin typeface="Calibri"/>
              </a:rPr>
              <a:t>3. BOOK RETENTION BONUS (paid every month, NOT gated by minimums)</a:t>
            </a:r>
          </a:p>
        </p:txBody>
      </p:sp>
      <p:graphicFrame>
        <p:nvGraphicFramePr>
          <p:cNvPr id="13" name="Table 12"/>
          <p:cNvGraphicFramePr>
            <a:graphicFrameLocks noGrp="1"/>
          </p:cNvGraphicFramePr>
          <p:nvPr/>
        </p:nvGraphicFramePr>
        <p:xfrm>
          <a:off x="365760" y="3154680"/>
          <a:ext cx="11612880" cy="822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114800"/>
                <a:gridCol w="2743200"/>
                <a:gridCol w="4754880"/>
              </a:tblGrid>
              <a:tr h="411480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What it is</a:t>
                      </a:r>
                    </a:p>
                  </a:txBody>
                  <a:tcPr>
                    <a:solidFill>
                      <a:srgbClr val="BF9000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Formula</a:t>
                      </a:r>
                    </a:p>
                  </a:txBody>
                  <a:tcPr>
                    <a:solidFill>
                      <a:srgbClr val="BF9000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Example values</a:t>
                      </a:r>
                    </a:p>
                  </a:txBody>
                  <a:tcPr>
                    <a:solidFill>
                      <a:srgbClr val="BF9000"/>
                    </a:solidFill>
                  </a:tcPr>
                </a:tc>
              </a:tr>
              <a:tr h="411480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>
                          <a:solidFill>
                            <a:srgbClr val="101010"/>
                          </a:solidFill>
                          <a:latin typeface="Calibri"/>
                        </a:rPr>
                        <a:t>Scales with the agent's RENEWABLE BOOK SIZE - bigger book = bigger bonus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>
                          <a:solidFill>
                            <a:srgbClr val="101010"/>
                          </a:solidFill>
                          <a:latin typeface="Calibri"/>
                        </a:rPr>
                        <a:t>REN written premium x 0.5%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>
                          <a:solidFill>
                            <a:srgbClr val="101010"/>
                          </a:solidFill>
                          <a:latin typeface="Calibri"/>
                        </a:rPr>
                        <a:t>$50k REN -&gt; $250/mo | $25k REN -&gt; $125/mo | $10k REN -&gt; $50/mo. Two agents at same retention rate but different book sizes earn DIFFERENT bonuses.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4" name="TextBox 13"/>
          <p:cNvSpPr txBox="1"/>
          <p:nvPr/>
        </p:nvSpPr>
        <p:spPr>
          <a:xfrm>
            <a:off x="365760" y="4251960"/>
            <a:ext cx="11612880" cy="27432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300" b="1" i="0">
                <a:solidFill>
                  <a:srgbClr val="1F4E78"/>
                </a:solidFill>
                <a:latin typeface="Calibri"/>
              </a:rPr>
              <a:t>4. RULES ON TOP</a:t>
            </a:r>
          </a:p>
        </p:txBody>
      </p:sp>
      <p:graphicFrame>
        <p:nvGraphicFramePr>
          <p:cNvPr id="15" name="Table 14"/>
          <p:cNvGraphicFramePr>
            <a:graphicFrameLocks noGrp="1"/>
          </p:cNvGraphicFramePr>
          <p:nvPr/>
        </p:nvGraphicFramePr>
        <p:xfrm>
          <a:off x="365760" y="4572000"/>
          <a:ext cx="11612880" cy="1920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60320"/>
                <a:gridCol w="3108960"/>
                <a:gridCol w="5943600"/>
              </a:tblGrid>
              <a:tr h="274320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Rule</a:t>
                      </a:r>
                    </a:p>
                  </a:txBody>
                  <a:tcPr>
                    <a:solidFill>
                      <a:srgbClr val="1F4E78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Value</a:t>
                      </a:r>
                    </a:p>
                  </a:txBody>
                  <a:tcPr>
                    <a:solidFill>
                      <a:srgbClr val="1F4E78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What it does</a:t>
                      </a:r>
                    </a:p>
                  </a:txBody>
                  <a:tcPr>
                    <a:solidFill>
                      <a:srgbClr val="1F4E78"/>
                    </a:solidFill>
                  </a:tcPr>
                </a:tc>
              </a:tr>
              <a:tr h="274320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>
                          <a:solidFill>
                            <a:srgbClr val="101010"/>
                          </a:solidFill>
                          <a:latin typeface="Calibri"/>
                        </a:rPr>
                        <a:t>NB monthly minimum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>
                          <a:solidFill>
                            <a:srgbClr val="101010"/>
                          </a:solidFill>
                          <a:latin typeface="Calibri"/>
                        </a:rPr>
                        <a:t>$45,000 NB premium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>
                          <a:solidFill>
                            <a:srgbClr val="101010"/>
                          </a:solidFill>
                          <a:latin typeface="Calibri"/>
                        </a:rPr>
                        <a:t>If NB premium &lt; $35k that month, NB pay = $0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>
                          <a:solidFill>
                            <a:srgbClr val="101010"/>
                          </a:solidFill>
                          <a:latin typeface="Calibri"/>
                        </a:rPr>
                        <a:t>REN monthly minimum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>
                          <a:solidFill>
                            <a:srgbClr val="101010"/>
                          </a:solidFill>
                          <a:latin typeface="Calibri"/>
                        </a:rPr>
                        <a:t>30% retention of book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>
                          <a:solidFill>
                            <a:srgbClr val="101010"/>
                          </a:solidFill>
                          <a:latin typeface="Calibri"/>
                        </a:rPr>
                        <a:t>If retention &lt; 30%, REN pay = $0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74320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>
                          <a:solidFill>
                            <a:srgbClr val="101010"/>
                          </a:solidFill>
                          <a:latin typeface="Calibri"/>
                        </a:rPr>
                        <a:t>RWR gate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>
                          <a:solidFill>
                            <a:srgbClr val="101010"/>
                          </a:solidFill>
                          <a:latin typeface="Calibri"/>
                        </a:rPr>
                        <a:t>NB gate met (or both)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>
                          <a:solidFill>
                            <a:srgbClr val="101010"/>
                          </a:solidFill>
                          <a:latin typeface="Calibri"/>
                        </a:rPr>
                        <a:t>RWR paid when NB gate met. Meeting both also works.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>
                          <a:solidFill>
                            <a:srgbClr val="101010"/>
                          </a:solidFill>
                          <a:latin typeface="Calibri"/>
                        </a:rPr>
                        <a:t>Chargeback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>
                          <a:solidFill>
                            <a:srgbClr val="101010"/>
                          </a:solidFill>
                          <a:latin typeface="Calibri"/>
                        </a:rPr>
                        <a:t>3 months (90 days)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>
                          <a:solidFill>
                            <a:srgbClr val="101010"/>
                          </a:solidFill>
                          <a:latin typeface="Calibri"/>
                        </a:rPr>
                        <a:t>100% bonus reversed if policy cancels/rewrites within 90 days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74320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>
                          <a:solidFill>
                            <a:srgbClr val="101010"/>
                          </a:solidFill>
                          <a:latin typeface="Calibri"/>
                        </a:rPr>
                        <a:t>Excel tracker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>
                          <a:solidFill>
                            <a:srgbClr val="101010"/>
                          </a:solidFill>
                          <a:latin typeface="Calibri"/>
                        </a:rPr>
                        <a:t>Required for every policy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>
                          <a:solidFill>
                            <a:srgbClr val="101010"/>
                          </a:solidFill>
                          <a:latin typeface="Calibri"/>
                        </a:rPr>
                        <a:t>Agent enters policy info + down + premium. No entry = no bonus.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>
                          <a:solidFill>
                            <a:srgbClr val="101010"/>
                          </a:solidFill>
                          <a:latin typeface="Calibri"/>
                        </a:rPr>
                        <a:t>Renewal book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>
                          <a:solidFill>
                            <a:srgbClr val="101010"/>
                          </a:solidFill>
                          <a:latin typeface="Calibri"/>
                        </a:rPr>
                        <a:t>Assigned per agent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>
                          <a:solidFill>
                            <a:srgbClr val="101010"/>
                          </a:solidFill>
                          <a:latin typeface="Calibri"/>
                        </a:rPr>
                        <a:t>Newer agents inherit a renewal book from former employees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868680"/>
          </a:xfrm>
          <a:prstGeom prst="rect">
            <a:avLst/>
          </a:prstGeom>
          <a:solidFill>
            <a:srgbClr val="1F4E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09728"/>
            <a:ext cx="11430000" cy="45720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  <a:latin typeface="Calibri"/>
              </a:rPr>
              <a:t>Minimum Requirements (NEW)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530352"/>
            <a:ext cx="11430000" cy="32004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1200" b="0" i="1">
                <a:solidFill>
                  <a:srgbClr val="BDD7EE"/>
                </a:solidFill>
                <a:latin typeface="Calibri"/>
              </a:rPr>
              <a:t>NB premium &gt;= $45,000/mo + REN retention &gt;= 30% of book. RWR follows NB gate.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647688"/>
            <a:ext cx="12188952" cy="210312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6647688"/>
            <a:ext cx="7315200" cy="210312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1000" b="0" i="0">
                <a:solidFill>
                  <a:srgbClr val="404040"/>
                </a:solidFill>
                <a:latin typeface="Calibri"/>
              </a:rPr>
              <a:t>Fiesta Bonus Plan - Ownership Decision Deck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38560" y="6647688"/>
            <a:ext cx="731520" cy="210312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ctr">
            <a:spAutoFit/>
          </a:bodyPr>
          <a:lstStyle/>
          <a:p>
            <a:pPr algn="r"/>
            <a:r>
              <a:rPr sz="1000" b="0" i="0">
                <a:solidFill>
                  <a:srgbClr val="404040"/>
                </a:solidFill>
                <a:latin typeface="Calibri"/>
              </a:rPr>
              <a:t>6 / 22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097280"/>
            <a:ext cx="1124712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800" b="1" i="0">
                <a:solidFill>
                  <a:srgbClr val="1F4E78"/>
                </a:solidFill>
                <a:latin typeface="Calibri"/>
              </a:rPr>
              <a:t>Why we added a minimum at all: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508760"/>
            <a:ext cx="10972800" cy="77724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400" b="0" i="0">
                <a:solidFill>
                  <a:srgbClr val="404040"/>
                </a:solidFill>
                <a:latin typeface="Calibri"/>
              </a:rPr>
              <a:t>The old plan required 35 NB+RWR policies. That counts rewriting. The new minimum is premium-based and SPLITS NB from REN - so the agent must be writing new business AND building a renewal book. RWR has no own minimum because we don't reward rewriting volume directly.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457200" y="2468880"/>
          <a:ext cx="11247120" cy="1463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86000"/>
                <a:gridCol w="2286000"/>
                <a:gridCol w="2286000"/>
                <a:gridCol w="4389120"/>
              </a:tblGrid>
              <a:tr h="365760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Gate</a:t>
                      </a:r>
                    </a:p>
                  </a:txBody>
                  <a:tcPr>
                    <a:solidFill>
                      <a:srgbClr val="1F4E78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REAL months pass (24)</a:t>
                      </a:r>
                    </a:p>
                  </a:txBody>
                  <a:tcPr>
                    <a:solidFill>
                      <a:srgbClr val="1F4E78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SWAP months pass (24)</a:t>
                      </a:r>
                    </a:p>
                  </a:txBody>
                  <a:tcPr>
                    <a:solidFill>
                      <a:srgbClr val="1F4E78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Plain English</a:t>
                      </a:r>
                    </a:p>
                  </a:txBody>
                  <a:tcPr>
                    <a:solidFill>
                      <a:srgbClr val="1F4E78"/>
                    </a:solidFill>
                  </a:tcPr>
                </a:tc>
              </a:tr>
              <a:tr h="365760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200">
                          <a:solidFill>
                            <a:srgbClr val="101010"/>
                          </a:solidFill>
                          <a:latin typeface="Calibri"/>
                        </a:rPr>
                        <a:t>NB &gt;= $45,000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200">
                          <a:solidFill>
                            <a:srgbClr val="101010"/>
                          </a:solidFill>
                          <a:latin typeface="Calibri"/>
                        </a:rPr>
                        <a:t>4/24 (17%)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200">
                          <a:solidFill>
                            <a:srgbClr val="101010"/>
                          </a:solidFill>
                          <a:latin typeface="Calibri"/>
                        </a:rPr>
                        <a:t>4/24 (17%)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200">
                          <a:solidFill>
                            <a:srgbClr val="101010"/>
                          </a:solidFill>
                          <a:latin typeface="Calibri"/>
                        </a:rPr>
                        <a:t>Top performers only - $45k is a stretch goal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200">
                          <a:solidFill>
                            <a:srgbClr val="101010"/>
                          </a:solidFill>
                          <a:latin typeface="Calibri"/>
                        </a:rPr>
                        <a:t>REN retention &gt;= 30%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200">
                          <a:solidFill>
                            <a:srgbClr val="101010"/>
                          </a:solidFill>
                          <a:latin typeface="Calibri"/>
                        </a:rPr>
                        <a:t>modeled 75% (75% &gt;= 30%)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200">
                          <a:solidFill>
                            <a:srgbClr val="101010"/>
                          </a:solidFill>
                          <a:latin typeface="Calibri"/>
                        </a:rPr>
                        <a:t>75% &gt;= 30% pass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200">
                          <a:solidFill>
                            <a:srgbClr val="101010"/>
                          </a:solidFill>
                          <a:latin typeface="Calibri"/>
                        </a:rPr>
                        <a:t>Industry typical retention; model assumes 75%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365760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200">
                          <a:solidFill>
                            <a:srgbClr val="101010"/>
                          </a:solidFill>
                          <a:latin typeface="Calibri"/>
                        </a:rPr>
                        <a:t>BOTH gates (for RWR)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200">
                          <a:solidFill>
                            <a:srgbClr val="101010"/>
                          </a:solidFill>
                          <a:latin typeface="Calibri"/>
                        </a:rPr>
                        <a:t>0 (0%)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200">
                          <a:solidFill>
                            <a:srgbClr val="101010"/>
                          </a:solidFill>
                          <a:latin typeface="Calibri"/>
                        </a:rPr>
                        <a:t>6 (25%)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200">
                          <a:solidFill>
                            <a:srgbClr val="101010"/>
                          </a:solidFill>
                          <a:latin typeface="Calibri"/>
                        </a:rPr>
                        <a:t>Once renewal book exists, RWR also pays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Rectangle 10"/>
          <p:cNvSpPr/>
          <p:nvPr/>
        </p:nvSpPr>
        <p:spPr>
          <a:xfrm>
            <a:off x="457200" y="4389120"/>
            <a:ext cx="11247120" cy="192024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4434840"/>
            <a:ext cx="1097280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400" b="1" i="0">
                <a:solidFill>
                  <a:srgbClr val="1F4E78"/>
                </a:solidFill>
                <a:latin typeface="Calibri"/>
              </a:rPr>
              <a:t>DOES THE MINIMUM COVER AGENT SALARY?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4846320"/>
            <a:ext cx="10972800" cy="1463040"/>
          </a:xfrm>
          <a:prstGeom prst="rect">
            <a:avLst/>
          </a:prstGeom>
          <a:noFill/>
          <a:ln>
            <a:noFill/>
          </a:ln>
        </p:spPr>
        <p:txBody>
          <a:bodyPr wrap="square" tIns="91440" bIns="91440">
            <a:spAutoFit/>
          </a:bodyPr>
          <a:lstStyle/>
          <a:p>
            <a:pPr>
              <a:lnSpc>
                <a:spcPct val="120000"/>
              </a:lnSpc>
            </a:pPr>
            <a:r>
              <a:rPr sz="1100">
                <a:solidFill>
                  <a:srgbClr val="101010"/>
                </a:solidFill>
                <a:latin typeface="Calibri"/>
              </a:rPr>
              <a:t>• Agent salary basis: $16-$22/hr x 40 hr/wk = $2,773-$3,813/mo (midpoint $3,300).</a:t>
            </a:r>
          </a:p>
          <a:p>
            <a:pPr>
              <a:lnSpc>
                <a:spcPct val="120000"/>
              </a:lnSpc>
            </a:pPr>
            <a:r>
              <a:rPr sz="1100">
                <a:solidFill>
                  <a:srgbClr val="101010"/>
                </a:solidFill>
                <a:latin typeface="Calibri"/>
              </a:rPr>
              <a:t>• At 25% collected (today's typical): $11,250 collected x 11% x (1-21%) = ~$978 retained (30% of salary).</a:t>
            </a:r>
          </a:p>
          <a:p>
            <a:pPr>
              <a:lnSpc>
                <a:spcPct val="120000"/>
              </a:lnSpc>
            </a:pPr>
            <a:r>
              <a:rPr sz="1100">
                <a:solidFill>
                  <a:srgbClr val="101010"/>
                </a:solidFill>
                <a:latin typeface="Calibri"/>
              </a:rPr>
              <a:t>• At 50% collected (kicker target): ~$1,955 retained (59% of salary).</a:t>
            </a:r>
          </a:p>
          <a:p>
            <a:pPr>
              <a:lnSpc>
                <a:spcPct val="120000"/>
              </a:lnSpc>
            </a:pPr>
            <a:r>
              <a:rPr sz="1100">
                <a:solidFill>
                  <a:srgbClr val="101010"/>
                </a:solidFill>
                <a:latin typeface="Calibri"/>
              </a:rPr>
              <a:t>• At 75% collected (top performer): ~$2,933 retained (89% of salary) - covers salary AND generates profit.</a:t>
            </a:r>
          </a:p>
          <a:p>
            <a:pPr>
              <a:lnSpc>
                <a:spcPct val="120000"/>
              </a:lnSpc>
            </a:pPr>
            <a:r>
              <a:rPr sz="1100">
                <a:solidFill>
                  <a:srgbClr val="101010"/>
                </a:solidFill>
                <a:latin typeface="Calibri"/>
              </a:rPr>
              <a:t>• The MINIMUM is the floor. The COLLECTED KICKER is the lever to cover salary and earn bonus on top.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868680"/>
          </a:xfrm>
          <a:prstGeom prst="rect">
            <a:avLst/>
          </a:prstGeom>
          <a:solidFill>
            <a:srgbClr val="1F4E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09728"/>
            <a:ext cx="11430000" cy="45720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  <a:latin typeface="Calibri"/>
              </a:rPr>
              <a:t>Collected % Kicker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530352"/>
            <a:ext cx="11430000" cy="32004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1200" b="0" i="1">
                <a:solidFill>
                  <a:srgbClr val="BDD7EE"/>
                </a:solidFill>
                <a:latin typeface="Calibri"/>
              </a:rPr>
              <a:t>Bigger down payments = less chargeback = bigger bonus.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647688"/>
            <a:ext cx="12188952" cy="210312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6647688"/>
            <a:ext cx="7315200" cy="210312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1000" b="0" i="0">
                <a:solidFill>
                  <a:srgbClr val="404040"/>
                </a:solidFill>
                <a:latin typeface="Calibri"/>
              </a:rPr>
              <a:t>Fiesta Bonus Plan - Ownership Decision Deck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38560" y="6647688"/>
            <a:ext cx="731520" cy="210312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ctr">
            <a:spAutoFit/>
          </a:bodyPr>
          <a:lstStyle/>
          <a:p>
            <a:pPr algn="r"/>
            <a:r>
              <a:rPr sz="1000" b="0" i="0">
                <a:solidFill>
                  <a:srgbClr val="404040"/>
                </a:solidFill>
                <a:latin typeface="Calibri"/>
              </a:rPr>
              <a:t>7 / 22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457200" y="1188720"/>
          <a:ext cx="11247120" cy="2194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8800"/>
                <a:gridCol w="2286000"/>
                <a:gridCol w="4846320"/>
                <a:gridCol w="2286000"/>
              </a:tblGrid>
              <a:tr h="365760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Collected %</a:t>
                      </a:r>
                    </a:p>
                  </a:txBody>
                  <a:tcPr>
                    <a:solidFill>
                      <a:srgbClr val="2E75B6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Per-policy kicker</a:t>
                      </a:r>
                    </a:p>
                  </a:txBody>
                  <a:tcPr>
                    <a:solidFill>
                      <a:srgbClr val="2E75B6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Plain English</a:t>
                      </a:r>
                    </a:p>
                  </a:txBody>
                  <a:tcPr>
                    <a:solidFill>
                      <a:srgbClr val="2E75B6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$7 NB base -&gt; Pays</a:t>
                      </a:r>
                    </a:p>
                  </a:txBody>
                  <a:tcPr>
                    <a:solidFill>
                      <a:srgbClr val="2E75B6"/>
                    </a:solidFill>
                  </a:tcPr>
                </a:tc>
              </a:tr>
              <a:tr h="365760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300">
                          <a:solidFill>
                            <a:srgbClr val="101010"/>
                          </a:solidFill>
                          <a:latin typeface="Calibri"/>
                        </a:rPr>
                        <a:t>Below 15%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300">
                          <a:solidFill>
                            <a:srgbClr val="101010"/>
                          </a:solidFill>
                          <a:latin typeface="Calibri"/>
                        </a:rPr>
                        <a:t>$0 (none)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300">
                          <a:solidFill>
                            <a:srgbClr val="101010"/>
                          </a:solidFill>
                          <a:latin typeface="Calibri"/>
                        </a:rPr>
                        <a:t>Premium barely collected. No kicker.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300">
                          <a:solidFill>
                            <a:srgbClr val="101010"/>
                          </a:solidFill>
                          <a:latin typeface="Calibri"/>
                        </a:rPr>
                        <a:t>$7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300">
                          <a:solidFill>
                            <a:srgbClr val="101010"/>
                          </a:solidFill>
                          <a:latin typeface="Calibri"/>
                        </a:rPr>
                        <a:t>15% - 19%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300">
                          <a:solidFill>
                            <a:srgbClr val="101010"/>
                          </a:solidFill>
                          <a:latin typeface="Calibri"/>
                        </a:rPr>
                        <a:t>+$1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300">
                          <a:solidFill>
                            <a:srgbClr val="101010"/>
                          </a:solidFill>
                          <a:latin typeface="Calibri"/>
                        </a:rPr>
                        <a:t>Minimum down. Small bump.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300">
                          <a:solidFill>
                            <a:srgbClr val="101010"/>
                          </a:solidFill>
                          <a:latin typeface="Calibri"/>
                        </a:rPr>
                        <a:t>$7 + $1 = $8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365760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300">
                          <a:solidFill>
                            <a:srgbClr val="101010"/>
                          </a:solidFill>
                          <a:latin typeface="Calibri"/>
                        </a:rPr>
                        <a:t>20% - 24%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300">
                          <a:solidFill>
                            <a:srgbClr val="101010"/>
                          </a:solidFill>
                          <a:latin typeface="Calibri"/>
                        </a:rPr>
                        <a:t>+$2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300">
                          <a:solidFill>
                            <a:srgbClr val="101010"/>
                          </a:solidFill>
                          <a:latin typeface="Calibri"/>
                        </a:rPr>
                        <a:t>Standard down.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300">
                          <a:solidFill>
                            <a:srgbClr val="101010"/>
                          </a:solidFill>
                          <a:latin typeface="Calibri"/>
                        </a:rPr>
                        <a:t>$7 + $2 = $9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300">
                          <a:solidFill>
                            <a:srgbClr val="101010"/>
                          </a:solidFill>
                          <a:latin typeface="Calibri"/>
                        </a:rPr>
                        <a:t>25% - 99%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300">
                          <a:solidFill>
                            <a:srgbClr val="101010"/>
                          </a:solidFill>
                          <a:latin typeface="Calibri"/>
                        </a:rPr>
                        <a:t>+$5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300">
                          <a:solidFill>
                            <a:srgbClr val="101010"/>
                          </a:solidFill>
                          <a:latin typeface="Calibri"/>
                        </a:rPr>
                        <a:t>High collection. Big bump.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300">
                          <a:solidFill>
                            <a:srgbClr val="101010"/>
                          </a:solidFill>
                          <a:latin typeface="Calibri"/>
                        </a:rPr>
                        <a:t>$7 + $5 = $12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365760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300">
                          <a:solidFill>
                            <a:srgbClr val="101010"/>
                          </a:solidFill>
                          <a:latin typeface="Calibri"/>
                        </a:rPr>
                        <a:t>100% PIF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300">
                          <a:solidFill>
                            <a:srgbClr val="101010"/>
                          </a:solidFill>
                          <a:latin typeface="Calibri"/>
                        </a:rPr>
                        <a:t>+$8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300">
                          <a:solidFill>
                            <a:srgbClr val="101010"/>
                          </a:solidFill>
                          <a:latin typeface="Calibri"/>
                        </a:rPr>
                        <a:t>Paid in full. Top - zero chargeback risk.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300">
                          <a:solidFill>
                            <a:srgbClr val="101010"/>
                          </a:solidFill>
                          <a:latin typeface="Calibri"/>
                        </a:rPr>
                        <a:t>$7 + $8 = $15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457200" y="3931920"/>
            <a:ext cx="1124712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800" b="1" i="0">
                <a:solidFill>
                  <a:srgbClr val="1F4E78"/>
                </a:solidFill>
                <a:latin typeface="Calibri"/>
              </a:rPr>
              <a:t>Why we incentivize collected % (not just written premium):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4389120"/>
            <a:ext cx="10972800" cy="2103120"/>
          </a:xfrm>
          <a:prstGeom prst="rect">
            <a:avLst/>
          </a:prstGeom>
          <a:noFill/>
          <a:ln>
            <a:noFill/>
          </a:ln>
        </p:spPr>
        <p:txBody>
          <a:bodyPr wrap="square" tIns="91440" bIns="91440">
            <a:spAutoFit/>
          </a:bodyPr>
          <a:lstStyle/>
          <a:p>
            <a:pPr>
              <a:lnSpc>
                <a:spcPct val="120000"/>
              </a:lnSpc>
            </a:pPr>
            <a:r>
              <a:rPr sz="1400">
                <a:solidFill>
                  <a:srgbClr val="101010"/>
                </a:solidFill>
                <a:latin typeface="Calibri"/>
              </a:rPr>
              <a:t>• Down payment + PIF money is the ONLY money we are SURE we will keep. Everything else can be charged back.</a:t>
            </a:r>
          </a:p>
          <a:p>
            <a:pPr>
              <a:lnSpc>
                <a:spcPct val="120000"/>
              </a:lnSpc>
            </a:pPr>
            <a:r>
              <a:rPr sz="1400">
                <a:solidFill>
                  <a:srgbClr val="101010"/>
                </a:solidFill>
                <a:latin typeface="Calibri"/>
              </a:rPr>
              <a:t>• Bigger down -&gt; smaller monthly bills -&gt; customer is less likely to cancel -&gt; we keep more commission.</a:t>
            </a:r>
          </a:p>
          <a:p>
            <a:pPr>
              <a:lnSpc>
                <a:spcPct val="120000"/>
              </a:lnSpc>
            </a:pPr>
            <a:r>
              <a:rPr sz="1400">
                <a:solidFill>
                  <a:srgbClr val="101010"/>
                </a:solidFill>
                <a:latin typeface="Calibri"/>
              </a:rPr>
              <a:t>• PIF (paid in full) = no chargeback risk at all. PIF earns the biggest kicker AND a PIF dollar add-on.</a:t>
            </a:r>
          </a:p>
          <a:p>
            <a:pPr>
              <a:lnSpc>
                <a:spcPct val="120000"/>
              </a:lnSpc>
            </a:pPr>
            <a:r>
              <a:rPr sz="1400">
                <a:solidFill>
                  <a:srgbClr val="101010"/>
                </a:solidFill>
                <a:latin typeface="Calibri"/>
              </a:rPr>
              <a:t>• Some carriers pay commission as advance on written premium (chargeback if customer cancels). Some pay as-earned on collected. Either way - net commission ~= collected x rate. The kicker rewards retention through collection.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868680"/>
          </a:xfrm>
          <a:prstGeom prst="rect">
            <a:avLst/>
          </a:prstGeom>
          <a:solidFill>
            <a:srgbClr val="1F4E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09728"/>
            <a:ext cx="11430000" cy="45720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  <a:latin typeface="Calibri"/>
              </a:rPr>
              <a:t>Safe Net - What It Means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530352"/>
            <a:ext cx="11430000" cy="32004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1200" b="0" i="1">
                <a:solidFill>
                  <a:srgbClr val="BDD7EE"/>
                </a:solidFill>
                <a:latin typeface="Calibri"/>
              </a:rPr>
              <a:t>The commission the agency EXPECTS to keep, after royalty and overhead.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647688"/>
            <a:ext cx="12188952" cy="210312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6647688"/>
            <a:ext cx="7315200" cy="210312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1000" b="0" i="0">
                <a:solidFill>
                  <a:srgbClr val="404040"/>
                </a:solidFill>
                <a:latin typeface="Calibri"/>
              </a:rPr>
              <a:t>Fiesta Bonus Plan - Ownership Decision Deck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38560" y="6647688"/>
            <a:ext cx="731520" cy="210312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ctr">
            <a:spAutoFit/>
          </a:bodyPr>
          <a:lstStyle/>
          <a:p>
            <a:pPr algn="r"/>
            <a:r>
              <a:rPr sz="1000" b="0" i="0">
                <a:solidFill>
                  <a:srgbClr val="404040"/>
                </a:solidFill>
                <a:latin typeface="Calibri"/>
              </a:rPr>
              <a:t>8 / 22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097280"/>
            <a:ext cx="1124712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800" b="1" i="0">
                <a:solidFill>
                  <a:srgbClr val="1F4E78"/>
                </a:solidFill>
                <a:latin typeface="Calibri"/>
              </a:rPr>
              <a:t>How commission actually works: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554480"/>
            <a:ext cx="10972800" cy="2011680"/>
          </a:xfrm>
          <a:prstGeom prst="rect">
            <a:avLst/>
          </a:prstGeom>
          <a:noFill/>
          <a:ln>
            <a:noFill/>
          </a:ln>
        </p:spPr>
        <p:txBody>
          <a:bodyPr wrap="square" tIns="91440" bIns="91440">
            <a:spAutoFit/>
          </a:bodyPr>
          <a:lstStyle/>
          <a:p>
            <a:pPr>
              <a:lnSpc>
                <a:spcPct val="120000"/>
              </a:lnSpc>
            </a:pPr>
            <a:r>
              <a:rPr sz="1300">
                <a:solidFill>
                  <a:srgbClr val="101010"/>
                </a:solidFill>
                <a:latin typeface="Calibri"/>
              </a:rPr>
              <a:t>• Most carriers pay commission UPFRONT on the WRITTEN premium (advance). Some pay AS EARNED on collected.</a:t>
            </a:r>
          </a:p>
          <a:p>
            <a:pPr>
              <a:lnSpc>
                <a:spcPct val="120000"/>
              </a:lnSpc>
            </a:pPr>
            <a:r>
              <a:rPr sz="1300">
                <a:solidFill>
                  <a:srgbClr val="101010"/>
                </a:solidFill>
                <a:latin typeface="Calibri"/>
              </a:rPr>
              <a:t>• On advance carriers, if the customer stops paying, the carrier reverses the unearned commission (chargeback).</a:t>
            </a:r>
          </a:p>
          <a:p>
            <a:pPr>
              <a:lnSpc>
                <a:spcPct val="120000"/>
              </a:lnSpc>
            </a:pPr>
            <a:r>
              <a:rPr sz="1300">
                <a:solidFill>
                  <a:srgbClr val="101010"/>
                </a:solidFill>
                <a:latin typeface="Calibri"/>
              </a:rPr>
              <a:t>• Commission RATES vary 8-15% across carriers. We use 11% as a conservative blended rate.</a:t>
            </a:r>
          </a:p>
          <a:p>
            <a:pPr>
              <a:lnSpc>
                <a:spcPct val="120000"/>
              </a:lnSpc>
            </a:pPr>
            <a:r>
              <a:rPr sz="1300">
                <a:solidFill>
                  <a:srgbClr val="101010"/>
                </a:solidFill>
                <a:latin typeface="Calibri"/>
              </a:rPr>
              <a:t>• Long-run net commission ~= COLLECTED premium x commission rate. That's what the workbook uses.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457200" y="3657600"/>
          <a:ext cx="11247120" cy="2560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3200400"/>
                <a:gridCol w="5303520"/>
              </a:tblGrid>
              <a:tr h="365760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Step</a:t>
                      </a:r>
                    </a:p>
                  </a:txBody>
                  <a:tcPr>
                    <a:solidFill>
                      <a:srgbClr val="1F4E78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Math</a:t>
                      </a:r>
                    </a:p>
                  </a:txBody>
                  <a:tcPr>
                    <a:solidFill>
                      <a:srgbClr val="1F4E78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Example: $1,500 policy, $150 down</a:t>
                      </a:r>
                    </a:p>
                  </a:txBody>
                  <a:tcPr>
                    <a:solidFill>
                      <a:srgbClr val="1F4E78"/>
                    </a:solidFill>
                  </a:tcPr>
                </a:tc>
              </a:tr>
              <a:tr h="365760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200">
                          <a:solidFill>
                            <a:srgbClr val="101010"/>
                          </a:solidFill>
                          <a:latin typeface="Calibri"/>
                        </a:rPr>
                        <a:t>1. Written premium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200">
                          <a:solidFill>
                            <a:srgbClr val="101010"/>
                          </a:solidFill>
                          <a:latin typeface="Calibri"/>
                        </a:rPr>
                        <a:t>Carrier's number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200">
                          <a:solidFill>
                            <a:srgbClr val="101010"/>
                          </a:solidFill>
                          <a:latin typeface="Calibri"/>
                        </a:rPr>
                        <a:t>$1,500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200">
                          <a:solidFill>
                            <a:srgbClr val="101010"/>
                          </a:solidFill>
                          <a:latin typeface="Calibri"/>
                        </a:rPr>
                        <a:t>2. Commission advance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200">
                          <a:solidFill>
                            <a:srgbClr val="101010"/>
                          </a:solidFill>
                          <a:latin typeface="Calibri"/>
                        </a:rPr>
                        <a:t>Premium x 11% blended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200">
                          <a:solidFill>
                            <a:srgbClr val="101010"/>
                          </a:solidFill>
                          <a:latin typeface="Calibri"/>
                        </a:rPr>
                        <a:t>$165 advance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365760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200">
                          <a:solidFill>
                            <a:srgbClr val="101010"/>
                          </a:solidFill>
                          <a:latin typeface="Calibri"/>
                        </a:rPr>
                        <a:t>3. Net commission expected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200">
                          <a:solidFill>
                            <a:srgbClr val="101010"/>
                          </a:solidFill>
                          <a:latin typeface="Calibri"/>
                        </a:rPr>
                        <a:t>Collected x 11%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200">
                          <a:solidFill>
                            <a:srgbClr val="101010"/>
                          </a:solidFill>
                          <a:latin typeface="Calibri"/>
                        </a:rPr>
                        <a:t>$150 x 11% = $16.50 expected to keep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200">
                          <a:solidFill>
                            <a:srgbClr val="101010"/>
                          </a:solidFill>
                          <a:latin typeface="Calibri"/>
                        </a:rPr>
                        <a:t>4. After royalty (21%)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200">
                          <a:solidFill>
                            <a:srgbClr val="101010"/>
                          </a:solidFill>
                          <a:latin typeface="Calibri"/>
                        </a:rPr>
                        <a:t>x 0.79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200">
                          <a:solidFill>
                            <a:srgbClr val="101010"/>
                          </a:solidFill>
                          <a:latin typeface="Calibri"/>
                        </a:rPr>
                        <a:t>$13.04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365760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200">
                          <a:solidFill>
                            <a:srgbClr val="101010"/>
                          </a:solidFill>
                          <a:latin typeface="Calibri"/>
                        </a:rPr>
                        <a:t>5. After overhead reserve (30%)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200">
                          <a:solidFill>
                            <a:srgbClr val="101010"/>
                          </a:solidFill>
                          <a:latin typeface="Calibri"/>
                        </a:rPr>
                        <a:t>x 0.70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200">
                          <a:solidFill>
                            <a:srgbClr val="101010"/>
                          </a:solidFill>
                          <a:latin typeface="Calibri"/>
                        </a:rPr>
                        <a:t>$9.13 SAFE NET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200">
                          <a:solidFill>
                            <a:srgbClr val="101010"/>
                          </a:solidFill>
                          <a:latin typeface="Calibri"/>
                        </a:rPr>
                        <a:t>6. Bonus review threshold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200">
                          <a:solidFill>
                            <a:srgbClr val="101010"/>
                          </a:solidFill>
                          <a:latin typeface="Calibri"/>
                        </a:rPr>
                        <a:t>Safe net x 40%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200">
                          <a:solidFill>
                            <a:srgbClr val="101010"/>
                          </a:solidFill>
                          <a:latin typeface="Calibri"/>
                        </a:rPr>
                        <a:t>$3.65 max bonus on this policy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868680"/>
          </a:xfrm>
          <a:prstGeom prst="rect">
            <a:avLst/>
          </a:prstGeom>
          <a:solidFill>
            <a:srgbClr val="1F4E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09728"/>
            <a:ext cx="11430000" cy="45720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  <a:latin typeface="Calibri"/>
              </a:rPr>
              <a:t>Safe Net - Real Example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530352"/>
            <a:ext cx="11430000" cy="32004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1200" b="0" i="1">
                <a:solidFill>
                  <a:srgbClr val="BDD7EE"/>
                </a:solidFill>
                <a:latin typeface="Calibri"/>
              </a:rPr>
              <a:t>Abel Guaina, January 2026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647688"/>
            <a:ext cx="12188952" cy="210312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6647688"/>
            <a:ext cx="7315200" cy="210312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1000" b="0" i="0">
                <a:solidFill>
                  <a:srgbClr val="404040"/>
                </a:solidFill>
                <a:latin typeface="Calibri"/>
              </a:rPr>
              <a:t>Fiesta Bonus Plan - Ownership Decision Deck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38560" y="6647688"/>
            <a:ext cx="731520" cy="210312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ctr">
            <a:spAutoFit/>
          </a:bodyPr>
          <a:lstStyle/>
          <a:p>
            <a:pPr algn="r"/>
            <a:r>
              <a:rPr sz="1000" b="0" i="0">
                <a:solidFill>
                  <a:srgbClr val="404040"/>
                </a:solidFill>
                <a:latin typeface="Calibri"/>
              </a:rPr>
              <a:t>9 / 22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457200" y="1097280"/>
          <a:ext cx="11247120" cy="3657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114800"/>
                <a:gridCol w="2286000"/>
                <a:gridCol w="4846320"/>
              </a:tblGrid>
              <a:tr h="365760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Step</a:t>
                      </a:r>
                    </a:p>
                  </a:txBody>
                  <a:tcPr>
                    <a:solidFill>
                      <a:srgbClr val="1F4E78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Number</a:t>
                      </a:r>
                    </a:p>
                  </a:txBody>
                  <a:tcPr>
                    <a:solidFill>
                      <a:srgbClr val="1F4E78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What it means</a:t>
                      </a:r>
                    </a:p>
                  </a:txBody>
                  <a:tcPr>
                    <a:solidFill>
                      <a:srgbClr val="1F4E78"/>
                    </a:solidFill>
                  </a:tcPr>
                </a:tc>
              </a:tr>
              <a:tr h="365760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200" b="1">
                          <a:solidFill>
                            <a:srgbClr val="101010"/>
                          </a:solidFill>
                          <a:latin typeface="Calibri"/>
                        </a:rPr>
                        <a:t>NB + RWR + REN written premium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200">
                          <a:solidFill>
                            <a:srgbClr val="101010"/>
                          </a:solidFill>
                          <a:latin typeface="Calibri"/>
                        </a:rPr>
                        <a:t>$73,734.92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200">
                          <a:solidFill>
                            <a:srgbClr val="101010"/>
                          </a:solidFill>
                          <a:latin typeface="Calibri"/>
                        </a:rPr>
                        <a:t>What Abel sold and renewed in Jan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200" b="1">
                          <a:solidFill>
                            <a:srgbClr val="101010"/>
                          </a:solidFill>
                          <a:latin typeface="Calibri"/>
                        </a:rPr>
                        <a:t>Carrier commission advance (x 11%)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200">
                          <a:solidFill>
                            <a:srgbClr val="101010"/>
                          </a:solidFill>
                          <a:latin typeface="Calibri"/>
                        </a:rPr>
                        <a:t>$8,110.84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200">
                          <a:solidFill>
                            <a:srgbClr val="101010"/>
                          </a:solidFill>
                          <a:latin typeface="Calibri"/>
                        </a:rPr>
                        <a:t>Carriers paid us this much upfront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365760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200" b="1">
                          <a:solidFill>
                            <a:srgbClr val="101010"/>
                          </a:solidFill>
                          <a:latin typeface="Calibri"/>
                        </a:rPr>
                        <a:t>Total collected from customers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200">
                          <a:solidFill>
                            <a:srgbClr val="101010"/>
                          </a:solidFill>
                          <a:latin typeface="Calibri"/>
                        </a:rPr>
                        <a:t>$12,858.65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200">
                          <a:solidFill>
                            <a:srgbClr val="101010"/>
                          </a:solidFill>
                          <a:latin typeface="Calibri"/>
                        </a:rPr>
                        <a:t>Cash that came in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200" b="1">
                          <a:solidFill>
                            <a:srgbClr val="101010"/>
                          </a:solidFill>
                          <a:latin typeface="Calibri"/>
                        </a:rPr>
                        <a:t>Expected retained commission (x 11%)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200">
                          <a:solidFill>
                            <a:srgbClr val="101010"/>
                          </a:solidFill>
                          <a:latin typeface="Calibri"/>
                        </a:rPr>
                        <a:t>$1,414.45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200">
                          <a:solidFill>
                            <a:srgbClr val="101010"/>
                          </a:solidFill>
                          <a:latin typeface="Calibri"/>
                        </a:rPr>
                        <a:t>After chargeback math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365760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200" b="1">
                          <a:solidFill>
                            <a:srgbClr val="101010"/>
                          </a:solidFill>
                          <a:latin typeface="Calibri"/>
                        </a:rPr>
                        <a:t>After 17.5% royalty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200">
                          <a:solidFill>
                            <a:srgbClr val="101010"/>
                          </a:solidFill>
                          <a:latin typeface="Calibri"/>
                        </a:rPr>
                        <a:t>$1,117.42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200">
                          <a:solidFill>
                            <a:srgbClr val="101010"/>
                          </a:solidFill>
                          <a:latin typeface="Calibri"/>
                        </a:rPr>
                        <a:t>After corporate cut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200" b="1">
                          <a:solidFill>
                            <a:srgbClr val="101010"/>
                          </a:solidFill>
                          <a:latin typeface="Calibri"/>
                        </a:rPr>
                        <a:t>SAFE NET (after 40% overhead reserve)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200">
                          <a:solidFill>
                            <a:srgbClr val="101010"/>
                          </a:solidFill>
                          <a:latin typeface="Calibri"/>
                        </a:rPr>
                        <a:t>$782.19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200">
                          <a:solidFill>
                            <a:srgbClr val="101010"/>
                          </a:solidFill>
                          <a:latin typeface="Calibri"/>
                        </a:rPr>
                        <a:t>Available for bonus + profit + taxes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365760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200" b="1">
                          <a:solidFill>
                            <a:srgbClr val="101010"/>
                          </a:solidFill>
                          <a:latin typeface="Calibri"/>
                        </a:rPr>
                        <a:t>Review threshold (40% of safe net)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200">
                          <a:solidFill>
                            <a:srgbClr val="101010"/>
                          </a:solidFill>
                          <a:latin typeface="Calibri"/>
                        </a:rPr>
                        <a:t>$312.88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200">
                          <a:solidFill>
                            <a:srgbClr val="101010"/>
                          </a:solidFill>
                          <a:latin typeface="Calibri"/>
                        </a:rPr>
                        <a:t>Bonus targets above this get flagged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200" b="1">
                          <a:solidFill>
                            <a:srgbClr val="101010"/>
                          </a:solidFill>
                          <a:latin typeface="Calibri"/>
                        </a:rPr>
                        <a:t>Plan A target (no min): $252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200">
                          <a:solidFill>
                            <a:srgbClr val="101010"/>
                          </a:solidFill>
                          <a:latin typeface="Calibri"/>
                        </a:rPr>
                        <a:t>$252.00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200">
                          <a:solidFill>
                            <a:srgbClr val="101010"/>
                          </a:solidFill>
                          <a:latin typeface="Calibri"/>
                        </a:rPr>
                        <a:t>32% of safe net - OK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365760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200" b="1">
                          <a:solidFill>
                            <a:srgbClr val="101010"/>
                          </a:solidFill>
                          <a:latin typeface="Calibri"/>
                        </a:rPr>
                        <a:t>Plan B target (no min): $399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200">
                          <a:solidFill>
                            <a:srgbClr val="101010"/>
                          </a:solidFill>
                          <a:latin typeface="Calibri"/>
                        </a:rPr>
                        <a:t>$399.46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200">
                          <a:solidFill>
                            <a:srgbClr val="101010"/>
                          </a:solidFill>
                          <a:latin typeface="Calibri"/>
                        </a:rPr>
                        <a:t>51% of safe net - flagged for review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457200" y="5394960"/>
            <a:ext cx="11247120" cy="45720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600" b="1" i="0">
                <a:solidFill>
                  <a:srgbClr val="1F4E78"/>
                </a:solidFill>
                <a:latin typeface="Calibri"/>
              </a:rPr>
              <a:t>Takeaway: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5760720"/>
            <a:ext cx="10972800" cy="82296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300" b="0" i="0">
                <a:solidFill>
                  <a:srgbClr val="101010"/>
                </a:solidFill>
                <a:latin typeface="Calibri"/>
              </a:rPr>
              <a:t>$700 of safe net means Abel's January contribution can support a bonus up to ~$280 before ownership wants a second look. The actual bonus depends on the plan rules - Plan A pays $252 (under threshold), Plan B pays $399 (above threshold, flagged but not auto-cut).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868680"/>
          </a:xfrm>
          <a:prstGeom prst="rect">
            <a:avLst/>
          </a:prstGeom>
          <a:solidFill>
            <a:srgbClr val="1F4E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09728"/>
            <a:ext cx="11430000" cy="45720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  <a:latin typeface="Calibri"/>
              </a:rPr>
              <a:t>Why does CURRENT bonus DROP when RWR becomes REN?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530352"/>
            <a:ext cx="11430000" cy="32004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1200" b="0" i="1">
                <a:solidFill>
                  <a:srgbClr val="BDD7EE"/>
                </a:solidFill>
                <a:latin typeface="Calibri"/>
              </a:rPr>
              <a:t>Renewals pay MORE than rewrites - but only under the new plans.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647688"/>
            <a:ext cx="12188952" cy="210312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6647688"/>
            <a:ext cx="7315200" cy="210312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1000" b="0" i="0">
                <a:solidFill>
                  <a:srgbClr val="404040"/>
                </a:solidFill>
                <a:latin typeface="Calibri"/>
              </a:rPr>
              <a:t>Fiesta Bonus Plan - Ownership Decision Deck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38560" y="6647688"/>
            <a:ext cx="731520" cy="210312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ctr">
            <a:spAutoFit/>
          </a:bodyPr>
          <a:lstStyle/>
          <a:p>
            <a:pPr algn="r"/>
            <a:r>
              <a:rPr sz="1000" b="0" i="0">
                <a:solidFill>
                  <a:srgbClr val="404040"/>
                </a:solidFill>
                <a:latin typeface="Calibri"/>
              </a:rPr>
              <a:t>10 / 22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097280"/>
            <a:ext cx="11247120" cy="45720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2000" b="1" i="0">
                <a:solidFill>
                  <a:srgbClr val="1F4E78"/>
                </a:solidFill>
                <a:latin typeface="Calibri"/>
              </a:rPr>
              <a:t>Short answer: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554480"/>
            <a:ext cx="10972800" cy="91440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500" b="0" i="0">
                <a:solidFill>
                  <a:srgbClr val="101010"/>
                </a:solidFill>
                <a:latin typeface="Calibri"/>
              </a:rPr>
              <a:t>The CURRENT plan does NOT pay anything for renewals. It only counts NB + RWR toward the 35-policy tier. When 50% of RWR moves to REN, the NB+RWR count drops, the tier drops, the bonus drops. Renewals 'paying more' is only true under the NEW plans (REN pays $4-$6 vs RWR $2).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2743200"/>
            <a:ext cx="11247120" cy="45720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600" b="1" i="0">
                <a:solidFill>
                  <a:srgbClr val="1F4E78"/>
                </a:solidFill>
                <a:latin typeface="Calibri"/>
              </a:rPr>
              <a:t>Concrete example - Dialinerys Dieguez, March: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457200" y="3291840"/>
          <a:ext cx="11247120" cy="15361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17520"/>
                <a:gridCol w="1097280"/>
                <a:gridCol w="1097280"/>
                <a:gridCol w="1097280"/>
                <a:gridCol w="2377440"/>
                <a:gridCol w="2560320"/>
              </a:tblGrid>
              <a:tr h="384048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Scenario</a:t>
                      </a:r>
                    </a:p>
                  </a:txBody>
                  <a:tcPr>
                    <a:solidFill>
                      <a:srgbClr val="1F4E78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NB</a:t>
                      </a:r>
                    </a:p>
                  </a:txBody>
                  <a:tcPr>
                    <a:solidFill>
                      <a:srgbClr val="1F4E78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RWR</a:t>
                      </a:r>
                    </a:p>
                  </a:txBody>
                  <a:tcPr>
                    <a:solidFill>
                      <a:srgbClr val="1F4E78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REN</a:t>
                      </a:r>
                    </a:p>
                  </a:txBody>
                  <a:tcPr>
                    <a:solidFill>
                      <a:srgbClr val="1F4E78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Current pays</a:t>
                      </a:r>
                    </a:p>
                  </a:txBody>
                  <a:tcPr>
                    <a:solidFill>
                      <a:srgbClr val="1F4E78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Plan B pays</a:t>
                      </a:r>
                    </a:p>
                  </a:txBody>
                  <a:tcPr>
                    <a:solidFill>
                      <a:srgbClr val="1F4E78"/>
                    </a:solidFill>
                  </a:tcPr>
                </a:tc>
              </a:tr>
              <a:tr h="384048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300">
                          <a:solidFill>
                            <a:srgbClr val="101010"/>
                          </a:solidFill>
                          <a:latin typeface="Calibri"/>
                        </a:rPr>
                        <a:t>REAL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300">
                          <a:solidFill>
                            <a:srgbClr val="101010"/>
                          </a:solidFill>
                          <a:latin typeface="Calibri"/>
                        </a:rPr>
                        <a:t>38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300">
                          <a:solidFill>
                            <a:srgbClr val="101010"/>
                          </a:solidFill>
                          <a:latin typeface="Calibri"/>
                        </a:rPr>
                        <a:t>69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300">
                          <a:solidFill>
                            <a:srgbClr val="101010"/>
                          </a:solidFill>
                          <a:latin typeface="Calibri"/>
                        </a:rPr>
                        <a:t>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300">
                          <a:solidFill>
                            <a:srgbClr val="101010"/>
                          </a:solidFill>
                          <a:latin typeface="Calibri"/>
                        </a:rPr>
                        <a:t>$1020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300">
                          <a:solidFill>
                            <a:srgbClr val="101010"/>
                          </a:solidFill>
                          <a:latin typeface="Calibri"/>
                        </a:rPr>
                        <a:t>$630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300">
                          <a:solidFill>
                            <a:srgbClr val="101010"/>
                          </a:solidFill>
                          <a:latin typeface="Calibri"/>
                        </a:rPr>
                        <a:t>SWAP (50% RWR -&gt; REN)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300">
                          <a:solidFill>
                            <a:srgbClr val="101010"/>
                          </a:solidFill>
                          <a:latin typeface="Calibri"/>
                        </a:rPr>
                        <a:t>38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300">
                          <a:solidFill>
                            <a:srgbClr val="101010"/>
                          </a:solidFill>
                          <a:latin typeface="Calibri"/>
                        </a:rPr>
                        <a:t>35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300">
                          <a:solidFill>
                            <a:srgbClr val="101010"/>
                          </a:solidFill>
                          <a:latin typeface="Calibri"/>
                        </a:rPr>
                        <a:t>41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300">
                          <a:solidFill>
                            <a:srgbClr val="101010"/>
                          </a:solidFill>
                          <a:latin typeface="Calibri"/>
                        </a:rPr>
                        <a:t>$680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300">
                          <a:solidFill>
                            <a:srgbClr val="101010"/>
                          </a:solidFill>
                          <a:latin typeface="Calibri"/>
                        </a:rPr>
                        <a:t>$983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384048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300">
                          <a:solidFill>
                            <a:srgbClr val="101010"/>
                          </a:solidFill>
                          <a:latin typeface="Calibri"/>
                        </a:rPr>
                        <a:t>CHANGE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300">
                          <a:solidFill>
                            <a:srgbClr val="101010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300">
                          <a:solidFill>
                            <a:srgbClr val="101010"/>
                          </a:solidFill>
                          <a:latin typeface="Calibri"/>
                        </a:rPr>
                        <a:t>-34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300">
                          <a:solidFill>
                            <a:srgbClr val="101010"/>
                          </a:solidFill>
                          <a:latin typeface="Calibri"/>
                        </a:rPr>
                        <a:t>+34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300">
                          <a:solidFill>
                            <a:srgbClr val="101010"/>
                          </a:solidFill>
                          <a:latin typeface="Calibri"/>
                        </a:rPr>
                        <a:t>-$340 (BAD)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300">
                          <a:solidFill>
                            <a:srgbClr val="101010"/>
                          </a:solidFill>
                          <a:latin typeface="Calibri"/>
                        </a:rPr>
                        <a:t>+$354 (GOOD)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457200" y="5029200"/>
            <a:ext cx="11247120" cy="45720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600" b="1" i="0">
                <a:solidFill>
                  <a:srgbClr val="1F4E78"/>
                </a:solidFill>
                <a:latin typeface="Calibri"/>
              </a:rPr>
              <a:t>Bottom line: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5486400"/>
            <a:ext cx="10972800" cy="1097280"/>
          </a:xfrm>
          <a:prstGeom prst="rect">
            <a:avLst/>
          </a:prstGeom>
          <a:noFill/>
          <a:ln>
            <a:noFill/>
          </a:ln>
        </p:spPr>
        <p:txBody>
          <a:bodyPr wrap="square" tIns="91440" bIns="91440">
            <a:spAutoFit/>
          </a:bodyPr>
          <a:lstStyle/>
          <a:p>
            <a:pPr>
              <a:lnSpc>
                <a:spcPct val="120000"/>
              </a:lnSpc>
            </a:pPr>
            <a:r>
              <a:rPr sz="1300">
                <a:solidFill>
                  <a:srgbClr val="101010"/>
                </a:solidFill>
                <a:latin typeface="Calibri"/>
              </a:rPr>
              <a:t>• Per swapped policy: Current loses ~$10 from the count tier. Plan B gains $4-$6 net ($4-$6 REN - $2 RWR).</a:t>
            </a:r>
          </a:p>
          <a:p>
            <a:pPr>
              <a:lnSpc>
                <a:spcPct val="120000"/>
              </a:lnSpc>
            </a:pPr>
            <a:r>
              <a:rPr sz="1300">
                <a:solidFill>
                  <a:srgbClr val="101010"/>
                </a:solidFill>
                <a:latin typeface="Calibri"/>
              </a:rPr>
              <a:t>• Under Current, the agency literally pays LESS when the agent does the right thing.</a:t>
            </a:r>
          </a:p>
          <a:p>
            <a:pPr>
              <a:lnSpc>
                <a:spcPct val="120000"/>
              </a:lnSpc>
            </a:pPr>
            <a:r>
              <a:rPr sz="1300">
                <a:solidFill>
                  <a:srgbClr val="101010"/>
                </a:solidFill>
                <a:latin typeface="Calibri"/>
              </a:rPr>
              <a:t>• Under Plan B, the agent gets MORE for retaining instead of rewriting - the exact incentive we want.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868680"/>
          </a:xfrm>
          <a:prstGeom prst="rect">
            <a:avLst/>
          </a:prstGeom>
          <a:solidFill>
            <a:srgbClr val="1F4E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09728"/>
            <a:ext cx="11430000" cy="45720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  <a:latin typeface="Calibri"/>
              </a:rPr>
              <a:t>Step-By-Step: How the Bonus Is Calculated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530352"/>
            <a:ext cx="11430000" cy="32004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1200" b="0" i="1">
                <a:solidFill>
                  <a:srgbClr val="BDD7EE"/>
                </a:solidFill>
                <a:latin typeface="Calibri"/>
              </a:rPr>
              <a:t>Worked example: Dialinerys Dieguez, March 2026. Same agent, same month, three scenarios.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647688"/>
            <a:ext cx="12188952" cy="210312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6647688"/>
            <a:ext cx="7315200" cy="210312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1000" b="0" i="0">
                <a:solidFill>
                  <a:srgbClr val="404040"/>
                </a:solidFill>
                <a:latin typeface="Calibri"/>
              </a:rPr>
              <a:t>Fiesta Bonus Plan - Ownership Decision Deck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38560" y="6647688"/>
            <a:ext cx="731520" cy="210312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ctr">
            <a:spAutoFit/>
          </a:bodyPr>
          <a:lstStyle/>
          <a:p>
            <a:pPr algn="r"/>
            <a:r>
              <a:rPr sz="1000" b="0" i="0">
                <a:solidFill>
                  <a:srgbClr val="404040"/>
                </a:solidFill>
                <a:latin typeface="Calibri"/>
              </a:rPr>
              <a:t>11 / 22</a:t>
            </a:r>
          </a:p>
        </p:txBody>
      </p:sp>
      <p:sp>
        <p:nvSpPr>
          <p:cNvPr id="8" name="Rectangle 7"/>
          <p:cNvSpPr/>
          <p:nvPr/>
        </p:nvSpPr>
        <p:spPr>
          <a:xfrm>
            <a:off x="274320" y="1005840"/>
            <a:ext cx="3703320" cy="365760"/>
          </a:xfrm>
          <a:prstGeom prst="rect">
            <a:avLst/>
          </a:prstGeom>
          <a:solidFill>
            <a:srgbClr val="1F4E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74320" y="1005840"/>
            <a:ext cx="370332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ctr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REAL (today)</a:t>
            </a:r>
          </a:p>
        </p:txBody>
      </p:sp>
      <p:sp>
        <p:nvSpPr>
          <p:cNvPr id="10" name="Rectangle 9"/>
          <p:cNvSpPr/>
          <p:nvPr/>
        </p:nvSpPr>
        <p:spPr>
          <a:xfrm>
            <a:off x="274320" y="1371600"/>
            <a:ext cx="3703320" cy="521208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65760" y="1417320"/>
            <a:ext cx="3520440" cy="196596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000" b="1" i="0">
                <a:solidFill>
                  <a:srgbClr val="1F4E78"/>
                </a:solidFill>
                <a:latin typeface="Calibri"/>
              </a:rPr>
              <a:t>Volume: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" y="1613916"/>
            <a:ext cx="3520440" cy="196596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000" b="0" i="0">
                <a:solidFill>
                  <a:srgbClr val="101010"/>
                </a:solidFill>
                <a:latin typeface="Calibri"/>
              </a:rPr>
              <a:t>  NB: 38, $52k W / $10.5k C (20%, avg $1,380)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1810512"/>
            <a:ext cx="3520440" cy="196596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000" b="0" i="0">
                <a:solidFill>
                  <a:srgbClr val="101010"/>
                </a:solidFill>
                <a:latin typeface="Calibri"/>
              </a:rPr>
              <a:t>  RWR: 69, $96k W / $19.7k C (20%, avg $1,395)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2007108"/>
            <a:ext cx="3520440" cy="196596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000" b="0" i="0">
                <a:solidFill>
                  <a:srgbClr val="101010"/>
                </a:solidFill>
                <a:latin typeface="Calibri"/>
              </a:rPr>
              <a:t>  REN: 7, $6k W / $3.1k C (52%, avg $852)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5760" y="2203704"/>
            <a:ext cx="3520440" cy="196596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000" b="1" i="0">
                <a:solidFill>
                  <a:srgbClr val="1F4E78"/>
                </a:solidFill>
                <a:latin typeface="Calibri"/>
              </a:rPr>
              <a:t>Per-policy BASE (tiered):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65760" y="2400300"/>
            <a:ext cx="3520440" cy="196596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000" b="0" i="0">
                <a:solidFill>
                  <a:srgbClr val="1F4E78"/>
                </a:solidFill>
                <a:latin typeface="Calibri"/>
              </a:rPr>
              <a:t>  NB tier '$1,200-$1,799': 38 x $7 = $266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65760" y="2596896"/>
            <a:ext cx="3520440" cy="196596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000" b="0" i="0">
                <a:solidFill>
                  <a:srgbClr val="1F4E78"/>
                </a:solidFill>
                <a:latin typeface="Calibri"/>
              </a:rPr>
              <a:t>  REN tier 'Under $1,200': 7 x $4 = $28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5760" y="2793492"/>
            <a:ext cx="3520440" cy="196596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000" b="0" i="0">
                <a:solidFill>
                  <a:srgbClr val="1F4E78"/>
                </a:solidFill>
                <a:latin typeface="Calibri"/>
              </a:rPr>
              <a:t>  RWR tier '$1,200-$1,799': 69 x $3 = $207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65760" y="2990088"/>
            <a:ext cx="3520440" cy="196596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000" b="1" i="0">
                <a:solidFill>
                  <a:srgbClr val="1F4E78"/>
                </a:solidFill>
                <a:latin typeface="Calibri"/>
              </a:rPr>
              <a:t>Collected incentive (&gt;$1,200 only):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3186684"/>
            <a:ext cx="3520440" cy="196596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000" b="0" i="0">
                <a:solidFill>
                  <a:srgbClr val="1F4E78"/>
                </a:solidFill>
                <a:latin typeface="Calibri"/>
              </a:rPr>
              <a:t>  NB +$2/pol x 43% = $33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65760" y="3383280"/>
            <a:ext cx="3520440" cy="196596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000" b="0" i="0">
                <a:solidFill>
                  <a:srgbClr val="1F4E78"/>
                </a:solidFill>
                <a:latin typeface="Calibri"/>
              </a:rPr>
              <a:t>  REN +$5/pol x 14% = $5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65760" y="3579876"/>
            <a:ext cx="3520440" cy="196596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000" b="0" i="0">
                <a:solidFill>
                  <a:srgbClr val="1F4E78"/>
                </a:solidFill>
                <a:latin typeface="Calibri"/>
              </a:rPr>
              <a:t>  RWR +$2/pol x 44% = $61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65760" y="3776472"/>
            <a:ext cx="3520440" cy="196596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000" b="1" i="0">
                <a:solidFill>
                  <a:srgbClr val="1F4E78"/>
                </a:solidFill>
                <a:latin typeface="Calibri"/>
              </a:rPr>
              <a:t>Retention (REN $6k x 0.5%) = $30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65760" y="3973068"/>
            <a:ext cx="3520440" cy="196596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000" b="1" i="0">
                <a:solidFill>
                  <a:srgbClr val="1F4E78"/>
                </a:solidFill>
                <a:latin typeface="Calibri"/>
              </a:rPr>
              <a:t>TARGET TOTAL = $630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65760" y="4169664"/>
            <a:ext cx="3520440" cy="196596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000" b="1" i="0">
                <a:solidFill>
                  <a:srgbClr val="1F4E78"/>
                </a:solidFill>
                <a:latin typeface="Calibri"/>
              </a:rPr>
              <a:t>Apply gates: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65760" y="4366260"/>
            <a:ext cx="3520440" cy="196596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000" b="0" i="0">
                <a:solidFill>
                  <a:srgbClr val="70AD47"/>
                </a:solidFill>
                <a:latin typeface="Calibri"/>
              </a:rPr>
              <a:t>  NB $52k vs $45k: PASS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65760" y="4562856"/>
            <a:ext cx="3520440" cy="196596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000" b="0" i="0">
                <a:solidFill>
                  <a:srgbClr val="70AD47"/>
                </a:solidFill>
                <a:latin typeface="Calibri"/>
              </a:rPr>
              <a:t>  REN retention 75% vs 30%: PASS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65760" y="4759452"/>
            <a:ext cx="3520440" cy="196596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000" b="0" i="0">
                <a:solidFill>
                  <a:srgbClr val="70AD47"/>
                </a:solidFill>
                <a:latin typeface="Calibri"/>
              </a:rPr>
              <a:t>  RWR (both): PASS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65760" y="4956048"/>
            <a:ext cx="3520440" cy="196596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000" b="1" i="0">
                <a:solidFill>
                  <a:srgbClr val="1F4E78"/>
                </a:solidFill>
                <a:latin typeface="Calibri"/>
              </a:rPr>
              <a:t>PAID = $630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224528" y="1005840"/>
            <a:ext cx="3703320" cy="365760"/>
          </a:xfrm>
          <a:prstGeom prst="rect">
            <a:avLst/>
          </a:prstGeom>
          <a:solidFill>
            <a:srgbClr val="2E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224528" y="1005840"/>
            <a:ext cx="370332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ctr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50% SWAP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224528" y="1371600"/>
            <a:ext cx="3703320" cy="5212080"/>
          </a:xfrm>
          <a:prstGeom prst="rect">
            <a:avLst/>
          </a:prstGeom>
          <a:solidFill>
            <a:srgbClr val="BDD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315968" y="1417320"/>
            <a:ext cx="3520440" cy="196596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000" b="1" i="0">
                <a:solidFill>
                  <a:srgbClr val="2E75B6"/>
                </a:solidFill>
                <a:latin typeface="Calibri"/>
              </a:rPr>
              <a:t>Volume: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315968" y="1613916"/>
            <a:ext cx="3520440" cy="196596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000" b="0" i="0">
                <a:solidFill>
                  <a:srgbClr val="101010"/>
                </a:solidFill>
                <a:latin typeface="Calibri"/>
              </a:rPr>
              <a:t>  NB: 38, $52k W / $10.5k C (20%, avg $1,380)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315968" y="1810512"/>
            <a:ext cx="3520440" cy="196596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000" b="0" i="0">
                <a:solidFill>
                  <a:srgbClr val="101010"/>
                </a:solidFill>
                <a:latin typeface="Calibri"/>
              </a:rPr>
              <a:t>  RWR: 35, $48k W / $9.9k C (20%, avg $1,375)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315968" y="2007108"/>
            <a:ext cx="3520440" cy="196596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000" b="0" i="0">
                <a:solidFill>
                  <a:srgbClr val="101010"/>
                </a:solidFill>
                <a:latin typeface="Calibri"/>
              </a:rPr>
              <a:t>  REN: 41, $54k W / $12.9k C (24%, avg $1,319)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315968" y="2203704"/>
            <a:ext cx="3520440" cy="196596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000" b="1" i="0">
                <a:solidFill>
                  <a:srgbClr val="2E75B6"/>
                </a:solidFill>
                <a:latin typeface="Calibri"/>
              </a:rPr>
              <a:t>Per-policy BASE (tiered):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315968" y="2400300"/>
            <a:ext cx="3520440" cy="196596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000" b="0" i="0">
                <a:solidFill>
                  <a:srgbClr val="1F4E78"/>
                </a:solidFill>
                <a:latin typeface="Calibri"/>
              </a:rPr>
              <a:t>  NB tier '$1,200-$1,799': 38 x $7 = $266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315968" y="2596896"/>
            <a:ext cx="3520440" cy="196596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000" b="0" i="0">
                <a:solidFill>
                  <a:srgbClr val="1F4E78"/>
                </a:solidFill>
                <a:latin typeface="Calibri"/>
              </a:rPr>
              <a:t>  REN tier '$1,200-$1,799': 41 x $6 = $246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315968" y="2793492"/>
            <a:ext cx="3520440" cy="196596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000" b="0" i="0">
                <a:solidFill>
                  <a:srgbClr val="1F4E78"/>
                </a:solidFill>
                <a:latin typeface="Calibri"/>
              </a:rPr>
              <a:t>  RWR tier '$1,200-$1,799': 35 x $3 = $105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315968" y="2990088"/>
            <a:ext cx="3520440" cy="196596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000" b="1" i="0">
                <a:solidFill>
                  <a:srgbClr val="2E75B6"/>
                </a:solidFill>
                <a:latin typeface="Calibri"/>
              </a:rPr>
              <a:t>Collected incentive (&gt;$1,200 only):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315968" y="3186684"/>
            <a:ext cx="3520440" cy="196596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000" b="0" i="0">
                <a:solidFill>
                  <a:srgbClr val="1F4E78"/>
                </a:solidFill>
                <a:latin typeface="Calibri"/>
              </a:rPr>
              <a:t>  NB +$2/pol x 43% = $33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315968" y="3383280"/>
            <a:ext cx="3520440" cy="196596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000" b="0" i="0">
                <a:solidFill>
                  <a:srgbClr val="1F4E78"/>
                </a:solidFill>
                <a:latin typeface="Calibri"/>
              </a:rPr>
              <a:t>  REN +$2/pol x 40% = $33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315968" y="3579876"/>
            <a:ext cx="3520440" cy="196596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000" b="0" i="0">
                <a:solidFill>
                  <a:srgbClr val="1F4E78"/>
                </a:solidFill>
                <a:latin typeface="Calibri"/>
              </a:rPr>
              <a:t>  RWR +$2/pol x 43% = $30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315968" y="3776472"/>
            <a:ext cx="3520440" cy="196596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000" b="1" i="0">
                <a:solidFill>
                  <a:srgbClr val="1F4E78"/>
                </a:solidFill>
                <a:latin typeface="Calibri"/>
              </a:rPr>
              <a:t>Retention (REN $54k x 0.5%) = $270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315968" y="3973068"/>
            <a:ext cx="3520440" cy="196596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000" b="1" i="0">
                <a:solidFill>
                  <a:srgbClr val="2E75B6"/>
                </a:solidFill>
                <a:latin typeface="Calibri"/>
              </a:rPr>
              <a:t>TARGET TOTAL = $983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4315968" y="4169664"/>
            <a:ext cx="3520440" cy="196596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000" b="1" i="0">
                <a:solidFill>
                  <a:srgbClr val="2E75B6"/>
                </a:solidFill>
                <a:latin typeface="Calibri"/>
              </a:rPr>
              <a:t>Apply gates: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4315968" y="4366260"/>
            <a:ext cx="3520440" cy="196596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000" b="0" i="0">
                <a:solidFill>
                  <a:srgbClr val="70AD47"/>
                </a:solidFill>
                <a:latin typeface="Calibri"/>
              </a:rPr>
              <a:t>  NB $52k vs $45k: PASS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4315968" y="4562856"/>
            <a:ext cx="3520440" cy="196596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000" b="0" i="0">
                <a:solidFill>
                  <a:srgbClr val="70AD47"/>
                </a:solidFill>
                <a:latin typeface="Calibri"/>
              </a:rPr>
              <a:t>  REN retention 75% vs 30%: PASS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4315968" y="4759452"/>
            <a:ext cx="3520440" cy="196596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000" b="0" i="0">
                <a:solidFill>
                  <a:srgbClr val="70AD47"/>
                </a:solidFill>
                <a:latin typeface="Calibri"/>
              </a:rPr>
              <a:t>  RWR (both): PASS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4315968" y="4956048"/>
            <a:ext cx="3520440" cy="196596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000" b="1" i="0">
                <a:solidFill>
                  <a:srgbClr val="2E75B6"/>
                </a:solidFill>
                <a:latin typeface="Calibri"/>
              </a:rPr>
              <a:t>PAID = $983</a:t>
            </a:r>
          </a:p>
        </p:txBody>
      </p:sp>
      <p:sp>
        <p:nvSpPr>
          <p:cNvPr id="52" name="Rectangle 51"/>
          <p:cNvSpPr/>
          <p:nvPr/>
        </p:nvSpPr>
        <p:spPr>
          <a:xfrm>
            <a:off x="8174736" y="1005840"/>
            <a:ext cx="3703320" cy="365760"/>
          </a:xfrm>
          <a:prstGeom prst="rect">
            <a:avLst/>
          </a:prstGeom>
          <a:solidFill>
            <a:srgbClr val="BF9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8174736" y="1005840"/>
            <a:ext cx="370332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ctr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100% FLIP</a:t>
            </a:r>
          </a:p>
        </p:txBody>
      </p:sp>
      <p:sp>
        <p:nvSpPr>
          <p:cNvPr id="54" name="Rectangle 53"/>
          <p:cNvSpPr/>
          <p:nvPr/>
        </p:nvSpPr>
        <p:spPr>
          <a:xfrm>
            <a:off x="8174736" y="1371600"/>
            <a:ext cx="3703320" cy="5212080"/>
          </a:xfrm>
          <a:prstGeom prst="rect">
            <a:avLst/>
          </a:prstGeom>
          <a:solidFill>
            <a:srgbClr val="FFF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8266176" y="1417320"/>
            <a:ext cx="3520440" cy="196596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000" b="1" i="0">
                <a:solidFill>
                  <a:srgbClr val="BF9000"/>
                </a:solidFill>
                <a:latin typeface="Calibri"/>
              </a:rPr>
              <a:t>Volume: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8266176" y="1613916"/>
            <a:ext cx="3520440" cy="196596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000" b="0" i="0">
                <a:solidFill>
                  <a:srgbClr val="101010"/>
                </a:solidFill>
                <a:latin typeface="Calibri"/>
              </a:rPr>
              <a:t>  NB: 38, $52k W / $10.5k C (20%, avg $1,380)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8266176" y="1810512"/>
            <a:ext cx="3520440" cy="196596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000" b="0" i="0">
                <a:solidFill>
                  <a:srgbClr val="101010"/>
                </a:solidFill>
                <a:latin typeface="Calibri"/>
              </a:rPr>
              <a:t>  RWR: 7, $6k W / $3.1k C (52%, avg $852)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8266176" y="2007108"/>
            <a:ext cx="3520440" cy="196596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000" b="0" i="0">
                <a:solidFill>
                  <a:srgbClr val="101010"/>
                </a:solidFill>
                <a:latin typeface="Calibri"/>
              </a:rPr>
              <a:t>  REN: 69, $96k W / $19.7k C (20%, avg $1,395)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8266176" y="2203704"/>
            <a:ext cx="3520440" cy="196596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000" b="1" i="0">
                <a:solidFill>
                  <a:srgbClr val="BF9000"/>
                </a:solidFill>
                <a:latin typeface="Calibri"/>
              </a:rPr>
              <a:t>Per-policy BASE (tiered):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8266176" y="2400300"/>
            <a:ext cx="3520440" cy="196596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000" b="0" i="0">
                <a:solidFill>
                  <a:srgbClr val="1F4E78"/>
                </a:solidFill>
                <a:latin typeface="Calibri"/>
              </a:rPr>
              <a:t>  NB tier '$1,200-$1,799': 38 x $7 = $266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8266176" y="2596896"/>
            <a:ext cx="3520440" cy="196596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000" b="0" i="0">
                <a:solidFill>
                  <a:srgbClr val="1F4E78"/>
                </a:solidFill>
                <a:latin typeface="Calibri"/>
              </a:rPr>
              <a:t>  REN tier '$1,200-$1,799': 69 x $6 = $414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8266176" y="2793492"/>
            <a:ext cx="3520440" cy="196596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000" b="0" i="0">
                <a:solidFill>
                  <a:srgbClr val="1F4E78"/>
                </a:solidFill>
                <a:latin typeface="Calibri"/>
              </a:rPr>
              <a:t>  RWR tier 'Under $1,200': 7 x $2 = $14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8266176" y="2990088"/>
            <a:ext cx="3520440" cy="196596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000" b="1" i="0">
                <a:solidFill>
                  <a:srgbClr val="BF9000"/>
                </a:solidFill>
                <a:latin typeface="Calibri"/>
              </a:rPr>
              <a:t>Collected incentive (&gt;$1,200 only):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8266176" y="3186684"/>
            <a:ext cx="3520440" cy="196596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000" b="0" i="0">
                <a:solidFill>
                  <a:srgbClr val="1F4E78"/>
                </a:solidFill>
                <a:latin typeface="Calibri"/>
              </a:rPr>
              <a:t>  NB +$2/pol x 43% = $33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8266176" y="3383280"/>
            <a:ext cx="3520440" cy="196596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000" b="0" i="0">
                <a:solidFill>
                  <a:srgbClr val="1F4E78"/>
                </a:solidFill>
                <a:latin typeface="Calibri"/>
              </a:rPr>
              <a:t>  REN +$2/pol x 44% = $61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8266176" y="3579876"/>
            <a:ext cx="3520440" cy="196596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000" b="0" i="0">
                <a:solidFill>
                  <a:srgbClr val="1F4E78"/>
                </a:solidFill>
                <a:latin typeface="Calibri"/>
              </a:rPr>
              <a:t>  RWR +$5/pol x 14% = $5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8266176" y="3776472"/>
            <a:ext cx="3520440" cy="196596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000" b="1" i="0">
                <a:solidFill>
                  <a:srgbClr val="1F4E78"/>
                </a:solidFill>
                <a:latin typeface="Calibri"/>
              </a:rPr>
              <a:t>Retention (REN $96k x 0.5%) = $481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8266176" y="3973068"/>
            <a:ext cx="3520440" cy="196596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000" b="1" i="0">
                <a:solidFill>
                  <a:srgbClr val="BF9000"/>
                </a:solidFill>
                <a:latin typeface="Calibri"/>
              </a:rPr>
              <a:t>TARGET TOTAL = $1274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8266176" y="4169664"/>
            <a:ext cx="3520440" cy="196596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000" b="1" i="0">
                <a:solidFill>
                  <a:srgbClr val="BF9000"/>
                </a:solidFill>
                <a:latin typeface="Calibri"/>
              </a:rPr>
              <a:t>Apply gates: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8266176" y="4366260"/>
            <a:ext cx="3520440" cy="196596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000" b="0" i="0">
                <a:solidFill>
                  <a:srgbClr val="70AD47"/>
                </a:solidFill>
                <a:latin typeface="Calibri"/>
              </a:rPr>
              <a:t>  NB $52k vs $45k: PASS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8266176" y="4562856"/>
            <a:ext cx="3520440" cy="196596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000" b="0" i="0">
                <a:solidFill>
                  <a:srgbClr val="70AD47"/>
                </a:solidFill>
                <a:latin typeface="Calibri"/>
              </a:rPr>
              <a:t>  REN retention 75% vs 30%: PASS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266176" y="4759452"/>
            <a:ext cx="3520440" cy="196596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000" b="0" i="0">
                <a:solidFill>
                  <a:srgbClr val="70AD47"/>
                </a:solidFill>
                <a:latin typeface="Calibri"/>
              </a:rPr>
              <a:t>  RWR (both): PASS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266176" y="4956048"/>
            <a:ext cx="3520440" cy="196596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000" b="1" i="0">
                <a:solidFill>
                  <a:srgbClr val="BF9000"/>
                </a:solidFill>
                <a:latin typeface="Calibri"/>
              </a:rPr>
              <a:t>PAID = $1274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868680"/>
          </a:xfrm>
          <a:prstGeom prst="rect">
            <a:avLst/>
          </a:prstGeom>
          <a:solidFill>
            <a:srgbClr val="1F4E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09728"/>
            <a:ext cx="11430000" cy="45720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  <a:latin typeface="Calibri"/>
              </a:rPr>
              <a:t>Abel Guaina - Month by Month, All Three Scenarios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530352"/>
            <a:ext cx="11430000" cy="32004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1200" b="0" i="1">
                <a:solidFill>
                  <a:srgbClr val="BDD7EE"/>
                </a:solidFill>
                <a:latin typeface="Calibri"/>
              </a:rPr>
              <a:t>All values are Plan B WITH MIN (recommended). $W = written premium, $C = collected.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647688"/>
            <a:ext cx="12188952" cy="210312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6647688"/>
            <a:ext cx="7315200" cy="210312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1000" b="0" i="0">
                <a:solidFill>
                  <a:srgbClr val="404040"/>
                </a:solidFill>
                <a:latin typeface="Calibri"/>
              </a:rPr>
              <a:t>Fiesta Bonus Plan - Ownership Decision Deck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38560" y="6647688"/>
            <a:ext cx="731520" cy="210312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ctr">
            <a:spAutoFit/>
          </a:bodyPr>
          <a:lstStyle/>
          <a:p>
            <a:pPr algn="r"/>
            <a:r>
              <a:rPr sz="1000" b="0" i="0">
                <a:solidFill>
                  <a:srgbClr val="404040"/>
                </a:solidFill>
                <a:latin typeface="Calibri"/>
              </a:rPr>
              <a:t>12 / 22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" y="960120"/>
            <a:ext cx="11612880" cy="256032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200" b="1" i="0">
                <a:solidFill>
                  <a:srgbClr val="1F4E78"/>
                </a:solidFill>
                <a:latin typeface="Calibri"/>
              </a:rPr>
              <a:t>REAL (today)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234440"/>
          <a:ext cx="7863840" cy="13990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02920"/>
                <a:gridCol w="502920"/>
                <a:gridCol w="777240"/>
                <a:gridCol w="777240"/>
                <a:gridCol w="502920"/>
                <a:gridCol w="777240"/>
                <a:gridCol w="777240"/>
                <a:gridCol w="502920"/>
                <a:gridCol w="777240"/>
                <a:gridCol w="777240"/>
                <a:gridCol w="1188720"/>
              </a:tblGrid>
              <a:tr h="233172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Mo</a:t>
                      </a:r>
                    </a:p>
                  </a:txBody>
                  <a:tcPr>
                    <a:solidFill>
                      <a:srgbClr val="1F4E78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NB#</a:t>
                      </a:r>
                    </a:p>
                  </a:txBody>
                  <a:tcPr>
                    <a:solidFill>
                      <a:srgbClr val="1F4E78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NB $W</a:t>
                      </a:r>
                    </a:p>
                  </a:txBody>
                  <a:tcPr>
                    <a:solidFill>
                      <a:srgbClr val="1F4E78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NB $C</a:t>
                      </a:r>
                    </a:p>
                  </a:txBody>
                  <a:tcPr>
                    <a:solidFill>
                      <a:srgbClr val="1F4E78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RWR#</a:t>
                      </a:r>
                    </a:p>
                  </a:txBody>
                  <a:tcPr>
                    <a:solidFill>
                      <a:srgbClr val="1F4E78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RWR $W</a:t>
                      </a:r>
                    </a:p>
                  </a:txBody>
                  <a:tcPr>
                    <a:solidFill>
                      <a:srgbClr val="1F4E78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RWR $C</a:t>
                      </a:r>
                    </a:p>
                  </a:txBody>
                  <a:tcPr>
                    <a:solidFill>
                      <a:srgbClr val="1F4E78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REN#</a:t>
                      </a:r>
                    </a:p>
                  </a:txBody>
                  <a:tcPr>
                    <a:solidFill>
                      <a:srgbClr val="1F4E78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REN $W</a:t>
                      </a:r>
                    </a:p>
                  </a:txBody>
                  <a:tcPr>
                    <a:solidFill>
                      <a:srgbClr val="1F4E78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REN $C</a:t>
                      </a:r>
                    </a:p>
                  </a:txBody>
                  <a:tcPr>
                    <a:solidFill>
                      <a:srgbClr val="1F4E78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Plan B WITH MIN</a:t>
                      </a:r>
                    </a:p>
                  </a:txBody>
                  <a:tcPr>
                    <a:solidFill>
                      <a:srgbClr val="1F4E78"/>
                    </a:solidFill>
                  </a:tcPr>
                </a:tc>
              </a:tr>
              <a:tr h="233172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101010"/>
                          </a:solidFill>
                          <a:latin typeface="Calibri"/>
                        </a:rPr>
                        <a:t>Jan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25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$39k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$4.9k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17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$28k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$6.2k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$8k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$1.7k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$76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33172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101010"/>
                          </a:solidFill>
                          <a:latin typeface="Calibri"/>
                        </a:rPr>
                        <a:t>Feb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13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$25k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$3.3k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19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$31k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$4.3k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7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$8k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$1.4k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$67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33172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101010"/>
                          </a:solidFill>
                          <a:latin typeface="Calibri"/>
                        </a:rPr>
                        <a:t>Mar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30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$47k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$6.5k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17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$25k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$5.8k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$4k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$1.3k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$320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33172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101010"/>
                          </a:solidFill>
                          <a:latin typeface="Calibri"/>
                        </a:rPr>
                        <a:t>Apr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27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$38k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$8.2k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15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$15k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$4.0k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13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$11k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$5.4k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$115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33172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101010"/>
                          </a:solidFill>
                          <a:latin typeface="Calibri"/>
                        </a:rPr>
                        <a:t>TOT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95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$148k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$23k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68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$99k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$20k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34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$30k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$10k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$579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320040" y="2743200"/>
            <a:ext cx="11612880" cy="256032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200" b="1" i="0">
                <a:solidFill>
                  <a:srgbClr val="2E75B6"/>
                </a:solidFill>
                <a:latin typeface="Calibri"/>
              </a:rPr>
              <a:t>50% SWAP (RWR-&gt;REN)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20040" y="3017520"/>
          <a:ext cx="7863840" cy="13990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02920"/>
                <a:gridCol w="502920"/>
                <a:gridCol w="777240"/>
                <a:gridCol w="777240"/>
                <a:gridCol w="502920"/>
                <a:gridCol w="777240"/>
                <a:gridCol w="777240"/>
                <a:gridCol w="502920"/>
                <a:gridCol w="777240"/>
                <a:gridCol w="777240"/>
                <a:gridCol w="1188720"/>
              </a:tblGrid>
              <a:tr h="233172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Mo</a:t>
                      </a:r>
                    </a:p>
                  </a:txBody>
                  <a:tcPr>
                    <a:solidFill>
                      <a:srgbClr val="2E75B6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NB#</a:t>
                      </a:r>
                    </a:p>
                  </a:txBody>
                  <a:tcPr>
                    <a:solidFill>
                      <a:srgbClr val="2E75B6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NB $W</a:t>
                      </a:r>
                    </a:p>
                  </a:txBody>
                  <a:tcPr>
                    <a:solidFill>
                      <a:srgbClr val="2E75B6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NB $C</a:t>
                      </a:r>
                    </a:p>
                  </a:txBody>
                  <a:tcPr>
                    <a:solidFill>
                      <a:srgbClr val="2E75B6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RWR#</a:t>
                      </a:r>
                    </a:p>
                  </a:txBody>
                  <a:tcPr>
                    <a:solidFill>
                      <a:srgbClr val="2E75B6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RWR $W</a:t>
                      </a:r>
                    </a:p>
                  </a:txBody>
                  <a:tcPr>
                    <a:solidFill>
                      <a:srgbClr val="2E75B6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RWR $C</a:t>
                      </a:r>
                    </a:p>
                  </a:txBody>
                  <a:tcPr>
                    <a:solidFill>
                      <a:srgbClr val="2E75B6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REN#</a:t>
                      </a:r>
                    </a:p>
                  </a:txBody>
                  <a:tcPr>
                    <a:solidFill>
                      <a:srgbClr val="2E75B6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REN $W</a:t>
                      </a:r>
                    </a:p>
                  </a:txBody>
                  <a:tcPr>
                    <a:solidFill>
                      <a:srgbClr val="2E75B6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REN $C</a:t>
                      </a:r>
                    </a:p>
                  </a:txBody>
                  <a:tcPr>
                    <a:solidFill>
                      <a:srgbClr val="2E75B6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Plan B WITH MIN</a:t>
                      </a:r>
                    </a:p>
                  </a:txBody>
                  <a:tcPr>
                    <a:solidFill>
                      <a:srgbClr val="2E75B6"/>
                    </a:solidFill>
                  </a:tcPr>
                </a:tc>
              </a:tr>
              <a:tr h="233172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101010"/>
                          </a:solidFill>
                          <a:latin typeface="Calibri"/>
                        </a:rPr>
                        <a:t>Jan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25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$39k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$4.9k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$14k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$3.1k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17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$21k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$4.8k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$221</a:t>
                      </a:r>
                    </a:p>
                  </a:txBody>
                  <a:tcPr>
                    <a:solidFill>
                      <a:srgbClr val="BDD7EE"/>
                    </a:solidFill>
                  </a:tcPr>
                </a:tc>
              </a:tr>
              <a:tr h="233172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101010"/>
                          </a:solidFill>
                          <a:latin typeface="Calibri"/>
                        </a:rPr>
                        <a:t>Feb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13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$25k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$3.3k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9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$15k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$2.1k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17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$23k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$3.6k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$223</a:t>
                      </a:r>
                    </a:p>
                  </a:txBody>
                  <a:tcPr>
                    <a:solidFill>
                      <a:srgbClr val="BDD7EE"/>
                    </a:solidFill>
                  </a:tcPr>
                </a:tc>
              </a:tr>
              <a:tr h="233172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101010"/>
                          </a:solidFill>
                          <a:latin typeface="Calibri"/>
                        </a:rPr>
                        <a:t>Mar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30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$47k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$6.5k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$13k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$2.9k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13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$17k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$4.2k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$430</a:t>
                      </a:r>
                    </a:p>
                  </a:txBody>
                  <a:tcPr>
                    <a:solidFill>
                      <a:srgbClr val="BDD7EE"/>
                    </a:solidFill>
                  </a:tcPr>
                </a:tc>
              </a:tr>
              <a:tr h="233172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101010"/>
                          </a:solidFill>
                          <a:latin typeface="Calibri"/>
                        </a:rPr>
                        <a:t>Apr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27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$38k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$8.2k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7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$8k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$2.0k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21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$19k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$7.4k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$194</a:t>
                      </a:r>
                    </a:p>
                  </a:txBody>
                  <a:tcPr>
                    <a:solidFill>
                      <a:srgbClr val="BDD7EE"/>
                    </a:solidFill>
                  </a:tcPr>
                </a:tc>
              </a:tr>
              <a:tr h="233172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101010"/>
                          </a:solidFill>
                          <a:latin typeface="Calibri"/>
                        </a:rPr>
                        <a:t>TOT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95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$148k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$23k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34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$49k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$10k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68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$79k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$20k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$1068</a:t>
                      </a:r>
                    </a:p>
                  </a:txBody>
                  <a:tcPr>
                    <a:solidFill>
                      <a:srgbClr val="BDD7EE"/>
                    </a:solidFill>
                  </a:tcPr>
                </a:tc>
              </a:tr>
            </a:tbl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320040" y="4526280"/>
            <a:ext cx="11612880" cy="256032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200" b="1" i="0">
                <a:solidFill>
                  <a:srgbClr val="BF9000"/>
                </a:solidFill>
                <a:latin typeface="Calibri"/>
              </a:rPr>
              <a:t>100% FLIP (RWR&lt;-&gt;REN)</a:t>
            </a:r>
          </a:p>
        </p:txBody>
      </p:sp>
      <p:graphicFrame>
        <p:nvGraphicFramePr>
          <p:cNvPr id="13" name="Table 12"/>
          <p:cNvGraphicFramePr>
            <a:graphicFrameLocks noGrp="1"/>
          </p:cNvGraphicFramePr>
          <p:nvPr/>
        </p:nvGraphicFramePr>
        <p:xfrm>
          <a:off x="320040" y="4800600"/>
          <a:ext cx="7863840" cy="13990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02920"/>
                <a:gridCol w="502920"/>
                <a:gridCol w="777240"/>
                <a:gridCol w="777240"/>
                <a:gridCol w="502920"/>
                <a:gridCol w="777240"/>
                <a:gridCol w="777240"/>
                <a:gridCol w="502920"/>
                <a:gridCol w="777240"/>
                <a:gridCol w="777240"/>
                <a:gridCol w="1188720"/>
              </a:tblGrid>
              <a:tr h="233172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Mo</a:t>
                      </a:r>
                    </a:p>
                  </a:txBody>
                  <a:tcPr>
                    <a:solidFill>
                      <a:srgbClr val="BF9000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NB#</a:t>
                      </a:r>
                    </a:p>
                  </a:txBody>
                  <a:tcPr>
                    <a:solidFill>
                      <a:srgbClr val="BF9000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NB $W</a:t>
                      </a:r>
                    </a:p>
                  </a:txBody>
                  <a:tcPr>
                    <a:solidFill>
                      <a:srgbClr val="BF9000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NB $C</a:t>
                      </a:r>
                    </a:p>
                  </a:txBody>
                  <a:tcPr>
                    <a:solidFill>
                      <a:srgbClr val="BF9000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RWR#</a:t>
                      </a:r>
                    </a:p>
                  </a:txBody>
                  <a:tcPr>
                    <a:solidFill>
                      <a:srgbClr val="BF9000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RWR $W</a:t>
                      </a:r>
                    </a:p>
                  </a:txBody>
                  <a:tcPr>
                    <a:solidFill>
                      <a:srgbClr val="BF9000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RWR $C</a:t>
                      </a:r>
                    </a:p>
                  </a:txBody>
                  <a:tcPr>
                    <a:solidFill>
                      <a:srgbClr val="BF9000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REN#</a:t>
                      </a:r>
                    </a:p>
                  </a:txBody>
                  <a:tcPr>
                    <a:solidFill>
                      <a:srgbClr val="BF9000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REN $W</a:t>
                      </a:r>
                    </a:p>
                  </a:txBody>
                  <a:tcPr>
                    <a:solidFill>
                      <a:srgbClr val="BF9000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REN $C</a:t>
                      </a:r>
                    </a:p>
                  </a:txBody>
                  <a:tcPr>
                    <a:solidFill>
                      <a:srgbClr val="BF9000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Plan B WITH MIN</a:t>
                      </a:r>
                    </a:p>
                  </a:txBody>
                  <a:tcPr>
                    <a:solidFill>
                      <a:srgbClr val="BF9000"/>
                    </a:solidFill>
                  </a:tcPr>
                </a:tc>
              </a:tr>
              <a:tr h="233172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101010"/>
                          </a:solidFill>
                          <a:latin typeface="Calibri"/>
                        </a:rPr>
                        <a:t>Jan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25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$39k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$4.9k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$8k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$1.7k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17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$28k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$6.2k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$259</a:t>
                      </a:r>
                    </a:p>
                  </a:txBody>
                  <a:tcPr>
                    <a:solidFill>
                      <a:srgbClr val="FFF2CC"/>
                    </a:solidFill>
                  </a:tcPr>
                </a:tc>
              </a:tr>
              <a:tr h="233172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101010"/>
                          </a:solidFill>
                          <a:latin typeface="Calibri"/>
                        </a:rPr>
                        <a:t>Feb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13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$25k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$3.3k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7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$8k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$1.4k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19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$31k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$4.3k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$267</a:t>
                      </a:r>
                    </a:p>
                  </a:txBody>
                  <a:tcPr>
                    <a:solidFill>
                      <a:srgbClr val="FFF2CC"/>
                    </a:solidFill>
                  </a:tcPr>
                </a:tc>
              </a:tr>
              <a:tr h="233172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101010"/>
                          </a:solidFill>
                          <a:latin typeface="Calibri"/>
                        </a:rPr>
                        <a:t>Mar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30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$47k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$6.5k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$4k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$1.3k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17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$25k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$5.8k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$467</a:t>
                      </a:r>
                    </a:p>
                  </a:txBody>
                  <a:tcPr>
                    <a:solidFill>
                      <a:srgbClr val="FFF2CC"/>
                    </a:solidFill>
                  </a:tcPr>
                </a:tc>
              </a:tr>
              <a:tr h="233172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101010"/>
                          </a:solidFill>
                          <a:latin typeface="Calibri"/>
                        </a:rPr>
                        <a:t>Apr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27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$38k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$8.2k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13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$11k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$5.4k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15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$15k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$4.0k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$154</a:t>
                      </a:r>
                    </a:p>
                  </a:txBody>
                  <a:tcPr>
                    <a:solidFill>
                      <a:srgbClr val="FFF2CC"/>
                    </a:solidFill>
                  </a:tcPr>
                </a:tc>
              </a:tr>
              <a:tr h="233172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101010"/>
                          </a:solidFill>
                          <a:latin typeface="Calibri"/>
                        </a:rPr>
                        <a:t>TOT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95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$148k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$23k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34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$30k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$10k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68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$99k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$20k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$1148</a:t>
                      </a:r>
                    </a:p>
                  </a:txBody>
                  <a:tcPr>
                    <a:solidFill>
                      <a:srgbClr val="FFF2CC"/>
                    </a:solidFill>
                  </a:tcPr>
                </a:tc>
              </a:tr>
            </a:tbl>
          </a:graphicData>
        </a:graphic>
      </p:graphicFrame>
      <p:sp>
        <p:nvSpPr>
          <p:cNvPr id="14" name="TextBox 13"/>
          <p:cNvSpPr txBox="1"/>
          <p:nvPr/>
        </p:nvSpPr>
        <p:spPr>
          <a:xfrm>
            <a:off x="320040" y="6400800"/>
            <a:ext cx="11612880" cy="210312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ctr"/>
            <a:r>
              <a:rPr sz="1100" b="1" i="1">
                <a:solidFill>
                  <a:srgbClr val="1F4E78"/>
                </a:solidFill>
                <a:latin typeface="Calibri"/>
              </a:rPr>
              <a:t>Today's current plan pays $1,300. Plan B WITH MIN: REAL $579 | SWAP $1,068 | FLIP $1,148.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868680"/>
          </a:xfrm>
          <a:prstGeom prst="rect">
            <a:avLst/>
          </a:prstGeom>
          <a:solidFill>
            <a:srgbClr val="1F4E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09728"/>
            <a:ext cx="11430000" cy="45720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  <a:latin typeface="Calibri"/>
              </a:rPr>
              <a:t>Dialinerys Dieguez - Month by Month, All Three Scenarios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530352"/>
            <a:ext cx="11430000" cy="32004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1200" b="0" i="1">
                <a:solidFill>
                  <a:srgbClr val="BDD7EE"/>
                </a:solidFill>
                <a:latin typeface="Calibri"/>
              </a:rPr>
              <a:t>All values are Plan B WITH MIN (recommended). $W = written premium, $C = collected.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647688"/>
            <a:ext cx="12188952" cy="210312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6647688"/>
            <a:ext cx="7315200" cy="210312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1000" b="0" i="0">
                <a:solidFill>
                  <a:srgbClr val="404040"/>
                </a:solidFill>
                <a:latin typeface="Calibri"/>
              </a:rPr>
              <a:t>Fiesta Bonus Plan - Ownership Decision Deck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38560" y="6647688"/>
            <a:ext cx="731520" cy="210312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ctr">
            <a:spAutoFit/>
          </a:bodyPr>
          <a:lstStyle/>
          <a:p>
            <a:pPr algn="r"/>
            <a:r>
              <a:rPr sz="1000" b="0" i="0">
                <a:solidFill>
                  <a:srgbClr val="404040"/>
                </a:solidFill>
                <a:latin typeface="Calibri"/>
              </a:rPr>
              <a:t>13 / 22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" y="960120"/>
            <a:ext cx="11612880" cy="256032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200" b="1" i="0">
                <a:solidFill>
                  <a:srgbClr val="1F4E78"/>
                </a:solidFill>
                <a:latin typeface="Calibri"/>
              </a:rPr>
              <a:t>REAL (today)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234440"/>
          <a:ext cx="7863840" cy="13990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02920"/>
                <a:gridCol w="502920"/>
                <a:gridCol w="777240"/>
                <a:gridCol w="777240"/>
                <a:gridCol w="502920"/>
                <a:gridCol w="777240"/>
                <a:gridCol w="777240"/>
                <a:gridCol w="502920"/>
                <a:gridCol w="777240"/>
                <a:gridCol w="777240"/>
                <a:gridCol w="1188720"/>
              </a:tblGrid>
              <a:tr h="233172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Mo</a:t>
                      </a:r>
                    </a:p>
                  </a:txBody>
                  <a:tcPr>
                    <a:solidFill>
                      <a:srgbClr val="1F4E78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NB#</a:t>
                      </a:r>
                    </a:p>
                  </a:txBody>
                  <a:tcPr>
                    <a:solidFill>
                      <a:srgbClr val="1F4E78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NB $W</a:t>
                      </a:r>
                    </a:p>
                  </a:txBody>
                  <a:tcPr>
                    <a:solidFill>
                      <a:srgbClr val="1F4E78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NB $C</a:t>
                      </a:r>
                    </a:p>
                  </a:txBody>
                  <a:tcPr>
                    <a:solidFill>
                      <a:srgbClr val="1F4E78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RWR#</a:t>
                      </a:r>
                    </a:p>
                  </a:txBody>
                  <a:tcPr>
                    <a:solidFill>
                      <a:srgbClr val="1F4E78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RWR $W</a:t>
                      </a:r>
                    </a:p>
                  </a:txBody>
                  <a:tcPr>
                    <a:solidFill>
                      <a:srgbClr val="1F4E78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RWR $C</a:t>
                      </a:r>
                    </a:p>
                  </a:txBody>
                  <a:tcPr>
                    <a:solidFill>
                      <a:srgbClr val="1F4E78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REN#</a:t>
                      </a:r>
                    </a:p>
                  </a:txBody>
                  <a:tcPr>
                    <a:solidFill>
                      <a:srgbClr val="1F4E78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REN $W</a:t>
                      </a:r>
                    </a:p>
                  </a:txBody>
                  <a:tcPr>
                    <a:solidFill>
                      <a:srgbClr val="1F4E78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REN $C</a:t>
                      </a:r>
                    </a:p>
                  </a:txBody>
                  <a:tcPr>
                    <a:solidFill>
                      <a:srgbClr val="1F4E78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Plan B WITH MIN</a:t>
                      </a:r>
                    </a:p>
                  </a:txBody>
                  <a:tcPr>
                    <a:solidFill>
                      <a:srgbClr val="1F4E78"/>
                    </a:solidFill>
                  </a:tcPr>
                </a:tc>
              </a:tr>
              <a:tr h="233172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101010"/>
                          </a:solidFill>
                          <a:latin typeface="Calibri"/>
                        </a:rPr>
                        <a:t>Jan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23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$40k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$4.9k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48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$66k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$10.9k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11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$13k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$5.0k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$123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33172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101010"/>
                          </a:solidFill>
                          <a:latin typeface="Calibri"/>
                        </a:rPr>
                        <a:t>Feb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23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$30k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$5.8k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56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$86k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$13.9k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9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$12k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$1.9k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$116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33172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101010"/>
                          </a:solidFill>
                          <a:latin typeface="Calibri"/>
                        </a:rPr>
                        <a:t>Mar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38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$52k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$10.5k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69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$96k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$19.7k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$6k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$3.1k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$630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33172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101010"/>
                          </a:solidFill>
                          <a:latin typeface="Calibri"/>
                        </a:rPr>
                        <a:t>Apr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33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$50k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$8.8k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44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$64k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$16.7k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$20k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$2.9k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$604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33172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101010"/>
                          </a:solidFill>
                          <a:latin typeface="Calibri"/>
                        </a:rPr>
                        <a:t>TOT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117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$172k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$30k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217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$312k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$61k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29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$50k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$13k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$1473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320040" y="2743200"/>
            <a:ext cx="11612880" cy="256032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200" b="1" i="0">
                <a:solidFill>
                  <a:srgbClr val="2E75B6"/>
                </a:solidFill>
                <a:latin typeface="Calibri"/>
              </a:rPr>
              <a:t>50% SWAP (RWR-&gt;REN)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20040" y="3017520"/>
          <a:ext cx="7863840" cy="13990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02920"/>
                <a:gridCol w="502920"/>
                <a:gridCol w="777240"/>
                <a:gridCol w="777240"/>
                <a:gridCol w="502920"/>
                <a:gridCol w="777240"/>
                <a:gridCol w="777240"/>
                <a:gridCol w="502920"/>
                <a:gridCol w="777240"/>
                <a:gridCol w="777240"/>
                <a:gridCol w="1188720"/>
              </a:tblGrid>
              <a:tr h="233172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Mo</a:t>
                      </a:r>
                    </a:p>
                  </a:txBody>
                  <a:tcPr>
                    <a:solidFill>
                      <a:srgbClr val="2E75B6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NB#</a:t>
                      </a:r>
                    </a:p>
                  </a:txBody>
                  <a:tcPr>
                    <a:solidFill>
                      <a:srgbClr val="2E75B6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NB $W</a:t>
                      </a:r>
                    </a:p>
                  </a:txBody>
                  <a:tcPr>
                    <a:solidFill>
                      <a:srgbClr val="2E75B6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NB $C</a:t>
                      </a:r>
                    </a:p>
                  </a:txBody>
                  <a:tcPr>
                    <a:solidFill>
                      <a:srgbClr val="2E75B6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RWR#</a:t>
                      </a:r>
                    </a:p>
                  </a:txBody>
                  <a:tcPr>
                    <a:solidFill>
                      <a:srgbClr val="2E75B6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RWR $W</a:t>
                      </a:r>
                    </a:p>
                  </a:txBody>
                  <a:tcPr>
                    <a:solidFill>
                      <a:srgbClr val="2E75B6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RWR $C</a:t>
                      </a:r>
                    </a:p>
                  </a:txBody>
                  <a:tcPr>
                    <a:solidFill>
                      <a:srgbClr val="2E75B6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REN#</a:t>
                      </a:r>
                    </a:p>
                  </a:txBody>
                  <a:tcPr>
                    <a:solidFill>
                      <a:srgbClr val="2E75B6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REN $W</a:t>
                      </a:r>
                    </a:p>
                  </a:txBody>
                  <a:tcPr>
                    <a:solidFill>
                      <a:srgbClr val="2E75B6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REN $C</a:t>
                      </a:r>
                    </a:p>
                  </a:txBody>
                  <a:tcPr>
                    <a:solidFill>
                      <a:srgbClr val="2E75B6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Plan B WITH MIN</a:t>
                      </a:r>
                    </a:p>
                  </a:txBody>
                  <a:tcPr>
                    <a:solidFill>
                      <a:srgbClr val="2E75B6"/>
                    </a:solidFill>
                  </a:tcPr>
                </a:tc>
              </a:tr>
              <a:tr h="233172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101010"/>
                          </a:solidFill>
                          <a:latin typeface="Calibri"/>
                        </a:rPr>
                        <a:t>Jan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23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$40k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$4.9k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24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$33k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$5.5k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35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$45k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$10.4k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$464</a:t>
                      </a:r>
                    </a:p>
                  </a:txBody>
                  <a:tcPr>
                    <a:solidFill>
                      <a:srgbClr val="BDD7EE"/>
                    </a:solidFill>
                  </a:tcPr>
                </a:tc>
              </a:tr>
              <a:tr h="233172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101010"/>
                          </a:solidFill>
                          <a:latin typeface="Calibri"/>
                        </a:rPr>
                        <a:t>Feb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23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$30k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$5.8k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28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$43k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$7.0k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37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$54k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$8.9k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$512</a:t>
                      </a:r>
                    </a:p>
                  </a:txBody>
                  <a:tcPr>
                    <a:solidFill>
                      <a:srgbClr val="BDD7EE"/>
                    </a:solidFill>
                  </a:tcPr>
                </a:tc>
              </a:tr>
              <a:tr h="233172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101010"/>
                          </a:solidFill>
                          <a:latin typeface="Calibri"/>
                        </a:rPr>
                        <a:t>Mar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38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$52k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$10.5k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35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$48k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$9.9k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41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$54k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$12.9k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$983</a:t>
                      </a:r>
                    </a:p>
                  </a:txBody>
                  <a:tcPr>
                    <a:solidFill>
                      <a:srgbClr val="BDD7EE"/>
                    </a:solidFill>
                  </a:tcPr>
                </a:tc>
              </a:tr>
              <a:tr h="233172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101010"/>
                          </a:solidFill>
                          <a:latin typeface="Calibri"/>
                        </a:rPr>
                        <a:t>Apr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33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$50k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$8.8k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22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$32k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$8.3k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24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$52k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$11.3k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$858</a:t>
                      </a:r>
                    </a:p>
                  </a:txBody>
                  <a:tcPr>
                    <a:solidFill>
                      <a:srgbClr val="BDD7EE"/>
                    </a:solidFill>
                  </a:tcPr>
                </a:tc>
              </a:tr>
              <a:tr h="233172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101010"/>
                          </a:solidFill>
                          <a:latin typeface="Calibri"/>
                        </a:rPr>
                        <a:t>TOT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117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$172k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$30k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109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$156k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$31k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137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$206k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$44k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$2817</a:t>
                      </a:r>
                    </a:p>
                  </a:txBody>
                  <a:tcPr>
                    <a:solidFill>
                      <a:srgbClr val="BDD7EE"/>
                    </a:solidFill>
                  </a:tcPr>
                </a:tc>
              </a:tr>
            </a:tbl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320040" y="4526280"/>
            <a:ext cx="11612880" cy="256032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200" b="1" i="0">
                <a:solidFill>
                  <a:srgbClr val="BF9000"/>
                </a:solidFill>
                <a:latin typeface="Calibri"/>
              </a:rPr>
              <a:t>100% FLIP (RWR&lt;-&gt;REN)</a:t>
            </a:r>
          </a:p>
        </p:txBody>
      </p:sp>
      <p:graphicFrame>
        <p:nvGraphicFramePr>
          <p:cNvPr id="13" name="Table 12"/>
          <p:cNvGraphicFramePr>
            <a:graphicFrameLocks noGrp="1"/>
          </p:cNvGraphicFramePr>
          <p:nvPr/>
        </p:nvGraphicFramePr>
        <p:xfrm>
          <a:off x="320040" y="4800600"/>
          <a:ext cx="7863840" cy="13990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02920"/>
                <a:gridCol w="502920"/>
                <a:gridCol w="777240"/>
                <a:gridCol w="777240"/>
                <a:gridCol w="502920"/>
                <a:gridCol w="777240"/>
                <a:gridCol w="777240"/>
                <a:gridCol w="502920"/>
                <a:gridCol w="777240"/>
                <a:gridCol w="777240"/>
                <a:gridCol w="1188720"/>
              </a:tblGrid>
              <a:tr h="233172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Mo</a:t>
                      </a:r>
                    </a:p>
                  </a:txBody>
                  <a:tcPr>
                    <a:solidFill>
                      <a:srgbClr val="BF9000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NB#</a:t>
                      </a:r>
                    </a:p>
                  </a:txBody>
                  <a:tcPr>
                    <a:solidFill>
                      <a:srgbClr val="BF9000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NB $W</a:t>
                      </a:r>
                    </a:p>
                  </a:txBody>
                  <a:tcPr>
                    <a:solidFill>
                      <a:srgbClr val="BF9000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NB $C</a:t>
                      </a:r>
                    </a:p>
                  </a:txBody>
                  <a:tcPr>
                    <a:solidFill>
                      <a:srgbClr val="BF9000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RWR#</a:t>
                      </a:r>
                    </a:p>
                  </a:txBody>
                  <a:tcPr>
                    <a:solidFill>
                      <a:srgbClr val="BF9000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RWR $W</a:t>
                      </a:r>
                    </a:p>
                  </a:txBody>
                  <a:tcPr>
                    <a:solidFill>
                      <a:srgbClr val="BF9000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RWR $C</a:t>
                      </a:r>
                    </a:p>
                  </a:txBody>
                  <a:tcPr>
                    <a:solidFill>
                      <a:srgbClr val="BF9000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REN#</a:t>
                      </a:r>
                    </a:p>
                  </a:txBody>
                  <a:tcPr>
                    <a:solidFill>
                      <a:srgbClr val="BF9000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REN $W</a:t>
                      </a:r>
                    </a:p>
                  </a:txBody>
                  <a:tcPr>
                    <a:solidFill>
                      <a:srgbClr val="BF9000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REN $C</a:t>
                      </a:r>
                    </a:p>
                  </a:txBody>
                  <a:tcPr>
                    <a:solidFill>
                      <a:srgbClr val="BF9000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Plan B WITH MIN</a:t>
                      </a:r>
                    </a:p>
                  </a:txBody>
                  <a:tcPr>
                    <a:solidFill>
                      <a:srgbClr val="BF9000"/>
                    </a:solidFill>
                  </a:tcPr>
                </a:tc>
              </a:tr>
              <a:tr h="233172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101010"/>
                          </a:solidFill>
                          <a:latin typeface="Calibri"/>
                        </a:rPr>
                        <a:t>Jan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23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$40k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$4.9k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11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$13k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$5.0k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48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$66k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$10.9k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$637</a:t>
                      </a:r>
                    </a:p>
                  </a:txBody>
                  <a:tcPr>
                    <a:solidFill>
                      <a:srgbClr val="FFF2CC"/>
                    </a:solidFill>
                  </a:tcPr>
                </a:tc>
              </a:tr>
              <a:tr h="233172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101010"/>
                          </a:solidFill>
                          <a:latin typeface="Calibri"/>
                        </a:rPr>
                        <a:t>Feb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23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$30k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$5.8k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9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$12k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$1.9k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56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$86k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$13.9k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$793</a:t>
                      </a:r>
                    </a:p>
                  </a:txBody>
                  <a:tcPr>
                    <a:solidFill>
                      <a:srgbClr val="FFF2CC"/>
                    </a:solidFill>
                  </a:tcPr>
                </a:tc>
              </a:tr>
              <a:tr h="233172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101010"/>
                          </a:solidFill>
                          <a:latin typeface="Calibri"/>
                        </a:rPr>
                        <a:t>Mar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38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$52k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$10.5k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$6k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$3.1k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69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$96k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$19.7k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$1274</a:t>
                      </a:r>
                    </a:p>
                  </a:txBody>
                  <a:tcPr>
                    <a:solidFill>
                      <a:srgbClr val="FFF2CC"/>
                    </a:solidFill>
                  </a:tcPr>
                </a:tc>
              </a:tr>
              <a:tr h="233172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101010"/>
                          </a:solidFill>
                          <a:latin typeface="Calibri"/>
                        </a:rPr>
                        <a:t>Apr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33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$50k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$8.8k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$20k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$2.9k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44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$64k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$16.7k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$947</a:t>
                      </a:r>
                    </a:p>
                  </a:txBody>
                  <a:tcPr>
                    <a:solidFill>
                      <a:srgbClr val="FFF2CC"/>
                    </a:solidFill>
                  </a:tcPr>
                </a:tc>
              </a:tr>
              <a:tr h="233172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101010"/>
                          </a:solidFill>
                          <a:latin typeface="Calibri"/>
                        </a:rPr>
                        <a:t>TOT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117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$172k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$30k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29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$50k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$13k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217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$312k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$61k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$3651</a:t>
                      </a:r>
                    </a:p>
                  </a:txBody>
                  <a:tcPr>
                    <a:solidFill>
                      <a:srgbClr val="FFF2CC"/>
                    </a:solidFill>
                  </a:tcPr>
                </a:tc>
              </a:tr>
            </a:tbl>
          </a:graphicData>
        </a:graphic>
      </p:graphicFrame>
      <p:sp>
        <p:nvSpPr>
          <p:cNvPr id="14" name="TextBox 13"/>
          <p:cNvSpPr txBox="1"/>
          <p:nvPr/>
        </p:nvSpPr>
        <p:spPr>
          <a:xfrm>
            <a:off x="320040" y="6400800"/>
            <a:ext cx="11612880" cy="210312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ctr"/>
            <a:r>
              <a:rPr sz="1100" b="1" i="1">
                <a:solidFill>
                  <a:srgbClr val="1F4E78"/>
                </a:solidFill>
                <a:latin typeface="Calibri"/>
              </a:rPr>
              <a:t>Today's current plan pays $3,140. Plan B WITH MIN: REAL $1,473 | SWAP $2,817 | FLIP $3,651.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868680"/>
          </a:xfrm>
          <a:prstGeom prst="rect">
            <a:avLst/>
          </a:prstGeom>
          <a:solidFill>
            <a:srgbClr val="1F4E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09728"/>
            <a:ext cx="11430000" cy="45720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  <a:latin typeface="Calibri"/>
              </a:rPr>
              <a:t>Melissa Hernandez - Month by Month, All Three Scenarios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530352"/>
            <a:ext cx="11430000" cy="32004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1200" b="0" i="1">
                <a:solidFill>
                  <a:srgbClr val="BDD7EE"/>
                </a:solidFill>
                <a:latin typeface="Calibri"/>
              </a:rPr>
              <a:t>All values are Plan B WITH MIN (recommended). $W = written premium, $C = collected.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647688"/>
            <a:ext cx="12188952" cy="210312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6647688"/>
            <a:ext cx="7315200" cy="210312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1000" b="0" i="0">
                <a:solidFill>
                  <a:srgbClr val="404040"/>
                </a:solidFill>
                <a:latin typeface="Calibri"/>
              </a:rPr>
              <a:t>Fiesta Bonus Plan - Ownership Decision Deck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38560" y="6647688"/>
            <a:ext cx="731520" cy="210312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ctr">
            <a:spAutoFit/>
          </a:bodyPr>
          <a:lstStyle/>
          <a:p>
            <a:pPr algn="r"/>
            <a:r>
              <a:rPr sz="1000" b="0" i="0">
                <a:solidFill>
                  <a:srgbClr val="404040"/>
                </a:solidFill>
                <a:latin typeface="Calibri"/>
              </a:rPr>
              <a:t>14 / 22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" y="960120"/>
            <a:ext cx="11612880" cy="256032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200" b="1" i="0">
                <a:solidFill>
                  <a:srgbClr val="1F4E78"/>
                </a:solidFill>
                <a:latin typeface="Calibri"/>
              </a:rPr>
              <a:t>REAL (today)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234440"/>
          <a:ext cx="7863840" cy="13990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02920"/>
                <a:gridCol w="502920"/>
                <a:gridCol w="777240"/>
                <a:gridCol w="777240"/>
                <a:gridCol w="502920"/>
                <a:gridCol w="777240"/>
                <a:gridCol w="777240"/>
                <a:gridCol w="502920"/>
                <a:gridCol w="777240"/>
                <a:gridCol w="777240"/>
                <a:gridCol w="1188720"/>
              </a:tblGrid>
              <a:tr h="233172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Mo</a:t>
                      </a:r>
                    </a:p>
                  </a:txBody>
                  <a:tcPr>
                    <a:solidFill>
                      <a:srgbClr val="1F4E78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NB#</a:t>
                      </a:r>
                    </a:p>
                  </a:txBody>
                  <a:tcPr>
                    <a:solidFill>
                      <a:srgbClr val="1F4E78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NB $W</a:t>
                      </a:r>
                    </a:p>
                  </a:txBody>
                  <a:tcPr>
                    <a:solidFill>
                      <a:srgbClr val="1F4E78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NB $C</a:t>
                      </a:r>
                    </a:p>
                  </a:txBody>
                  <a:tcPr>
                    <a:solidFill>
                      <a:srgbClr val="1F4E78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RWR#</a:t>
                      </a:r>
                    </a:p>
                  </a:txBody>
                  <a:tcPr>
                    <a:solidFill>
                      <a:srgbClr val="1F4E78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RWR $W</a:t>
                      </a:r>
                    </a:p>
                  </a:txBody>
                  <a:tcPr>
                    <a:solidFill>
                      <a:srgbClr val="1F4E78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RWR $C</a:t>
                      </a:r>
                    </a:p>
                  </a:txBody>
                  <a:tcPr>
                    <a:solidFill>
                      <a:srgbClr val="1F4E78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REN#</a:t>
                      </a:r>
                    </a:p>
                  </a:txBody>
                  <a:tcPr>
                    <a:solidFill>
                      <a:srgbClr val="1F4E78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REN $W</a:t>
                      </a:r>
                    </a:p>
                  </a:txBody>
                  <a:tcPr>
                    <a:solidFill>
                      <a:srgbClr val="1F4E78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REN $C</a:t>
                      </a:r>
                    </a:p>
                  </a:txBody>
                  <a:tcPr>
                    <a:solidFill>
                      <a:srgbClr val="1F4E78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Plan B WITH MIN</a:t>
                      </a:r>
                    </a:p>
                  </a:txBody>
                  <a:tcPr>
                    <a:solidFill>
                      <a:srgbClr val="1F4E78"/>
                    </a:solidFill>
                  </a:tcPr>
                </a:tc>
              </a:tr>
              <a:tr h="233172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101010"/>
                          </a:solidFill>
                          <a:latin typeface="Calibri"/>
                        </a:rPr>
                        <a:t>Jan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31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$37k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$7.7k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48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$63k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$11.9k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$0k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$0.0k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33172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101010"/>
                          </a:solidFill>
                          <a:latin typeface="Calibri"/>
                        </a:rPr>
                        <a:t>Feb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13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$8k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$2.1k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37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$50k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$6.8k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$1k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$0.1k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$9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33172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101010"/>
                          </a:solidFill>
                          <a:latin typeface="Calibri"/>
                        </a:rPr>
                        <a:t>Mar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28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$40k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$5.7k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48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$57k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$8.6k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$1k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$0.2k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$9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33172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101010"/>
                          </a:solidFill>
                          <a:latin typeface="Calibri"/>
                        </a:rPr>
                        <a:t>Apr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15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$19k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$4.3k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37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$43k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$7.7k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$0k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$0.0k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33172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101010"/>
                          </a:solidFill>
                          <a:latin typeface="Calibri"/>
                        </a:rPr>
                        <a:t>TOT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87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$104k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$20k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170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$214k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$35k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$2k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$0k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$19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320040" y="2743200"/>
            <a:ext cx="11612880" cy="256032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200" b="1" i="0">
                <a:solidFill>
                  <a:srgbClr val="2E75B6"/>
                </a:solidFill>
                <a:latin typeface="Calibri"/>
              </a:rPr>
              <a:t>50% SWAP (RWR-&gt;REN)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20040" y="3017520"/>
          <a:ext cx="7863840" cy="13990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02920"/>
                <a:gridCol w="502920"/>
                <a:gridCol w="777240"/>
                <a:gridCol w="777240"/>
                <a:gridCol w="502920"/>
                <a:gridCol w="777240"/>
                <a:gridCol w="777240"/>
                <a:gridCol w="502920"/>
                <a:gridCol w="777240"/>
                <a:gridCol w="777240"/>
                <a:gridCol w="1188720"/>
              </a:tblGrid>
              <a:tr h="233172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Mo</a:t>
                      </a:r>
                    </a:p>
                  </a:txBody>
                  <a:tcPr>
                    <a:solidFill>
                      <a:srgbClr val="2E75B6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NB#</a:t>
                      </a:r>
                    </a:p>
                  </a:txBody>
                  <a:tcPr>
                    <a:solidFill>
                      <a:srgbClr val="2E75B6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NB $W</a:t>
                      </a:r>
                    </a:p>
                  </a:txBody>
                  <a:tcPr>
                    <a:solidFill>
                      <a:srgbClr val="2E75B6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NB $C</a:t>
                      </a:r>
                    </a:p>
                  </a:txBody>
                  <a:tcPr>
                    <a:solidFill>
                      <a:srgbClr val="2E75B6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RWR#</a:t>
                      </a:r>
                    </a:p>
                  </a:txBody>
                  <a:tcPr>
                    <a:solidFill>
                      <a:srgbClr val="2E75B6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RWR $W</a:t>
                      </a:r>
                    </a:p>
                  </a:txBody>
                  <a:tcPr>
                    <a:solidFill>
                      <a:srgbClr val="2E75B6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RWR $C</a:t>
                      </a:r>
                    </a:p>
                  </a:txBody>
                  <a:tcPr>
                    <a:solidFill>
                      <a:srgbClr val="2E75B6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REN#</a:t>
                      </a:r>
                    </a:p>
                  </a:txBody>
                  <a:tcPr>
                    <a:solidFill>
                      <a:srgbClr val="2E75B6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REN $W</a:t>
                      </a:r>
                    </a:p>
                  </a:txBody>
                  <a:tcPr>
                    <a:solidFill>
                      <a:srgbClr val="2E75B6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REN $C</a:t>
                      </a:r>
                    </a:p>
                  </a:txBody>
                  <a:tcPr>
                    <a:solidFill>
                      <a:srgbClr val="2E75B6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Plan B WITH MIN</a:t>
                      </a:r>
                    </a:p>
                  </a:txBody>
                  <a:tcPr>
                    <a:solidFill>
                      <a:srgbClr val="2E75B6"/>
                    </a:solidFill>
                  </a:tcPr>
                </a:tc>
              </a:tr>
              <a:tr h="233172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101010"/>
                          </a:solidFill>
                          <a:latin typeface="Calibri"/>
                        </a:rPr>
                        <a:t>Jan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31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$37k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$7.7k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24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$32k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$5.9k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24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$32k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$5.9k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$312</a:t>
                      </a:r>
                    </a:p>
                  </a:txBody>
                  <a:tcPr>
                    <a:solidFill>
                      <a:srgbClr val="BDD7EE"/>
                    </a:solidFill>
                  </a:tcPr>
                </a:tc>
              </a:tr>
              <a:tr h="233172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101010"/>
                          </a:solidFill>
                          <a:latin typeface="Calibri"/>
                        </a:rPr>
                        <a:t>Feb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13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$8k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$2.1k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19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$25k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$3.4k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19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$26k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$3.5k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$244</a:t>
                      </a:r>
                    </a:p>
                  </a:txBody>
                  <a:tcPr>
                    <a:solidFill>
                      <a:srgbClr val="BDD7EE"/>
                    </a:solidFill>
                  </a:tcPr>
                </a:tc>
              </a:tr>
              <a:tr h="233172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101010"/>
                          </a:solidFill>
                          <a:latin typeface="Calibri"/>
                        </a:rPr>
                        <a:t>Mar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28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$40k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$5.7k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24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$28k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$4.3k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25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$29k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$4.5k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$255</a:t>
                      </a:r>
                    </a:p>
                  </a:txBody>
                  <a:tcPr>
                    <a:solidFill>
                      <a:srgbClr val="BDD7EE"/>
                    </a:solidFill>
                  </a:tcPr>
                </a:tc>
              </a:tr>
              <a:tr h="233172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101010"/>
                          </a:solidFill>
                          <a:latin typeface="Calibri"/>
                        </a:rPr>
                        <a:t>Apr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15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$19k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$4.3k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19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$22k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$3.8k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18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$22k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$3.8k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$223</a:t>
                      </a:r>
                    </a:p>
                  </a:txBody>
                  <a:tcPr>
                    <a:solidFill>
                      <a:srgbClr val="BDD7EE"/>
                    </a:solidFill>
                  </a:tcPr>
                </a:tc>
              </a:tr>
              <a:tr h="233172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101010"/>
                          </a:solidFill>
                          <a:latin typeface="Calibri"/>
                        </a:rPr>
                        <a:t>TOT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87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$104k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$20k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86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$107k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$17k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86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$109k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$18k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$1034</a:t>
                      </a:r>
                    </a:p>
                  </a:txBody>
                  <a:tcPr>
                    <a:solidFill>
                      <a:srgbClr val="BDD7EE"/>
                    </a:solidFill>
                  </a:tcPr>
                </a:tc>
              </a:tr>
            </a:tbl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320040" y="4526280"/>
            <a:ext cx="11612880" cy="256032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200" b="1" i="0">
                <a:solidFill>
                  <a:srgbClr val="BF9000"/>
                </a:solidFill>
                <a:latin typeface="Calibri"/>
              </a:rPr>
              <a:t>100% FLIP (RWR&lt;-&gt;REN)</a:t>
            </a:r>
          </a:p>
        </p:txBody>
      </p:sp>
      <p:graphicFrame>
        <p:nvGraphicFramePr>
          <p:cNvPr id="13" name="Table 12"/>
          <p:cNvGraphicFramePr>
            <a:graphicFrameLocks noGrp="1"/>
          </p:cNvGraphicFramePr>
          <p:nvPr/>
        </p:nvGraphicFramePr>
        <p:xfrm>
          <a:off x="320040" y="4800600"/>
          <a:ext cx="7863840" cy="13990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02920"/>
                <a:gridCol w="502920"/>
                <a:gridCol w="777240"/>
                <a:gridCol w="777240"/>
                <a:gridCol w="502920"/>
                <a:gridCol w="777240"/>
                <a:gridCol w="777240"/>
                <a:gridCol w="502920"/>
                <a:gridCol w="777240"/>
                <a:gridCol w="777240"/>
                <a:gridCol w="1188720"/>
              </a:tblGrid>
              <a:tr h="233172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Mo</a:t>
                      </a:r>
                    </a:p>
                  </a:txBody>
                  <a:tcPr>
                    <a:solidFill>
                      <a:srgbClr val="BF9000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NB#</a:t>
                      </a:r>
                    </a:p>
                  </a:txBody>
                  <a:tcPr>
                    <a:solidFill>
                      <a:srgbClr val="BF9000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NB $W</a:t>
                      </a:r>
                    </a:p>
                  </a:txBody>
                  <a:tcPr>
                    <a:solidFill>
                      <a:srgbClr val="BF9000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NB $C</a:t>
                      </a:r>
                    </a:p>
                  </a:txBody>
                  <a:tcPr>
                    <a:solidFill>
                      <a:srgbClr val="BF9000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RWR#</a:t>
                      </a:r>
                    </a:p>
                  </a:txBody>
                  <a:tcPr>
                    <a:solidFill>
                      <a:srgbClr val="BF9000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RWR $W</a:t>
                      </a:r>
                    </a:p>
                  </a:txBody>
                  <a:tcPr>
                    <a:solidFill>
                      <a:srgbClr val="BF9000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RWR $C</a:t>
                      </a:r>
                    </a:p>
                  </a:txBody>
                  <a:tcPr>
                    <a:solidFill>
                      <a:srgbClr val="BF9000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REN#</a:t>
                      </a:r>
                    </a:p>
                  </a:txBody>
                  <a:tcPr>
                    <a:solidFill>
                      <a:srgbClr val="BF9000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REN $W</a:t>
                      </a:r>
                    </a:p>
                  </a:txBody>
                  <a:tcPr>
                    <a:solidFill>
                      <a:srgbClr val="BF9000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REN $C</a:t>
                      </a:r>
                    </a:p>
                  </a:txBody>
                  <a:tcPr>
                    <a:solidFill>
                      <a:srgbClr val="BF9000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Plan B WITH MIN</a:t>
                      </a:r>
                    </a:p>
                  </a:txBody>
                  <a:tcPr>
                    <a:solidFill>
                      <a:srgbClr val="BF9000"/>
                    </a:solidFill>
                  </a:tcPr>
                </a:tc>
              </a:tr>
              <a:tr h="233172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101010"/>
                          </a:solidFill>
                          <a:latin typeface="Calibri"/>
                        </a:rPr>
                        <a:t>Jan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31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$37k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$7.7k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$0k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$0.0k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48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$63k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$11.9k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$624</a:t>
                      </a:r>
                    </a:p>
                  </a:txBody>
                  <a:tcPr>
                    <a:solidFill>
                      <a:srgbClr val="FFF2CC"/>
                    </a:solidFill>
                  </a:tcPr>
                </a:tc>
              </a:tr>
              <a:tr h="233172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101010"/>
                          </a:solidFill>
                          <a:latin typeface="Calibri"/>
                        </a:rPr>
                        <a:t>Feb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13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$8k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$2.1k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$1k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$0.1k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37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$50k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$6.8k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$472</a:t>
                      </a:r>
                    </a:p>
                  </a:txBody>
                  <a:tcPr>
                    <a:solidFill>
                      <a:srgbClr val="FFF2CC"/>
                    </a:solidFill>
                  </a:tcPr>
                </a:tc>
              </a:tr>
              <a:tr h="233172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101010"/>
                          </a:solidFill>
                          <a:latin typeface="Calibri"/>
                        </a:rPr>
                        <a:t>Mar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28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$40k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$5.7k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$1k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$0.2k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48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$57k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$8.6k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$492</a:t>
                      </a:r>
                    </a:p>
                  </a:txBody>
                  <a:tcPr>
                    <a:solidFill>
                      <a:srgbClr val="FFF2CC"/>
                    </a:solidFill>
                  </a:tcPr>
                </a:tc>
              </a:tr>
              <a:tr h="233172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101010"/>
                          </a:solidFill>
                          <a:latin typeface="Calibri"/>
                        </a:rPr>
                        <a:t>Apr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15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$19k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$4.3k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$0k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$0.0k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37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$43k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$7.7k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$377</a:t>
                      </a:r>
                    </a:p>
                  </a:txBody>
                  <a:tcPr>
                    <a:solidFill>
                      <a:srgbClr val="FFF2CC"/>
                    </a:solidFill>
                  </a:tcPr>
                </a:tc>
              </a:tr>
              <a:tr h="233172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101010"/>
                          </a:solidFill>
                          <a:latin typeface="Calibri"/>
                        </a:rPr>
                        <a:t>TOT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87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$104k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$20k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$2k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$0k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170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$214k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$35k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$1965</a:t>
                      </a:r>
                    </a:p>
                  </a:txBody>
                  <a:tcPr>
                    <a:solidFill>
                      <a:srgbClr val="FFF2CC"/>
                    </a:solidFill>
                  </a:tcPr>
                </a:tc>
              </a:tr>
            </a:tbl>
          </a:graphicData>
        </a:graphic>
      </p:graphicFrame>
      <p:sp>
        <p:nvSpPr>
          <p:cNvPr id="14" name="TextBox 13"/>
          <p:cNvSpPr txBox="1"/>
          <p:nvPr/>
        </p:nvSpPr>
        <p:spPr>
          <a:xfrm>
            <a:off x="320040" y="6400800"/>
            <a:ext cx="11612880" cy="210312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ctr"/>
            <a:r>
              <a:rPr sz="1100" b="1" i="1">
                <a:solidFill>
                  <a:srgbClr val="1F4E78"/>
                </a:solidFill>
                <a:latin typeface="Calibri"/>
              </a:rPr>
              <a:t>Today's current plan pays $2,370. Plan B WITH MIN: REAL $19 | SWAP $1,034 | FLIP $1,965.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868680"/>
          </a:xfrm>
          <a:prstGeom prst="rect">
            <a:avLst/>
          </a:prstGeom>
          <a:solidFill>
            <a:srgbClr val="1F4E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09728"/>
            <a:ext cx="11430000" cy="45720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  <a:latin typeface="Calibri"/>
              </a:rPr>
              <a:t>Flavia Parra - Month by Month, All Three Scenarios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530352"/>
            <a:ext cx="11430000" cy="32004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1200" b="0" i="1">
                <a:solidFill>
                  <a:srgbClr val="BDD7EE"/>
                </a:solidFill>
                <a:latin typeface="Calibri"/>
              </a:rPr>
              <a:t>All values are Plan B WITH MIN (recommended). $W = written premium, $C = collected.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647688"/>
            <a:ext cx="12188952" cy="210312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6647688"/>
            <a:ext cx="7315200" cy="210312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1000" b="0" i="0">
                <a:solidFill>
                  <a:srgbClr val="404040"/>
                </a:solidFill>
                <a:latin typeface="Calibri"/>
              </a:rPr>
              <a:t>Fiesta Bonus Plan - Ownership Decision Deck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38560" y="6647688"/>
            <a:ext cx="731520" cy="210312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ctr">
            <a:spAutoFit/>
          </a:bodyPr>
          <a:lstStyle/>
          <a:p>
            <a:pPr algn="r"/>
            <a:r>
              <a:rPr sz="1000" b="0" i="0">
                <a:solidFill>
                  <a:srgbClr val="404040"/>
                </a:solidFill>
                <a:latin typeface="Calibri"/>
              </a:rPr>
              <a:t>15 / 22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" y="960120"/>
            <a:ext cx="11612880" cy="256032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200" b="1" i="0">
                <a:solidFill>
                  <a:srgbClr val="1F4E78"/>
                </a:solidFill>
                <a:latin typeface="Calibri"/>
              </a:rPr>
              <a:t>REAL (today)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234440"/>
          <a:ext cx="7863840" cy="13990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02920"/>
                <a:gridCol w="502920"/>
                <a:gridCol w="777240"/>
                <a:gridCol w="777240"/>
                <a:gridCol w="502920"/>
                <a:gridCol w="777240"/>
                <a:gridCol w="777240"/>
                <a:gridCol w="502920"/>
                <a:gridCol w="777240"/>
                <a:gridCol w="777240"/>
                <a:gridCol w="1188720"/>
              </a:tblGrid>
              <a:tr h="233172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Mo</a:t>
                      </a:r>
                    </a:p>
                  </a:txBody>
                  <a:tcPr>
                    <a:solidFill>
                      <a:srgbClr val="1F4E78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NB#</a:t>
                      </a:r>
                    </a:p>
                  </a:txBody>
                  <a:tcPr>
                    <a:solidFill>
                      <a:srgbClr val="1F4E78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NB $W</a:t>
                      </a:r>
                    </a:p>
                  </a:txBody>
                  <a:tcPr>
                    <a:solidFill>
                      <a:srgbClr val="1F4E78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NB $C</a:t>
                      </a:r>
                    </a:p>
                  </a:txBody>
                  <a:tcPr>
                    <a:solidFill>
                      <a:srgbClr val="1F4E78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RWR#</a:t>
                      </a:r>
                    </a:p>
                  </a:txBody>
                  <a:tcPr>
                    <a:solidFill>
                      <a:srgbClr val="1F4E78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RWR $W</a:t>
                      </a:r>
                    </a:p>
                  </a:txBody>
                  <a:tcPr>
                    <a:solidFill>
                      <a:srgbClr val="1F4E78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RWR $C</a:t>
                      </a:r>
                    </a:p>
                  </a:txBody>
                  <a:tcPr>
                    <a:solidFill>
                      <a:srgbClr val="1F4E78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REN#</a:t>
                      </a:r>
                    </a:p>
                  </a:txBody>
                  <a:tcPr>
                    <a:solidFill>
                      <a:srgbClr val="1F4E78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REN $W</a:t>
                      </a:r>
                    </a:p>
                  </a:txBody>
                  <a:tcPr>
                    <a:solidFill>
                      <a:srgbClr val="1F4E78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REN $C</a:t>
                      </a:r>
                    </a:p>
                  </a:txBody>
                  <a:tcPr>
                    <a:solidFill>
                      <a:srgbClr val="1F4E78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Plan B WITH MIN</a:t>
                      </a:r>
                    </a:p>
                  </a:txBody>
                  <a:tcPr>
                    <a:solidFill>
                      <a:srgbClr val="1F4E78"/>
                    </a:solidFill>
                  </a:tcPr>
                </a:tc>
              </a:tr>
              <a:tr h="233172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101010"/>
                          </a:solidFill>
                          <a:latin typeface="Calibri"/>
                        </a:rPr>
                        <a:t>Jan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19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$29k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$5.7k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35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$40k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$8.8k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$1k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$0.3k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$14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33172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101010"/>
                          </a:solidFill>
                          <a:latin typeface="Calibri"/>
                        </a:rPr>
                        <a:t>Feb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23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$22k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$3.8k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42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$44k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$13.8k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$2k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$0.3k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$19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33172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101010"/>
                          </a:solidFill>
                          <a:latin typeface="Calibri"/>
                        </a:rPr>
                        <a:t>Mar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27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$31k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$8.6k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27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$24k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$9.1k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$0k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$0.0k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33172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101010"/>
                          </a:solidFill>
                          <a:latin typeface="Calibri"/>
                        </a:rPr>
                        <a:t>Apr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23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$30k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$6.6k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31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$31k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$7.7k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$1k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$0.9k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$10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33172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101010"/>
                          </a:solidFill>
                          <a:latin typeface="Calibri"/>
                        </a:rPr>
                        <a:t>TOT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92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$112k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$25k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135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$138k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$39k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$4k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$2k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$43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320040" y="2743200"/>
            <a:ext cx="11612880" cy="256032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200" b="1" i="0">
                <a:solidFill>
                  <a:srgbClr val="2E75B6"/>
                </a:solidFill>
                <a:latin typeface="Calibri"/>
              </a:rPr>
              <a:t>50% SWAP (RWR-&gt;REN)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20040" y="3017520"/>
          <a:ext cx="7863840" cy="13990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02920"/>
                <a:gridCol w="502920"/>
                <a:gridCol w="777240"/>
                <a:gridCol w="777240"/>
                <a:gridCol w="502920"/>
                <a:gridCol w="777240"/>
                <a:gridCol w="777240"/>
                <a:gridCol w="502920"/>
                <a:gridCol w="777240"/>
                <a:gridCol w="777240"/>
                <a:gridCol w="1188720"/>
              </a:tblGrid>
              <a:tr h="233172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Mo</a:t>
                      </a:r>
                    </a:p>
                  </a:txBody>
                  <a:tcPr>
                    <a:solidFill>
                      <a:srgbClr val="2E75B6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NB#</a:t>
                      </a:r>
                    </a:p>
                  </a:txBody>
                  <a:tcPr>
                    <a:solidFill>
                      <a:srgbClr val="2E75B6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NB $W</a:t>
                      </a:r>
                    </a:p>
                  </a:txBody>
                  <a:tcPr>
                    <a:solidFill>
                      <a:srgbClr val="2E75B6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NB $C</a:t>
                      </a:r>
                    </a:p>
                  </a:txBody>
                  <a:tcPr>
                    <a:solidFill>
                      <a:srgbClr val="2E75B6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RWR#</a:t>
                      </a:r>
                    </a:p>
                  </a:txBody>
                  <a:tcPr>
                    <a:solidFill>
                      <a:srgbClr val="2E75B6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RWR $W</a:t>
                      </a:r>
                    </a:p>
                  </a:txBody>
                  <a:tcPr>
                    <a:solidFill>
                      <a:srgbClr val="2E75B6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RWR $C</a:t>
                      </a:r>
                    </a:p>
                  </a:txBody>
                  <a:tcPr>
                    <a:solidFill>
                      <a:srgbClr val="2E75B6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REN#</a:t>
                      </a:r>
                    </a:p>
                  </a:txBody>
                  <a:tcPr>
                    <a:solidFill>
                      <a:srgbClr val="2E75B6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REN $W</a:t>
                      </a:r>
                    </a:p>
                  </a:txBody>
                  <a:tcPr>
                    <a:solidFill>
                      <a:srgbClr val="2E75B6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REN $C</a:t>
                      </a:r>
                    </a:p>
                  </a:txBody>
                  <a:tcPr>
                    <a:solidFill>
                      <a:srgbClr val="2E75B6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Plan B WITH MIN</a:t>
                      </a:r>
                    </a:p>
                  </a:txBody>
                  <a:tcPr>
                    <a:solidFill>
                      <a:srgbClr val="2E75B6"/>
                    </a:solidFill>
                  </a:tcPr>
                </a:tc>
              </a:tr>
              <a:tr h="233172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101010"/>
                          </a:solidFill>
                          <a:latin typeface="Calibri"/>
                        </a:rPr>
                        <a:t>Jan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19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$29k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$5.7k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17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$20k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$4.4k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19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$21k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$4.7k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$193</a:t>
                      </a:r>
                    </a:p>
                  </a:txBody>
                  <a:tcPr>
                    <a:solidFill>
                      <a:srgbClr val="BDD7EE"/>
                    </a:solidFill>
                  </a:tcPr>
                </a:tc>
              </a:tr>
              <a:tr h="233172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101010"/>
                          </a:solidFill>
                          <a:latin typeface="Calibri"/>
                        </a:rPr>
                        <a:t>Feb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23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$22k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$3.8k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21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$22k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$6.9k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23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$24k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$7.2k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$240</a:t>
                      </a:r>
                    </a:p>
                  </a:txBody>
                  <a:tcPr>
                    <a:solidFill>
                      <a:srgbClr val="BDD7EE"/>
                    </a:solidFill>
                  </a:tcPr>
                </a:tc>
              </a:tr>
              <a:tr h="233172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101010"/>
                          </a:solidFill>
                          <a:latin typeface="Calibri"/>
                        </a:rPr>
                        <a:t>Mar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27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$31k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$8.6k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13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$12k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$4.5k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14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$12k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$4.5k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$124</a:t>
                      </a:r>
                    </a:p>
                  </a:txBody>
                  <a:tcPr>
                    <a:solidFill>
                      <a:srgbClr val="BDD7EE"/>
                    </a:solidFill>
                  </a:tcPr>
                </a:tc>
              </a:tr>
              <a:tr h="233172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101010"/>
                          </a:solidFill>
                          <a:latin typeface="Calibri"/>
                        </a:rPr>
                        <a:t>Apr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23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$30k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$6.6k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15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$15k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$3.9k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17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$16k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$4.7k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$166</a:t>
                      </a:r>
                    </a:p>
                  </a:txBody>
                  <a:tcPr>
                    <a:solidFill>
                      <a:srgbClr val="BDD7EE"/>
                    </a:solidFill>
                  </a:tcPr>
                </a:tc>
              </a:tr>
              <a:tr h="233172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101010"/>
                          </a:solidFill>
                          <a:latin typeface="Calibri"/>
                        </a:rPr>
                        <a:t>TOT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92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$112k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$25k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66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$69k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$20k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73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$73k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$21k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$724</a:t>
                      </a:r>
                    </a:p>
                  </a:txBody>
                  <a:tcPr>
                    <a:solidFill>
                      <a:srgbClr val="BDD7EE"/>
                    </a:solidFill>
                  </a:tcPr>
                </a:tc>
              </a:tr>
            </a:tbl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320040" y="4526280"/>
            <a:ext cx="11612880" cy="256032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200" b="1" i="0">
                <a:solidFill>
                  <a:srgbClr val="BF9000"/>
                </a:solidFill>
                <a:latin typeface="Calibri"/>
              </a:rPr>
              <a:t>100% FLIP (RWR&lt;-&gt;REN)</a:t>
            </a:r>
          </a:p>
        </p:txBody>
      </p:sp>
      <p:graphicFrame>
        <p:nvGraphicFramePr>
          <p:cNvPr id="13" name="Table 12"/>
          <p:cNvGraphicFramePr>
            <a:graphicFrameLocks noGrp="1"/>
          </p:cNvGraphicFramePr>
          <p:nvPr/>
        </p:nvGraphicFramePr>
        <p:xfrm>
          <a:off x="320040" y="4800600"/>
          <a:ext cx="7863840" cy="13990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02920"/>
                <a:gridCol w="502920"/>
                <a:gridCol w="777240"/>
                <a:gridCol w="777240"/>
                <a:gridCol w="502920"/>
                <a:gridCol w="777240"/>
                <a:gridCol w="777240"/>
                <a:gridCol w="502920"/>
                <a:gridCol w="777240"/>
                <a:gridCol w="777240"/>
                <a:gridCol w="1188720"/>
              </a:tblGrid>
              <a:tr h="233172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Mo</a:t>
                      </a:r>
                    </a:p>
                  </a:txBody>
                  <a:tcPr>
                    <a:solidFill>
                      <a:srgbClr val="BF9000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NB#</a:t>
                      </a:r>
                    </a:p>
                  </a:txBody>
                  <a:tcPr>
                    <a:solidFill>
                      <a:srgbClr val="BF9000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NB $W</a:t>
                      </a:r>
                    </a:p>
                  </a:txBody>
                  <a:tcPr>
                    <a:solidFill>
                      <a:srgbClr val="BF9000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NB $C</a:t>
                      </a:r>
                    </a:p>
                  </a:txBody>
                  <a:tcPr>
                    <a:solidFill>
                      <a:srgbClr val="BF9000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RWR#</a:t>
                      </a:r>
                    </a:p>
                  </a:txBody>
                  <a:tcPr>
                    <a:solidFill>
                      <a:srgbClr val="BF9000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RWR $W</a:t>
                      </a:r>
                    </a:p>
                  </a:txBody>
                  <a:tcPr>
                    <a:solidFill>
                      <a:srgbClr val="BF9000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RWR $C</a:t>
                      </a:r>
                    </a:p>
                  </a:txBody>
                  <a:tcPr>
                    <a:solidFill>
                      <a:srgbClr val="BF9000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REN#</a:t>
                      </a:r>
                    </a:p>
                  </a:txBody>
                  <a:tcPr>
                    <a:solidFill>
                      <a:srgbClr val="BF9000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REN $W</a:t>
                      </a:r>
                    </a:p>
                  </a:txBody>
                  <a:tcPr>
                    <a:solidFill>
                      <a:srgbClr val="BF9000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REN $C</a:t>
                      </a:r>
                    </a:p>
                  </a:txBody>
                  <a:tcPr>
                    <a:solidFill>
                      <a:srgbClr val="BF9000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Plan B WITH MIN</a:t>
                      </a:r>
                    </a:p>
                  </a:txBody>
                  <a:tcPr>
                    <a:solidFill>
                      <a:srgbClr val="BF9000"/>
                    </a:solidFill>
                  </a:tcPr>
                </a:tc>
              </a:tr>
              <a:tr h="233172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101010"/>
                          </a:solidFill>
                          <a:latin typeface="Calibri"/>
                        </a:rPr>
                        <a:t>Jan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19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$29k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$5.7k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$1k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$0.3k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35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$40k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$8.8k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$358</a:t>
                      </a:r>
                    </a:p>
                  </a:txBody>
                  <a:tcPr>
                    <a:solidFill>
                      <a:srgbClr val="FFF2CC"/>
                    </a:solidFill>
                  </a:tcPr>
                </a:tc>
              </a:tr>
              <a:tr h="233172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101010"/>
                          </a:solidFill>
                          <a:latin typeface="Calibri"/>
                        </a:rPr>
                        <a:t>Feb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23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$22k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$3.8k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$2k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$0.3k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42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$44k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$13.8k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$438</a:t>
                      </a:r>
                    </a:p>
                  </a:txBody>
                  <a:tcPr>
                    <a:solidFill>
                      <a:srgbClr val="FFF2CC"/>
                    </a:solidFill>
                  </a:tcPr>
                </a:tc>
              </a:tr>
              <a:tr h="233172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101010"/>
                          </a:solidFill>
                          <a:latin typeface="Calibri"/>
                        </a:rPr>
                        <a:t>Mar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27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$31k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$8.6k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$0k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$0.0k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27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$24k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$9.1k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$246</a:t>
                      </a:r>
                    </a:p>
                  </a:txBody>
                  <a:tcPr>
                    <a:solidFill>
                      <a:srgbClr val="FFF2CC"/>
                    </a:solidFill>
                  </a:tcPr>
                </a:tc>
              </a:tr>
              <a:tr h="233172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101010"/>
                          </a:solidFill>
                          <a:latin typeface="Calibri"/>
                        </a:rPr>
                        <a:t>Apr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23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$30k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$6.6k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$1k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$0.9k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31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$31k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$7.7k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$312</a:t>
                      </a:r>
                    </a:p>
                  </a:txBody>
                  <a:tcPr>
                    <a:solidFill>
                      <a:srgbClr val="FFF2CC"/>
                    </a:solidFill>
                  </a:tcPr>
                </a:tc>
              </a:tr>
              <a:tr h="233172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101010"/>
                          </a:solidFill>
                          <a:latin typeface="Calibri"/>
                        </a:rPr>
                        <a:t>TOT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92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$112k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$25k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$4k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$2k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135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$138k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$39k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$1354</a:t>
                      </a:r>
                    </a:p>
                  </a:txBody>
                  <a:tcPr>
                    <a:solidFill>
                      <a:srgbClr val="FFF2CC"/>
                    </a:solidFill>
                  </a:tcPr>
                </a:tc>
              </a:tr>
            </a:tbl>
          </a:graphicData>
        </a:graphic>
      </p:graphicFrame>
      <p:sp>
        <p:nvSpPr>
          <p:cNvPr id="14" name="TextBox 13"/>
          <p:cNvSpPr txBox="1"/>
          <p:nvPr/>
        </p:nvSpPr>
        <p:spPr>
          <a:xfrm>
            <a:off x="320040" y="6400800"/>
            <a:ext cx="11612880" cy="210312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ctr"/>
            <a:r>
              <a:rPr sz="1100" b="1" i="1">
                <a:solidFill>
                  <a:srgbClr val="1F4E78"/>
                </a:solidFill>
                <a:latin typeface="Calibri"/>
              </a:rPr>
              <a:t>Today's current plan pays $2,070. Plan B WITH MIN: REAL $43 | SWAP $724 | FLIP $1,354.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868680"/>
          </a:xfrm>
          <a:prstGeom prst="rect">
            <a:avLst/>
          </a:prstGeom>
          <a:solidFill>
            <a:srgbClr val="1F4E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09728"/>
            <a:ext cx="11430000" cy="45720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  <a:latin typeface="Calibri"/>
              </a:rPr>
              <a:t>Thalia Rojas - Month by Month, All Three Scenarios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530352"/>
            <a:ext cx="11430000" cy="32004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1200" b="0" i="1">
                <a:solidFill>
                  <a:srgbClr val="BDD7EE"/>
                </a:solidFill>
                <a:latin typeface="Calibri"/>
              </a:rPr>
              <a:t>All values are Plan B WITH MIN (recommended). $W = written premium, $C = collected.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647688"/>
            <a:ext cx="12188952" cy="210312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6647688"/>
            <a:ext cx="7315200" cy="210312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1000" b="0" i="0">
                <a:solidFill>
                  <a:srgbClr val="404040"/>
                </a:solidFill>
                <a:latin typeface="Calibri"/>
              </a:rPr>
              <a:t>Fiesta Bonus Plan - Ownership Decision Deck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38560" y="6647688"/>
            <a:ext cx="731520" cy="210312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ctr">
            <a:spAutoFit/>
          </a:bodyPr>
          <a:lstStyle/>
          <a:p>
            <a:pPr algn="r"/>
            <a:r>
              <a:rPr sz="1000" b="0" i="0">
                <a:solidFill>
                  <a:srgbClr val="404040"/>
                </a:solidFill>
                <a:latin typeface="Calibri"/>
              </a:rPr>
              <a:t>16 / 22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" y="960120"/>
            <a:ext cx="11612880" cy="256032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200" b="1" i="0">
                <a:solidFill>
                  <a:srgbClr val="1F4E78"/>
                </a:solidFill>
                <a:latin typeface="Calibri"/>
              </a:rPr>
              <a:t>REAL (today)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234440"/>
          <a:ext cx="7863840" cy="13990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02920"/>
                <a:gridCol w="502920"/>
                <a:gridCol w="777240"/>
                <a:gridCol w="777240"/>
                <a:gridCol w="502920"/>
                <a:gridCol w="777240"/>
                <a:gridCol w="777240"/>
                <a:gridCol w="502920"/>
                <a:gridCol w="777240"/>
                <a:gridCol w="777240"/>
                <a:gridCol w="1188720"/>
              </a:tblGrid>
              <a:tr h="233172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Mo</a:t>
                      </a:r>
                    </a:p>
                  </a:txBody>
                  <a:tcPr>
                    <a:solidFill>
                      <a:srgbClr val="1F4E78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NB#</a:t>
                      </a:r>
                    </a:p>
                  </a:txBody>
                  <a:tcPr>
                    <a:solidFill>
                      <a:srgbClr val="1F4E78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NB $W</a:t>
                      </a:r>
                    </a:p>
                  </a:txBody>
                  <a:tcPr>
                    <a:solidFill>
                      <a:srgbClr val="1F4E78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NB $C</a:t>
                      </a:r>
                    </a:p>
                  </a:txBody>
                  <a:tcPr>
                    <a:solidFill>
                      <a:srgbClr val="1F4E78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RWR#</a:t>
                      </a:r>
                    </a:p>
                  </a:txBody>
                  <a:tcPr>
                    <a:solidFill>
                      <a:srgbClr val="1F4E78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RWR $W</a:t>
                      </a:r>
                    </a:p>
                  </a:txBody>
                  <a:tcPr>
                    <a:solidFill>
                      <a:srgbClr val="1F4E78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RWR $C</a:t>
                      </a:r>
                    </a:p>
                  </a:txBody>
                  <a:tcPr>
                    <a:solidFill>
                      <a:srgbClr val="1F4E78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REN#</a:t>
                      </a:r>
                    </a:p>
                  </a:txBody>
                  <a:tcPr>
                    <a:solidFill>
                      <a:srgbClr val="1F4E78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REN $W</a:t>
                      </a:r>
                    </a:p>
                  </a:txBody>
                  <a:tcPr>
                    <a:solidFill>
                      <a:srgbClr val="1F4E78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REN $C</a:t>
                      </a:r>
                    </a:p>
                  </a:txBody>
                  <a:tcPr>
                    <a:solidFill>
                      <a:srgbClr val="1F4E78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Plan B WITH MIN</a:t>
                      </a:r>
                    </a:p>
                  </a:txBody>
                  <a:tcPr>
                    <a:solidFill>
                      <a:srgbClr val="1F4E78"/>
                    </a:solidFill>
                  </a:tcPr>
                </a:tc>
              </a:tr>
              <a:tr h="233172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101010"/>
                          </a:solidFill>
                          <a:latin typeface="Calibri"/>
                        </a:rPr>
                        <a:t>Jan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10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$16k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$2.2k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28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$33k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$6.5k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$4k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$0.6k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$35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33172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101010"/>
                          </a:solidFill>
                          <a:latin typeface="Calibri"/>
                        </a:rPr>
                        <a:t>Feb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14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$19k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$3.6k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24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$28k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$5.3k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$7k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$3.3k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$80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33172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101010"/>
                          </a:solidFill>
                          <a:latin typeface="Calibri"/>
                        </a:rPr>
                        <a:t>Mar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19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$18k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$5.0k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19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$20k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$4.0k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$6k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$1.6k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$58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33172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101010"/>
                          </a:solidFill>
                          <a:latin typeface="Calibri"/>
                        </a:rPr>
                        <a:t>Apr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9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$14k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$3.9k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29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$40k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$7.7k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$4k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$3.1k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$41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33172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101010"/>
                          </a:solidFill>
                          <a:latin typeface="Calibri"/>
                        </a:rPr>
                        <a:t>TOT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52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$67k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$15k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100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$121k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$23k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18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$20k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$9k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$214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320040" y="2743200"/>
            <a:ext cx="11612880" cy="256032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200" b="1" i="0">
                <a:solidFill>
                  <a:srgbClr val="2E75B6"/>
                </a:solidFill>
                <a:latin typeface="Calibri"/>
              </a:rPr>
              <a:t>50% SWAP (RWR-&gt;REN)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20040" y="3017520"/>
          <a:ext cx="7863840" cy="13990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02920"/>
                <a:gridCol w="502920"/>
                <a:gridCol w="777240"/>
                <a:gridCol w="777240"/>
                <a:gridCol w="502920"/>
                <a:gridCol w="777240"/>
                <a:gridCol w="777240"/>
                <a:gridCol w="502920"/>
                <a:gridCol w="777240"/>
                <a:gridCol w="777240"/>
                <a:gridCol w="1188720"/>
              </a:tblGrid>
              <a:tr h="233172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Mo</a:t>
                      </a:r>
                    </a:p>
                  </a:txBody>
                  <a:tcPr>
                    <a:solidFill>
                      <a:srgbClr val="2E75B6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NB#</a:t>
                      </a:r>
                    </a:p>
                  </a:txBody>
                  <a:tcPr>
                    <a:solidFill>
                      <a:srgbClr val="2E75B6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NB $W</a:t>
                      </a:r>
                    </a:p>
                  </a:txBody>
                  <a:tcPr>
                    <a:solidFill>
                      <a:srgbClr val="2E75B6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NB $C</a:t>
                      </a:r>
                    </a:p>
                  </a:txBody>
                  <a:tcPr>
                    <a:solidFill>
                      <a:srgbClr val="2E75B6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RWR#</a:t>
                      </a:r>
                    </a:p>
                  </a:txBody>
                  <a:tcPr>
                    <a:solidFill>
                      <a:srgbClr val="2E75B6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RWR $W</a:t>
                      </a:r>
                    </a:p>
                  </a:txBody>
                  <a:tcPr>
                    <a:solidFill>
                      <a:srgbClr val="2E75B6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RWR $C</a:t>
                      </a:r>
                    </a:p>
                  </a:txBody>
                  <a:tcPr>
                    <a:solidFill>
                      <a:srgbClr val="2E75B6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REN#</a:t>
                      </a:r>
                    </a:p>
                  </a:txBody>
                  <a:tcPr>
                    <a:solidFill>
                      <a:srgbClr val="2E75B6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REN $W</a:t>
                      </a:r>
                    </a:p>
                  </a:txBody>
                  <a:tcPr>
                    <a:solidFill>
                      <a:srgbClr val="2E75B6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REN $C</a:t>
                      </a:r>
                    </a:p>
                  </a:txBody>
                  <a:tcPr>
                    <a:solidFill>
                      <a:srgbClr val="2E75B6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Plan B WITH MIN</a:t>
                      </a:r>
                    </a:p>
                  </a:txBody>
                  <a:tcPr>
                    <a:solidFill>
                      <a:srgbClr val="2E75B6"/>
                    </a:solidFill>
                  </a:tcPr>
                </a:tc>
              </a:tr>
              <a:tr h="233172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101010"/>
                          </a:solidFill>
                          <a:latin typeface="Calibri"/>
                        </a:rPr>
                        <a:t>Jan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10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$16k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$2.2k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14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$17k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$3.2k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18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$20k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$3.9k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$178</a:t>
                      </a:r>
                    </a:p>
                  </a:txBody>
                  <a:tcPr>
                    <a:solidFill>
                      <a:srgbClr val="BDD7EE"/>
                    </a:solidFill>
                  </a:tcPr>
                </a:tc>
              </a:tr>
              <a:tr h="233172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101010"/>
                          </a:solidFill>
                          <a:latin typeface="Calibri"/>
                        </a:rPr>
                        <a:t>Feb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14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$19k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$3.6k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12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$14k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$2.6k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17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$22k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$5.9k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$242</a:t>
                      </a:r>
                    </a:p>
                  </a:txBody>
                  <a:tcPr>
                    <a:solidFill>
                      <a:srgbClr val="BDD7EE"/>
                    </a:solidFill>
                  </a:tcPr>
                </a:tc>
              </a:tr>
              <a:tr h="233172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101010"/>
                          </a:solidFill>
                          <a:latin typeface="Calibri"/>
                        </a:rPr>
                        <a:t>Mar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19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$18k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$5.0k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$10k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$2.0k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16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$16k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$3.6k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$148</a:t>
                      </a:r>
                    </a:p>
                  </a:txBody>
                  <a:tcPr>
                    <a:solidFill>
                      <a:srgbClr val="BDD7EE"/>
                    </a:solidFill>
                  </a:tcPr>
                </a:tc>
              </a:tr>
              <a:tr h="233172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101010"/>
                          </a:solidFill>
                          <a:latin typeface="Calibri"/>
                        </a:rPr>
                        <a:t>Apr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9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$14k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$3.9k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15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$20k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$3.8k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17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$24k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$6.9k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$257</a:t>
                      </a:r>
                    </a:p>
                  </a:txBody>
                  <a:tcPr>
                    <a:solidFill>
                      <a:srgbClr val="BDD7EE"/>
                    </a:solidFill>
                  </a:tcPr>
                </a:tc>
              </a:tr>
              <a:tr h="233172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101010"/>
                          </a:solidFill>
                          <a:latin typeface="Calibri"/>
                        </a:rPr>
                        <a:t>TOT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52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$67k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$15k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50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$61k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$12k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68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$81k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$20k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$825</a:t>
                      </a:r>
                    </a:p>
                  </a:txBody>
                  <a:tcPr>
                    <a:solidFill>
                      <a:srgbClr val="BDD7EE"/>
                    </a:solidFill>
                  </a:tcPr>
                </a:tc>
              </a:tr>
            </a:tbl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320040" y="4526280"/>
            <a:ext cx="11612880" cy="256032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200" b="1" i="0">
                <a:solidFill>
                  <a:srgbClr val="BF9000"/>
                </a:solidFill>
                <a:latin typeface="Calibri"/>
              </a:rPr>
              <a:t>100% FLIP (RWR&lt;-&gt;REN)</a:t>
            </a:r>
          </a:p>
        </p:txBody>
      </p:sp>
      <p:graphicFrame>
        <p:nvGraphicFramePr>
          <p:cNvPr id="13" name="Table 12"/>
          <p:cNvGraphicFramePr>
            <a:graphicFrameLocks noGrp="1"/>
          </p:cNvGraphicFramePr>
          <p:nvPr/>
        </p:nvGraphicFramePr>
        <p:xfrm>
          <a:off x="320040" y="4800600"/>
          <a:ext cx="7863840" cy="13990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02920"/>
                <a:gridCol w="502920"/>
                <a:gridCol w="777240"/>
                <a:gridCol w="777240"/>
                <a:gridCol w="502920"/>
                <a:gridCol w="777240"/>
                <a:gridCol w="777240"/>
                <a:gridCol w="502920"/>
                <a:gridCol w="777240"/>
                <a:gridCol w="777240"/>
                <a:gridCol w="1188720"/>
              </a:tblGrid>
              <a:tr h="233172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Mo</a:t>
                      </a:r>
                    </a:p>
                  </a:txBody>
                  <a:tcPr>
                    <a:solidFill>
                      <a:srgbClr val="BF9000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NB#</a:t>
                      </a:r>
                    </a:p>
                  </a:txBody>
                  <a:tcPr>
                    <a:solidFill>
                      <a:srgbClr val="BF9000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NB $W</a:t>
                      </a:r>
                    </a:p>
                  </a:txBody>
                  <a:tcPr>
                    <a:solidFill>
                      <a:srgbClr val="BF9000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NB $C</a:t>
                      </a:r>
                    </a:p>
                  </a:txBody>
                  <a:tcPr>
                    <a:solidFill>
                      <a:srgbClr val="BF9000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RWR#</a:t>
                      </a:r>
                    </a:p>
                  </a:txBody>
                  <a:tcPr>
                    <a:solidFill>
                      <a:srgbClr val="BF9000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RWR $W</a:t>
                      </a:r>
                    </a:p>
                  </a:txBody>
                  <a:tcPr>
                    <a:solidFill>
                      <a:srgbClr val="BF9000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RWR $C</a:t>
                      </a:r>
                    </a:p>
                  </a:txBody>
                  <a:tcPr>
                    <a:solidFill>
                      <a:srgbClr val="BF9000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REN#</a:t>
                      </a:r>
                    </a:p>
                  </a:txBody>
                  <a:tcPr>
                    <a:solidFill>
                      <a:srgbClr val="BF9000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REN $W</a:t>
                      </a:r>
                    </a:p>
                  </a:txBody>
                  <a:tcPr>
                    <a:solidFill>
                      <a:srgbClr val="BF9000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REN $C</a:t>
                      </a:r>
                    </a:p>
                  </a:txBody>
                  <a:tcPr>
                    <a:solidFill>
                      <a:srgbClr val="BF9000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Plan B WITH MIN</a:t>
                      </a:r>
                    </a:p>
                  </a:txBody>
                  <a:tcPr>
                    <a:solidFill>
                      <a:srgbClr val="BF9000"/>
                    </a:solidFill>
                  </a:tcPr>
                </a:tc>
              </a:tr>
              <a:tr h="233172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101010"/>
                          </a:solidFill>
                          <a:latin typeface="Calibri"/>
                        </a:rPr>
                        <a:t>Jan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10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$16k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$2.2k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$4k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$0.6k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28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$33k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$6.5k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$286</a:t>
                      </a:r>
                    </a:p>
                  </a:txBody>
                  <a:tcPr>
                    <a:solidFill>
                      <a:srgbClr val="FFF2CC"/>
                    </a:solidFill>
                  </a:tcPr>
                </a:tc>
              </a:tr>
              <a:tr h="233172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101010"/>
                          </a:solidFill>
                          <a:latin typeface="Calibri"/>
                        </a:rPr>
                        <a:t>Feb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14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$19k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$3.6k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$7k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$3.3k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24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$28k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$5.3k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$245</a:t>
                      </a:r>
                    </a:p>
                  </a:txBody>
                  <a:tcPr>
                    <a:solidFill>
                      <a:srgbClr val="FFF2CC"/>
                    </a:solidFill>
                  </a:tcPr>
                </a:tc>
              </a:tr>
              <a:tr h="233172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101010"/>
                          </a:solidFill>
                          <a:latin typeface="Calibri"/>
                        </a:rPr>
                        <a:t>Mar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19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$18k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$5.0k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$6k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$1.6k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19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$20k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$4.0k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$185</a:t>
                      </a:r>
                    </a:p>
                  </a:txBody>
                  <a:tcPr>
                    <a:solidFill>
                      <a:srgbClr val="FFF2CC"/>
                    </a:solidFill>
                  </a:tcPr>
                </a:tc>
              </a:tr>
              <a:tr h="233172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101010"/>
                          </a:solidFill>
                          <a:latin typeface="Calibri"/>
                        </a:rPr>
                        <a:t>Apr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9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$14k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$3.9k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$4k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$3.1k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29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$40k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$7.7k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$385</a:t>
                      </a:r>
                    </a:p>
                  </a:txBody>
                  <a:tcPr>
                    <a:solidFill>
                      <a:srgbClr val="FFF2CC"/>
                    </a:solidFill>
                  </a:tcPr>
                </a:tc>
              </a:tr>
              <a:tr h="233172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101010"/>
                          </a:solidFill>
                          <a:latin typeface="Calibri"/>
                        </a:rPr>
                        <a:t>TOT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52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$67k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$15k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18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$20k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$9k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100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$121k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$23k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$1102</a:t>
                      </a:r>
                    </a:p>
                  </a:txBody>
                  <a:tcPr>
                    <a:solidFill>
                      <a:srgbClr val="FFF2CC"/>
                    </a:solidFill>
                  </a:tcPr>
                </a:tc>
              </a:tr>
            </a:tbl>
          </a:graphicData>
        </a:graphic>
      </p:graphicFrame>
      <p:sp>
        <p:nvSpPr>
          <p:cNvPr id="14" name="TextBox 13"/>
          <p:cNvSpPr txBox="1"/>
          <p:nvPr/>
        </p:nvSpPr>
        <p:spPr>
          <a:xfrm>
            <a:off x="320040" y="6400800"/>
            <a:ext cx="11612880" cy="210312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ctr"/>
            <a:r>
              <a:rPr sz="1100" b="1" i="1">
                <a:solidFill>
                  <a:srgbClr val="1F4E78"/>
                </a:solidFill>
                <a:latin typeface="Calibri"/>
              </a:rPr>
              <a:t>Today's current plan pays $1,400. Plan B WITH MIN: REAL $214 | SWAP $825 | FLIP $1,102.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868680"/>
          </a:xfrm>
          <a:prstGeom prst="rect">
            <a:avLst/>
          </a:prstGeom>
          <a:solidFill>
            <a:srgbClr val="1F4E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09728"/>
            <a:ext cx="11430000" cy="45720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  <a:latin typeface="Calibri"/>
              </a:rPr>
              <a:t>Monica Valdes - Month by Month, All Three Scenarios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530352"/>
            <a:ext cx="11430000" cy="32004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1200" b="0" i="1">
                <a:solidFill>
                  <a:srgbClr val="BDD7EE"/>
                </a:solidFill>
                <a:latin typeface="Calibri"/>
              </a:rPr>
              <a:t>All values are Plan B WITH MIN (recommended). $W = written premium, $C = collected.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647688"/>
            <a:ext cx="12188952" cy="210312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6647688"/>
            <a:ext cx="7315200" cy="210312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1000" b="0" i="0">
                <a:solidFill>
                  <a:srgbClr val="404040"/>
                </a:solidFill>
                <a:latin typeface="Calibri"/>
              </a:rPr>
              <a:t>Fiesta Bonus Plan - Ownership Decision Deck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38560" y="6647688"/>
            <a:ext cx="731520" cy="210312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ctr">
            <a:spAutoFit/>
          </a:bodyPr>
          <a:lstStyle/>
          <a:p>
            <a:pPr algn="r"/>
            <a:r>
              <a:rPr sz="1000" b="0" i="0">
                <a:solidFill>
                  <a:srgbClr val="404040"/>
                </a:solidFill>
                <a:latin typeface="Calibri"/>
              </a:rPr>
              <a:t>17 / 22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" y="960120"/>
            <a:ext cx="11612880" cy="256032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200" b="1" i="0">
                <a:solidFill>
                  <a:srgbClr val="1F4E78"/>
                </a:solidFill>
                <a:latin typeface="Calibri"/>
              </a:rPr>
              <a:t>REAL (today)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234440"/>
          <a:ext cx="7863840" cy="13990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02920"/>
                <a:gridCol w="502920"/>
                <a:gridCol w="777240"/>
                <a:gridCol w="777240"/>
                <a:gridCol w="502920"/>
                <a:gridCol w="777240"/>
                <a:gridCol w="777240"/>
                <a:gridCol w="502920"/>
                <a:gridCol w="777240"/>
                <a:gridCol w="777240"/>
                <a:gridCol w="1188720"/>
              </a:tblGrid>
              <a:tr h="233172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Mo</a:t>
                      </a:r>
                    </a:p>
                  </a:txBody>
                  <a:tcPr>
                    <a:solidFill>
                      <a:srgbClr val="1F4E78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NB#</a:t>
                      </a:r>
                    </a:p>
                  </a:txBody>
                  <a:tcPr>
                    <a:solidFill>
                      <a:srgbClr val="1F4E78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NB $W</a:t>
                      </a:r>
                    </a:p>
                  </a:txBody>
                  <a:tcPr>
                    <a:solidFill>
                      <a:srgbClr val="1F4E78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NB $C</a:t>
                      </a:r>
                    </a:p>
                  </a:txBody>
                  <a:tcPr>
                    <a:solidFill>
                      <a:srgbClr val="1F4E78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RWR#</a:t>
                      </a:r>
                    </a:p>
                  </a:txBody>
                  <a:tcPr>
                    <a:solidFill>
                      <a:srgbClr val="1F4E78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RWR $W</a:t>
                      </a:r>
                    </a:p>
                  </a:txBody>
                  <a:tcPr>
                    <a:solidFill>
                      <a:srgbClr val="1F4E78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RWR $C</a:t>
                      </a:r>
                    </a:p>
                  </a:txBody>
                  <a:tcPr>
                    <a:solidFill>
                      <a:srgbClr val="1F4E78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REN#</a:t>
                      </a:r>
                    </a:p>
                  </a:txBody>
                  <a:tcPr>
                    <a:solidFill>
                      <a:srgbClr val="1F4E78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REN $W</a:t>
                      </a:r>
                    </a:p>
                  </a:txBody>
                  <a:tcPr>
                    <a:solidFill>
                      <a:srgbClr val="1F4E78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REN $C</a:t>
                      </a:r>
                    </a:p>
                  </a:txBody>
                  <a:tcPr>
                    <a:solidFill>
                      <a:srgbClr val="1F4E78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Plan B WITH MIN</a:t>
                      </a:r>
                    </a:p>
                  </a:txBody>
                  <a:tcPr>
                    <a:solidFill>
                      <a:srgbClr val="1F4E78"/>
                    </a:solidFill>
                  </a:tcPr>
                </a:tc>
              </a:tr>
              <a:tr h="233172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101010"/>
                          </a:solidFill>
                          <a:latin typeface="Calibri"/>
                        </a:rPr>
                        <a:t>Jan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23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$29k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$6.6k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37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$49k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$8.2k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$7k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$1.4k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$60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33172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101010"/>
                          </a:solidFill>
                          <a:latin typeface="Calibri"/>
                        </a:rPr>
                        <a:t>Feb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21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$32k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$6.5k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29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$47k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$7.2k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$3k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$0.3k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$27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33172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101010"/>
                          </a:solidFill>
                          <a:latin typeface="Calibri"/>
                        </a:rPr>
                        <a:t>Mar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36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$69k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$17.0k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28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$39k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$5.3k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$0k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$0.0k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$496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33172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101010"/>
                          </a:solidFill>
                          <a:latin typeface="Calibri"/>
                        </a:rPr>
                        <a:t>Apr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22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$30k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$6.2k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22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$35k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$7.3k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$3k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$0.3k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$25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33172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101010"/>
                          </a:solidFill>
                          <a:latin typeface="Calibri"/>
                        </a:rPr>
                        <a:t>TOT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102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$158k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$36k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116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$170k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$28k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10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$12k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$2k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$608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320040" y="2743200"/>
            <a:ext cx="11612880" cy="256032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200" b="1" i="0">
                <a:solidFill>
                  <a:srgbClr val="2E75B6"/>
                </a:solidFill>
                <a:latin typeface="Calibri"/>
              </a:rPr>
              <a:t>50% SWAP (RWR-&gt;REN)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20040" y="3017520"/>
          <a:ext cx="7863840" cy="13990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02920"/>
                <a:gridCol w="502920"/>
                <a:gridCol w="777240"/>
                <a:gridCol w="777240"/>
                <a:gridCol w="502920"/>
                <a:gridCol w="777240"/>
                <a:gridCol w="777240"/>
                <a:gridCol w="502920"/>
                <a:gridCol w="777240"/>
                <a:gridCol w="777240"/>
                <a:gridCol w="1188720"/>
              </a:tblGrid>
              <a:tr h="233172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Mo</a:t>
                      </a:r>
                    </a:p>
                  </a:txBody>
                  <a:tcPr>
                    <a:solidFill>
                      <a:srgbClr val="2E75B6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NB#</a:t>
                      </a:r>
                    </a:p>
                  </a:txBody>
                  <a:tcPr>
                    <a:solidFill>
                      <a:srgbClr val="2E75B6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NB $W</a:t>
                      </a:r>
                    </a:p>
                  </a:txBody>
                  <a:tcPr>
                    <a:solidFill>
                      <a:srgbClr val="2E75B6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NB $C</a:t>
                      </a:r>
                    </a:p>
                  </a:txBody>
                  <a:tcPr>
                    <a:solidFill>
                      <a:srgbClr val="2E75B6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RWR#</a:t>
                      </a:r>
                    </a:p>
                  </a:txBody>
                  <a:tcPr>
                    <a:solidFill>
                      <a:srgbClr val="2E75B6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RWR $W</a:t>
                      </a:r>
                    </a:p>
                  </a:txBody>
                  <a:tcPr>
                    <a:solidFill>
                      <a:srgbClr val="2E75B6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RWR $C</a:t>
                      </a:r>
                    </a:p>
                  </a:txBody>
                  <a:tcPr>
                    <a:solidFill>
                      <a:srgbClr val="2E75B6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REN#</a:t>
                      </a:r>
                    </a:p>
                  </a:txBody>
                  <a:tcPr>
                    <a:solidFill>
                      <a:srgbClr val="2E75B6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REN $W</a:t>
                      </a:r>
                    </a:p>
                  </a:txBody>
                  <a:tcPr>
                    <a:solidFill>
                      <a:srgbClr val="2E75B6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REN $C</a:t>
                      </a:r>
                    </a:p>
                  </a:txBody>
                  <a:tcPr>
                    <a:solidFill>
                      <a:srgbClr val="2E75B6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Plan B WITH MIN</a:t>
                      </a:r>
                    </a:p>
                  </a:txBody>
                  <a:tcPr>
                    <a:solidFill>
                      <a:srgbClr val="2E75B6"/>
                    </a:solidFill>
                  </a:tcPr>
                </a:tc>
              </a:tr>
              <a:tr h="233172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101010"/>
                          </a:solidFill>
                          <a:latin typeface="Calibri"/>
                        </a:rPr>
                        <a:t>Jan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23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$29k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$6.6k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19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$24k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$4.1k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24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$31k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$5.5k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$307</a:t>
                      </a:r>
                    </a:p>
                  </a:txBody>
                  <a:tcPr>
                    <a:solidFill>
                      <a:srgbClr val="BDD7EE"/>
                    </a:solidFill>
                  </a:tcPr>
                </a:tc>
              </a:tr>
              <a:tr h="233172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101010"/>
                          </a:solidFill>
                          <a:latin typeface="Calibri"/>
                        </a:rPr>
                        <a:t>Feb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21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$32k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$6.5k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15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$24k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$3.6k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16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$27k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$3.9k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$230</a:t>
                      </a:r>
                    </a:p>
                  </a:txBody>
                  <a:tcPr>
                    <a:solidFill>
                      <a:srgbClr val="BDD7EE"/>
                    </a:solidFill>
                  </a:tcPr>
                </a:tc>
              </a:tr>
              <a:tr h="233172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101010"/>
                          </a:solidFill>
                          <a:latin typeface="Calibri"/>
                        </a:rPr>
                        <a:t>Mar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36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$69k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$17.0k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14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$20k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$2.7k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14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$20k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$2.7k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$636</a:t>
                      </a:r>
                    </a:p>
                  </a:txBody>
                  <a:tcPr>
                    <a:solidFill>
                      <a:srgbClr val="BDD7EE"/>
                    </a:solidFill>
                  </a:tcPr>
                </a:tc>
              </a:tr>
              <a:tr h="233172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101010"/>
                          </a:solidFill>
                          <a:latin typeface="Calibri"/>
                        </a:rPr>
                        <a:t>Apr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22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$30k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$6.2k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11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$18k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$3.7k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13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$20k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$3.9k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$186</a:t>
                      </a:r>
                    </a:p>
                  </a:txBody>
                  <a:tcPr>
                    <a:solidFill>
                      <a:srgbClr val="BDD7EE"/>
                    </a:solidFill>
                  </a:tcPr>
                </a:tc>
              </a:tr>
              <a:tr h="233172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101010"/>
                          </a:solidFill>
                          <a:latin typeface="Calibri"/>
                        </a:rPr>
                        <a:t>TOT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102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$158k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$36k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59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$85k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$14k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67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$97k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$16k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$1359</a:t>
                      </a:r>
                    </a:p>
                  </a:txBody>
                  <a:tcPr>
                    <a:solidFill>
                      <a:srgbClr val="BDD7EE"/>
                    </a:solidFill>
                  </a:tcPr>
                </a:tc>
              </a:tr>
            </a:tbl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320040" y="4526280"/>
            <a:ext cx="11612880" cy="256032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200" b="1" i="0">
                <a:solidFill>
                  <a:srgbClr val="BF9000"/>
                </a:solidFill>
                <a:latin typeface="Calibri"/>
              </a:rPr>
              <a:t>100% FLIP (RWR&lt;-&gt;REN)</a:t>
            </a:r>
          </a:p>
        </p:txBody>
      </p:sp>
      <p:graphicFrame>
        <p:nvGraphicFramePr>
          <p:cNvPr id="13" name="Table 12"/>
          <p:cNvGraphicFramePr>
            <a:graphicFrameLocks noGrp="1"/>
          </p:cNvGraphicFramePr>
          <p:nvPr/>
        </p:nvGraphicFramePr>
        <p:xfrm>
          <a:off x="320040" y="4800600"/>
          <a:ext cx="7863840" cy="13990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02920"/>
                <a:gridCol w="502920"/>
                <a:gridCol w="777240"/>
                <a:gridCol w="777240"/>
                <a:gridCol w="502920"/>
                <a:gridCol w="777240"/>
                <a:gridCol w="777240"/>
                <a:gridCol w="502920"/>
                <a:gridCol w="777240"/>
                <a:gridCol w="777240"/>
                <a:gridCol w="1188720"/>
              </a:tblGrid>
              <a:tr h="233172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Mo</a:t>
                      </a:r>
                    </a:p>
                  </a:txBody>
                  <a:tcPr>
                    <a:solidFill>
                      <a:srgbClr val="BF9000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NB#</a:t>
                      </a:r>
                    </a:p>
                  </a:txBody>
                  <a:tcPr>
                    <a:solidFill>
                      <a:srgbClr val="BF9000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NB $W</a:t>
                      </a:r>
                    </a:p>
                  </a:txBody>
                  <a:tcPr>
                    <a:solidFill>
                      <a:srgbClr val="BF9000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NB $C</a:t>
                      </a:r>
                    </a:p>
                  </a:txBody>
                  <a:tcPr>
                    <a:solidFill>
                      <a:srgbClr val="BF9000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RWR#</a:t>
                      </a:r>
                    </a:p>
                  </a:txBody>
                  <a:tcPr>
                    <a:solidFill>
                      <a:srgbClr val="BF9000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RWR $W</a:t>
                      </a:r>
                    </a:p>
                  </a:txBody>
                  <a:tcPr>
                    <a:solidFill>
                      <a:srgbClr val="BF9000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RWR $C</a:t>
                      </a:r>
                    </a:p>
                  </a:txBody>
                  <a:tcPr>
                    <a:solidFill>
                      <a:srgbClr val="BF9000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REN#</a:t>
                      </a:r>
                    </a:p>
                  </a:txBody>
                  <a:tcPr>
                    <a:solidFill>
                      <a:srgbClr val="BF9000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REN $W</a:t>
                      </a:r>
                    </a:p>
                  </a:txBody>
                  <a:tcPr>
                    <a:solidFill>
                      <a:srgbClr val="BF9000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REN $C</a:t>
                      </a:r>
                    </a:p>
                  </a:txBody>
                  <a:tcPr>
                    <a:solidFill>
                      <a:srgbClr val="BF9000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Plan B WITH MIN</a:t>
                      </a:r>
                    </a:p>
                  </a:txBody>
                  <a:tcPr>
                    <a:solidFill>
                      <a:srgbClr val="BF9000"/>
                    </a:solidFill>
                  </a:tcPr>
                </a:tc>
              </a:tr>
              <a:tr h="233172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101010"/>
                          </a:solidFill>
                          <a:latin typeface="Calibri"/>
                        </a:rPr>
                        <a:t>Jan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23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$29k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$6.6k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$7k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$1.4k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37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$49k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$8.2k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$480</a:t>
                      </a:r>
                    </a:p>
                  </a:txBody>
                  <a:tcPr>
                    <a:solidFill>
                      <a:srgbClr val="FFF2CC"/>
                    </a:solidFill>
                  </a:tcPr>
                </a:tc>
              </a:tr>
              <a:tr h="233172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101010"/>
                          </a:solidFill>
                          <a:latin typeface="Calibri"/>
                        </a:rPr>
                        <a:t>Feb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21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$32k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$6.5k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$3k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$0.3k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29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$47k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$7.2k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$427</a:t>
                      </a:r>
                    </a:p>
                  </a:txBody>
                  <a:tcPr>
                    <a:solidFill>
                      <a:srgbClr val="FFF2CC"/>
                    </a:solidFill>
                  </a:tcPr>
                </a:tc>
              </a:tr>
              <a:tr h="233172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101010"/>
                          </a:solidFill>
                          <a:latin typeface="Calibri"/>
                        </a:rPr>
                        <a:t>Mar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36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$69k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$17.0k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$0k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$0.0k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28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$39k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$5.3k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$776</a:t>
                      </a:r>
                    </a:p>
                  </a:txBody>
                  <a:tcPr>
                    <a:solidFill>
                      <a:srgbClr val="FFF2CC"/>
                    </a:solidFill>
                  </a:tcPr>
                </a:tc>
              </a:tr>
              <a:tr h="233172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101010"/>
                          </a:solidFill>
                          <a:latin typeface="Calibri"/>
                        </a:rPr>
                        <a:t>Apr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22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$30k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$6.2k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$3k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$0.3k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22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$35k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$7.3k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$333</a:t>
                      </a:r>
                    </a:p>
                  </a:txBody>
                  <a:tcPr>
                    <a:solidFill>
                      <a:srgbClr val="FFF2CC"/>
                    </a:solidFill>
                  </a:tcPr>
                </a:tc>
              </a:tr>
              <a:tr h="233172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101010"/>
                          </a:solidFill>
                          <a:latin typeface="Calibri"/>
                        </a:rPr>
                        <a:t>TOT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102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$158k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$36k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10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$12k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$2k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116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$170k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$28k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$2016</a:t>
                      </a:r>
                    </a:p>
                  </a:txBody>
                  <a:tcPr>
                    <a:solidFill>
                      <a:srgbClr val="FFF2CC"/>
                    </a:solidFill>
                  </a:tcPr>
                </a:tc>
              </a:tr>
            </a:tbl>
          </a:graphicData>
        </a:graphic>
      </p:graphicFrame>
      <p:sp>
        <p:nvSpPr>
          <p:cNvPr id="14" name="TextBox 13"/>
          <p:cNvSpPr txBox="1"/>
          <p:nvPr/>
        </p:nvSpPr>
        <p:spPr>
          <a:xfrm>
            <a:off x="320040" y="6400800"/>
            <a:ext cx="11612880" cy="210312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ctr"/>
            <a:r>
              <a:rPr sz="1100" b="1" i="1">
                <a:solidFill>
                  <a:srgbClr val="1F4E78"/>
                </a:solidFill>
                <a:latin typeface="Calibri"/>
              </a:rPr>
              <a:t>Today's current plan pays $1,940. Plan B WITH MIN: REAL $608 | SWAP $1,359 | FLIP $2,016.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868680"/>
          </a:xfrm>
          <a:prstGeom prst="rect">
            <a:avLst/>
          </a:prstGeom>
          <a:solidFill>
            <a:srgbClr val="1F4E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09728"/>
            <a:ext cx="11430000" cy="45720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  <a:latin typeface="Calibri"/>
              </a:rPr>
              <a:t>Headline - 4-Month Totals Across 3 Scenarios (6 agents)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530352"/>
            <a:ext cx="11430000" cy="32004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1200" b="0" i="1">
                <a:solidFill>
                  <a:srgbClr val="BDD7EE"/>
                </a:solidFill>
                <a:latin typeface="Calibri"/>
              </a:rPr>
              <a:t>REAL = today. 50% SWAP = half of rewrites become renewals. 100% FLIP = renewals &amp; rewrites fully swapped.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647688"/>
            <a:ext cx="12188952" cy="210312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6647688"/>
            <a:ext cx="7315200" cy="210312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1000" b="0" i="0">
                <a:solidFill>
                  <a:srgbClr val="404040"/>
                </a:solidFill>
                <a:latin typeface="Calibri"/>
              </a:rPr>
              <a:t>Fiesta Bonus Plan - Ownership Decision Deck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38560" y="6647688"/>
            <a:ext cx="731520" cy="210312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ctr">
            <a:spAutoFit/>
          </a:bodyPr>
          <a:lstStyle/>
          <a:p>
            <a:pPr algn="r"/>
            <a:r>
              <a:rPr sz="1000" b="0" i="0">
                <a:solidFill>
                  <a:srgbClr val="404040"/>
                </a:solidFill>
                <a:latin typeface="Calibri"/>
              </a:rPr>
              <a:t>18 / 22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65760" y="1097280"/>
          <a:ext cx="11430000" cy="2743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1463040"/>
                <a:gridCol w="1463040"/>
                <a:gridCol w="1463040"/>
                <a:gridCol w="4297680"/>
              </a:tblGrid>
              <a:tr h="457200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Plan</a:t>
                      </a:r>
                    </a:p>
                  </a:txBody>
                  <a:tcPr>
                    <a:solidFill>
                      <a:srgbClr val="1F4E78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REAL (today)</a:t>
                      </a:r>
                    </a:p>
                  </a:txBody>
                  <a:tcPr>
                    <a:solidFill>
                      <a:srgbClr val="1F4E78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50% SWAP</a:t>
                      </a:r>
                    </a:p>
                  </a:txBody>
                  <a:tcPr>
                    <a:solidFill>
                      <a:srgbClr val="1F4E78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100% FLIP</a:t>
                      </a:r>
                    </a:p>
                  </a:txBody>
                  <a:tcPr>
                    <a:solidFill>
                      <a:srgbClr val="1F4E78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Read</a:t>
                      </a:r>
                    </a:p>
                  </a:txBody>
                  <a:tcPr>
                    <a:solidFill>
                      <a:srgbClr val="1F4E78"/>
                    </a:solidFill>
                  </a:tcPr>
                </a:tc>
              </a:tr>
              <a:tr h="457200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300" b="1">
                          <a:solidFill>
                            <a:srgbClr val="101010"/>
                          </a:solidFill>
                          <a:latin typeface="Calibri"/>
                        </a:rPr>
                        <a:t>Current plan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300">
                          <a:solidFill>
                            <a:srgbClr val="101010"/>
                          </a:solidFill>
                          <a:latin typeface="Calibri"/>
                        </a:rPr>
                        <a:t>$12,220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300">
                          <a:solidFill>
                            <a:srgbClr val="101010"/>
                          </a:solidFill>
                          <a:latin typeface="Calibri"/>
                        </a:rPr>
                        <a:t>$7,110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300">
                          <a:solidFill>
                            <a:srgbClr val="101010"/>
                          </a:solidFill>
                          <a:latin typeface="Calibri"/>
                        </a:rPr>
                        <a:t>$2,750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300">
                          <a:solidFill>
                            <a:srgbClr val="101010"/>
                          </a:solidFill>
                          <a:latin typeface="Calibri"/>
                        </a:rPr>
                        <a:t>CRASHES - current pays $0 for REN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300" b="1">
                          <a:solidFill>
                            <a:srgbClr val="101010"/>
                          </a:solidFill>
                          <a:latin typeface="Calibri"/>
                        </a:rPr>
                        <a:t>Plan A no-min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300">
                          <a:solidFill>
                            <a:srgbClr val="101010"/>
                          </a:solidFill>
                          <a:latin typeface="Calibri"/>
                        </a:rPr>
                        <a:t>$7,838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300">
                          <a:solidFill>
                            <a:srgbClr val="101010"/>
                          </a:solidFill>
                          <a:latin typeface="Calibri"/>
                        </a:rPr>
                        <a:t>$11,738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300">
                          <a:solidFill>
                            <a:srgbClr val="101010"/>
                          </a:solidFill>
                          <a:latin typeface="Calibri"/>
                        </a:rPr>
                        <a:t>$14,398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300">
                          <a:solidFill>
                            <a:srgbClr val="101010"/>
                          </a:solidFill>
                          <a:latin typeface="Calibri"/>
                        </a:rPr>
                        <a:t>Grows - new plan pays REN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457200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300" b="1">
                          <a:solidFill>
                            <a:srgbClr val="101010"/>
                          </a:solidFill>
                          <a:latin typeface="Calibri"/>
                        </a:rPr>
                        <a:t>Plan A WITH MIN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300">
                          <a:solidFill>
                            <a:srgbClr val="101010"/>
                          </a:solidFill>
                          <a:latin typeface="Calibri"/>
                        </a:rPr>
                        <a:t>$2,935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300">
                          <a:solidFill>
                            <a:srgbClr val="101010"/>
                          </a:solidFill>
                          <a:latin typeface="Calibri"/>
                        </a:rPr>
                        <a:t>$7,826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300">
                          <a:solidFill>
                            <a:srgbClr val="101010"/>
                          </a:solidFill>
                          <a:latin typeface="Calibri"/>
                        </a:rPr>
                        <a:t>$11,235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300">
                          <a:solidFill>
                            <a:srgbClr val="101010"/>
                          </a:solidFill>
                          <a:latin typeface="Calibri"/>
                        </a:rPr>
                        <a:t>Grows as REN gate opens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300" b="1">
                          <a:solidFill>
                            <a:srgbClr val="101010"/>
                          </a:solidFill>
                          <a:latin typeface="Calibri"/>
                        </a:rPr>
                        <a:t>Plan B no-min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300">
                          <a:solidFill>
                            <a:srgbClr val="101010"/>
                          </a:solidFill>
                          <a:latin typeface="Calibri"/>
                        </a:rPr>
                        <a:t>$7,838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300">
                          <a:solidFill>
                            <a:srgbClr val="101010"/>
                          </a:solidFill>
                          <a:latin typeface="Calibri"/>
                        </a:rPr>
                        <a:t>$11,738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300">
                          <a:solidFill>
                            <a:srgbClr val="101010"/>
                          </a:solidFill>
                          <a:latin typeface="Calibri"/>
                        </a:rPr>
                        <a:t>$14,398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300">
                          <a:solidFill>
                            <a:srgbClr val="101010"/>
                          </a:solidFill>
                          <a:latin typeface="Calibri"/>
                        </a:rPr>
                        <a:t>Top motivator - FLIP exceeds today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457200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300" b="1">
                          <a:solidFill>
                            <a:srgbClr val="101010"/>
                          </a:solidFill>
                          <a:latin typeface="Calibri"/>
                        </a:rPr>
                        <a:t>Plan B WITH MIN (RECOMMENDED)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300">
                          <a:solidFill>
                            <a:srgbClr val="101010"/>
                          </a:solidFill>
                          <a:latin typeface="Calibri"/>
                        </a:rPr>
                        <a:t>$2,935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300">
                          <a:solidFill>
                            <a:srgbClr val="101010"/>
                          </a:solidFill>
                          <a:latin typeface="Calibri"/>
                        </a:rPr>
                        <a:t>$7,826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300">
                          <a:solidFill>
                            <a:srgbClr val="101010"/>
                          </a:solidFill>
                          <a:latin typeface="Calibri"/>
                        </a:rPr>
                        <a:t>$11,235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300">
                          <a:solidFill>
                            <a:srgbClr val="101010"/>
                          </a:solidFill>
                          <a:latin typeface="Calibri"/>
                        </a:rPr>
                        <a:t>FLIP matches today's $12k pay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457200" y="4389120"/>
            <a:ext cx="11247120" cy="45720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800" b="1" i="0">
                <a:solidFill>
                  <a:srgbClr val="1F4E78"/>
                </a:solidFill>
                <a:latin typeface="Calibri"/>
              </a:rPr>
              <a:t>The headline: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4846320"/>
            <a:ext cx="10972800" cy="1737360"/>
          </a:xfrm>
          <a:prstGeom prst="rect">
            <a:avLst/>
          </a:prstGeom>
          <a:noFill/>
          <a:ln>
            <a:noFill/>
          </a:ln>
        </p:spPr>
        <p:txBody>
          <a:bodyPr wrap="square" tIns="91440" bIns="91440">
            <a:spAutoFit/>
          </a:bodyPr>
          <a:lstStyle/>
          <a:p>
            <a:pPr>
              <a:lnSpc>
                <a:spcPct val="120000"/>
              </a:lnSpc>
            </a:pPr>
            <a:r>
              <a:rPr sz="1300">
                <a:solidFill>
                  <a:srgbClr val="101010"/>
                </a:solidFill>
                <a:latin typeface="Calibri"/>
              </a:rPr>
              <a:t>• Current plan COLLAPSES under the flip ($2,750 vs today's $12,220). It only rewards rewrite VOLUME.</a:t>
            </a:r>
          </a:p>
          <a:p>
            <a:pPr>
              <a:lnSpc>
                <a:spcPct val="120000"/>
              </a:lnSpc>
            </a:pPr>
            <a:r>
              <a:rPr sz="1300">
                <a:solidFill>
                  <a:srgbClr val="101010"/>
                </a:solidFill>
                <a:latin typeface="Calibri"/>
              </a:rPr>
              <a:t>• Plan B WITH MIN under 100% FLIP = $11,235. Compare to today's current $12,220: agents earn the SAME for doing the RIGHT behavior.</a:t>
            </a:r>
          </a:p>
          <a:p>
            <a:pPr>
              <a:lnSpc>
                <a:spcPct val="120000"/>
              </a:lnSpc>
            </a:pPr>
            <a:r>
              <a:rPr sz="1300">
                <a:solidFill>
                  <a:srgbClr val="101010"/>
                </a:solidFill>
                <a:latin typeface="Calibri"/>
              </a:rPr>
              <a:t>• Plan B no-min under FLIP = $14,398, which is ABOVE today's pay. Some headroom if ownership wants to be more generous.</a:t>
            </a:r>
          </a:p>
          <a:p>
            <a:pPr>
              <a:lnSpc>
                <a:spcPct val="120000"/>
              </a:lnSpc>
            </a:pPr>
            <a:r>
              <a:rPr sz="1300">
                <a:solidFill>
                  <a:srgbClr val="101010"/>
                </a:solidFill>
                <a:latin typeface="Calibri"/>
              </a:rPr>
              <a:t>• The pitch to the agent: 'today you're earning $509/mo on rewrites. Under the new plan, when you renew instead, you earn the same dollars - but the customer stays put.'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868680"/>
          </a:xfrm>
          <a:prstGeom prst="rect">
            <a:avLst/>
          </a:prstGeom>
          <a:solidFill>
            <a:srgbClr val="1F4E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09728"/>
            <a:ext cx="11430000" cy="45720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  <a:latin typeface="Calibri"/>
              </a:rPr>
              <a:t>How We Protect Profit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530352"/>
            <a:ext cx="11430000" cy="32004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1200" b="0" i="1">
                <a:solidFill>
                  <a:srgbClr val="BDD7EE"/>
                </a:solidFill>
                <a:latin typeface="Calibri"/>
              </a:rPr>
              <a:t>Three layers. 90-day chargeback is the strongest.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647688"/>
            <a:ext cx="12188952" cy="210312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6647688"/>
            <a:ext cx="7315200" cy="210312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1000" b="0" i="0">
                <a:solidFill>
                  <a:srgbClr val="404040"/>
                </a:solidFill>
                <a:latin typeface="Calibri"/>
              </a:rPr>
              <a:t>Fiesta Bonus Plan - Ownership Decision Deck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38560" y="6647688"/>
            <a:ext cx="731520" cy="210312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ctr">
            <a:spAutoFit/>
          </a:bodyPr>
          <a:lstStyle/>
          <a:p>
            <a:pPr algn="r"/>
            <a:r>
              <a:rPr sz="1000" b="0" i="0">
                <a:solidFill>
                  <a:srgbClr val="404040"/>
                </a:solidFill>
                <a:latin typeface="Calibri"/>
              </a:rPr>
              <a:t>19 / 22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188720"/>
            <a:ext cx="3749039" cy="5212080"/>
          </a:xfrm>
          <a:prstGeom prst="rect">
            <a:avLst/>
          </a:prstGeom>
          <a:solidFill>
            <a:srgbClr val="E2EF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1188720"/>
            <a:ext cx="3749039" cy="731520"/>
          </a:xfrm>
          <a:prstGeom prst="rect">
            <a:avLst/>
          </a:prstGeom>
          <a:solidFill>
            <a:srgbClr val="70AD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1234440"/>
            <a:ext cx="3566160" cy="64008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ctr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MINIMUM REQUIREMENTS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2103120"/>
            <a:ext cx="3383280" cy="128016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400" b="1" i="0">
                <a:solidFill>
                  <a:srgbClr val="1F4E78"/>
                </a:solidFill>
                <a:latin typeface="Calibri"/>
              </a:rPr>
              <a:t>NB premium ≥ $45,000/mo + REN retention ≥ 30%. RWR follows NB gate.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3474720"/>
            <a:ext cx="3383280" cy="274320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300" b="0" i="0">
                <a:solidFill>
                  <a:srgbClr val="101010"/>
                </a:solidFill>
                <a:latin typeface="Calibri"/>
              </a:rPr>
              <a:t>If the agent is not producing baseline volume, NO bonus that month. Easy to understand, easy to enforce.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370832" y="1188720"/>
            <a:ext cx="3749039" cy="5212080"/>
          </a:xfrm>
          <a:prstGeom prst="rect">
            <a:avLst/>
          </a:prstGeom>
          <a:solidFill>
            <a:srgbClr val="FFF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370832" y="1188720"/>
            <a:ext cx="3749039" cy="731520"/>
          </a:xfrm>
          <a:prstGeom prst="rect">
            <a:avLst/>
          </a:prstGeom>
          <a:solidFill>
            <a:srgbClr val="BF9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462272" y="1234440"/>
            <a:ext cx="3566160" cy="64008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ctr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REVIEW THRESHOLD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53712" y="2103120"/>
            <a:ext cx="3383280" cy="128016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400" b="1" i="0">
                <a:solidFill>
                  <a:srgbClr val="1F4E78"/>
                </a:solidFill>
                <a:latin typeface="Calibri"/>
              </a:rPr>
              <a:t>If monthly bonus &gt; 40% of safe net, ownership reviews.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53712" y="3474720"/>
            <a:ext cx="3383280" cy="274320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300" b="0" i="0">
                <a:solidFill>
                  <a:srgbClr val="101010"/>
                </a:solidFill>
                <a:latin typeface="Calibri"/>
              </a:rPr>
              <a:t>Soft flag, not auto-cut. Catches outlier months where collection is unusually low.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284464" y="1188720"/>
            <a:ext cx="3749039" cy="5212080"/>
          </a:xfrm>
          <a:prstGeom prst="rect">
            <a:avLst/>
          </a:prstGeom>
          <a:solidFill>
            <a:srgbClr val="FCE4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284464" y="1188720"/>
            <a:ext cx="3749039" cy="731520"/>
          </a:xfrm>
          <a:prstGeom prst="rect">
            <a:avLst/>
          </a:prstGeom>
          <a:solidFill>
            <a:srgbClr val="ED7D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375904" y="1234440"/>
            <a:ext cx="3566160" cy="64008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ctr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90-DAY CHARGEBACK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467344" y="2103120"/>
            <a:ext cx="3383280" cy="128016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400" b="1" i="0">
                <a:solidFill>
                  <a:srgbClr val="1F4E78"/>
                </a:solidFill>
                <a:latin typeface="Calibri"/>
              </a:rPr>
              <a:t>100% of the paid bonus is REVERSED if the policy cancels or rewrites within 90 days.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467344" y="3474720"/>
            <a:ext cx="3383280" cy="274320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300" b="0" i="0">
                <a:solidFill>
                  <a:srgbClr val="101010"/>
                </a:solidFill>
                <a:latin typeface="Calibri"/>
              </a:rPr>
              <a:t>This is the real profit shield. Matches the carrier's commission chargeback exposure exactly. If the agency loses commission, the agent loses bonus.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868680"/>
          </a:xfrm>
          <a:prstGeom prst="rect">
            <a:avLst/>
          </a:prstGeom>
          <a:solidFill>
            <a:srgbClr val="1F4E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09728"/>
            <a:ext cx="11430000" cy="45720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  <a:latin typeface="Calibri"/>
              </a:rPr>
              <a:t>Recommendation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530352"/>
            <a:ext cx="11430000" cy="32004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1200" b="0" i="1">
                <a:solidFill>
                  <a:srgbClr val="BDD7EE"/>
                </a:solidFill>
                <a:latin typeface="Calibri"/>
              </a:rPr>
              <a:t>The Bonus Plan with $45,000 NB + 30% retention minimums. Pilot 90 days, then review.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647688"/>
            <a:ext cx="12188952" cy="210312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6647688"/>
            <a:ext cx="7315200" cy="210312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1000" b="0" i="0">
                <a:solidFill>
                  <a:srgbClr val="404040"/>
                </a:solidFill>
                <a:latin typeface="Calibri"/>
              </a:rPr>
              <a:t>Fiesta Bonus Plan - Ownership Decision Deck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38560" y="6647688"/>
            <a:ext cx="731520" cy="210312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ctr">
            <a:spAutoFit/>
          </a:bodyPr>
          <a:lstStyle/>
          <a:p>
            <a:pPr algn="r"/>
            <a:r>
              <a:rPr sz="1000" b="0" i="0">
                <a:solidFill>
                  <a:srgbClr val="404040"/>
                </a:solidFill>
                <a:latin typeface="Calibri"/>
              </a:rPr>
              <a:t>20 / 22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097280"/>
            <a:ext cx="11247120" cy="1371600"/>
          </a:xfrm>
          <a:prstGeom prst="rect">
            <a:avLst/>
          </a:prstGeom>
          <a:solidFill>
            <a:srgbClr val="FFF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1097280"/>
            <a:ext cx="228600" cy="1371600"/>
          </a:xfrm>
          <a:prstGeom prst="rect">
            <a:avLst/>
          </a:prstGeom>
          <a:solidFill>
            <a:srgbClr val="BF9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1280160"/>
            <a:ext cx="10332720" cy="45720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2200" b="1" i="0">
                <a:solidFill>
                  <a:srgbClr val="1F4E78"/>
                </a:solidFill>
                <a:latin typeface="Calibri"/>
              </a:rPr>
              <a:t>THE BONUS PLAN (Plan A) - with $45,000 NB premium + 30% retention minimums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1737360"/>
            <a:ext cx="10332720" cy="68580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400" b="0" i="0">
                <a:solidFill>
                  <a:srgbClr val="101010"/>
                </a:solidFill>
                <a:latin typeface="Calibri"/>
              </a:rPr>
              <a:t>Best balance of agent motivation, sales-story clarity, profitability protection, and pay-near-current when behavior shifts.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2743200"/>
            <a:ext cx="11247120" cy="45720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800" b="1" i="0">
                <a:solidFill>
                  <a:srgbClr val="1F4E78"/>
                </a:solidFill>
                <a:latin typeface="Calibri"/>
              </a:rPr>
              <a:t>Why Plan B over Plan A: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3200400"/>
            <a:ext cx="10972800" cy="1828800"/>
          </a:xfrm>
          <a:prstGeom prst="rect">
            <a:avLst/>
          </a:prstGeom>
          <a:noFill/>
          <a:ln>
            <a:noFill/>
          </a:ln>
        </p:spPr>
        <p:txBody>
          <a:bodyPr wrap="square" tIns="91440" bIns="91440">
            <a:spAutoFit/>
          </a:bodyPr>
          <a:lstStyle/>
          <a:p>
            <a:pPr>
              <a:lnSpc>
                <a:spcPct val="120000"/>
              </a:lnSpc>
            </a:pPr>
            <a:r>
              <a:rPr sz="1400">
                <a:solidFill>
                  <a:srgbClr val="101010"/>
                </a:solidFill>
                <a:latin typeface="Calibri"/>
              </a:rPr>
              <a:t>• Plan B has the strongest UPSELL story: 'every BI+UM bundle is worth $5'. Easy to coach, easy to defend.</a:t>
            </a:r>
          </a:p>
          <a:p>
            <a:pPr>
              <a:lnSpc>
                <a:spcPct val="120000"/>
              </a:lnSpc>
            </a:pPr>
            <a:r>
              <a:rPr sz="1400">
                <a:solidFill>
                  <a:srgbClr val="101010"/>
                </a:solidFill>
                <a:latin typeface="Calibri"/>
              </a:rPr>
              <a:t>• Plan B pays closest to today's number when behavior shifts (close to par in SWAP scenario).</a:t>
            </a:r>
          </a:p>
          <a:p>
            <a:pPr>
              <a:lnSpc>
                <a:spcPct val="120000"/>
              </a:lnSpc>
            </a:pPr>
            <a:r>
              <a:rPr sz="1400">
                <a:solidFill>
                  <a:srgbClr val="101010"/>
                </a:solidFill>
                <a:latin typeface="Calibri"/>
              </a:rPr>
              <a:t>• Plan B rewards coverage QUALITY - which carriers prefer and persistency improves.</a:t>
            </a:r>
          </a:p>
          <a:p>
            <a:pPr>
              <a:lnSpc>
                <a:spcPct val="120000"/>
              </a:lnSpc>
            </a:pPr>
            <a:r>
              <a:rPr sz="1400">
                <a:solidFill>
                  <a:srgbClr val="101010"/>
                </a:solidFill>
                <a:latin typeface="Calibri"/>
              </a:rPr>
              <a:t>• Plan A is leaner (lower cost) - keep as fallback if Plan B is too generous.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5212080"/>
            <a:ext cx="11247120" cy="45720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800" b="1" i="0">
                <a:solidFill>
                  <a:srgbClr val="1F4E78"/>
                </a:solidFill>
                <a:latin typeface="Calibri"/>
              </a:rPr>
              <a:t>Levers to fine-tune over time: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5669280"/>
            <a:ext cx="10972800" cy="91440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300" b="0" i="0">
                <a:solidFill>
                  <a:srgbClr val="404040"/>
                </a:solidFill>
                <a:latin typeface="Calibri"/>
              </a:rPr>
              <a:t>1) Coverage adoption (estimated 35% of NB, 30% of REN - track actual).   2) Minimum thresholds - softer ($25k/$15k) if too punishing, tighter ($45k/$25k) if too easy.   3) PIF and kicker amounts to balance pay vs profit.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868680"/>
          </a:xfrm>
          <a:prstGeom prst="rect">
            <a:avLst/>
          </a:prstGeom>
          <a:solidFill>
            <a:srgbClr val="1F4E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09728"/>
            <a:ext cx="11430000" cy="45720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  <a:latin typeface="Calibri"/>
              </a:rPr>
              <a:t>Implementation Roadmap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530352"/>
            <a:ext cx="11430000" cy="32004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1200" b="0" i="1">
                <a:solidFill>
                  <a:srgbClr val="BDD7EE"/>
                </a:solidFill>
                <a:latin typeface="Calibri"/>
              </a:rPr>
              <a:t>Three phases. ~10 weeks from approval to first chargeback review.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647688"/>
            <a:ext cx="12188952" cy="210312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6647688"/>
            <a:ext cx="7315200" cy="210312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1000" b="0" i="0">
                <a:solidFill>
                  <a:srgbClr val="404040"/>
                </a:solidFill>
                <a:latin typeface="Calibri"/>
              </a:rPr>
              <a:t>Fiesta Bonus Plan - Ownership Decision Deck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38560" y="6647688"/>
            <a:ext cx="731520" cy="210312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ctr">
            <a:spAutoFit/>
          </a:bodyPr>
          <a:lstStyle/>
          <a:p>
            <a:pPr algn="r"/>
            <a:r>
              <a:rPr sz="1000" b="0" i="0">
                <a:solidFill>
                  <a:srgbClr val="404040"/>
                </a:solidFill>
                <a:latin typeface="Calibri"/>
              </a:rPr>
              <a:t>21 / 22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097280"/>
            <a:ext cx="11247120" cy="1691640"/>
          </a:xfrm>
          <a:prstGeom prst="rect">
            <a:avLst/>
          </a:prstGeom>
          <a:solidFill>
            <a:srgbClr val="BDD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1097280"/>
            <a:ext cx="228600" cy="1691640"/>
          </a:xfrm>
          <a:prstGeom prst="rect">
            <a:avLst/>
          </a:prstGeom>
          <a:solidFill>
            <a:srgbClr val="2E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1188720"/>
            <a:ext cx="228600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400" b="1" i="0">
                <a:solidFill>
                  <a:srgbClr val="2E75B6"/>
                </a:solidFill>
                <a:latin typeface="Calibri"/>
              </a:rPr>
              <a:t>WEEK 1-2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383280" y="1188720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800" b="1" i="0">
                <a:solidFill>
                  <a:srgbClr val="1F4E78"/>
                </a:solidFill>
                <a:latin typeface="Calibri"/>
              </a:rPr>
              <a:t>APPROVE + COMMUNICATE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1600200"/>
            <a:ext cx="10515600" cy="1143000"/>
          </a:xfrm>
          <a:prstGeom prst="rect">
            <a:avLst/>
          </a:prstGeom>
          <a:noFill/>
          <a:ln>
            <a:noFill/>
          </a:ln>
        </p:spPr>
        <p:txBody>
          <a:bodyPr wrap="square" tIns="91440" bIns="91440">
            <a:spAutoFit/>
          </a:bodyPr>
          <a:lstStyle/>
          <a:p>
            <a:pPr>
              <a:lnSpc>
                <a:spcPct val="100000"/>
              </a:lnSpc>
            </a:pPr>
            <a:r>
              <a:rPr sz="1200">
                <a:solidFill>
                  <a:srgbClr val="101010"/>
                </a:solidFill>
                <a:latin typeface="Calibri"/>
              </a:rPr>
              <a:t>• Ownership picks Plan A or B and signs off on minimums.</a:t>
            </a:r>
          </a:p>
          <a:p>
            <a:pPr>
              <a:lnSpc>
                <a:spcPct val="100000"/>
              </a:lnSpc>
            </a:pPr>
            <a:r>
              <a:rPr sz="1200">
                <a:solidFill>
                  <a:srgbClr val="101010"/>
                </a:solidFill>
                <a:latin typeface="Calibri"/>
              </a:rPr>
              <a:t>• Manager rolls out the rules to the agents.</a:t>
            </a:r>
          </a:p>
          <a:p>
            <a:pPr>
              <a:lnSpc>
                <a:spcPct val="100000"/>
              </a:lnSpc>
            </a:pPr>
            <a:r>
              <a:rPr sz="1200">
                <a:solidFill>
                  <a:srgbClr val="101010"/>
                </a:solidFill>
                <a:latin typeface="Calibri"/>
              </a:rPr>
              <a:t>• Print the Agent Quick Reference (in the workbook) for each desk.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2880360"/>
            <a:ext cx="11247120" cy="1691640"/>
          </a:xfrm>
          <a:prstGeom prst="rect">
            <a:avLst/>
          </a:prstGeom>
          <a:solidFill>
            <a:srgbClr val="E2EF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57200" y="2880360"/>
            <a:ext cx="228600" cy="1691640"/>
          </a:xfrm>
          <a:prstGeom prst="rect">
            <a:avLst/>
          </a:prstGeom>
          <a:solidFill>
            <a:srgbClr val="70AD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14400" y="2971800"/>
            <a:ext cx="228600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400" b="1" i="0">
                <a:solidFill>
                  <a:srgbClr val="70AD47"/>
                </a:solidFill>
                <a:latin typeface="Calibri"/>
              </a:rPr>
              <a:t>WEEK 3-6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383280" y="2971800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800" b="1" i="0">
                <a:solidFill>
                  <a:srgbClr val="1F4E78"/>
                </a:solidFill>
                <a:latin typeface="Calibri"/>
              </a:rPr>
              <a:t>PILOT MONTH 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4400" y="3383280"/>
            <a:ext cx="10515600" cy="1143000"/>
          </a:xfrm>
          <a:prstGeom prst="rect">
            <a:avLst/>
          </a:prstGeom>
          <a:noFill/>
          <a:ln>
            <a:noFill/>
          </a:ln>
        </p:spPr>
        <p:txBody>
          <a:bodyPr wrap="square" tIns="91440" bIns="91440">
            <a:spAutoFit/>
          </a:bodyPr>
          <a:lstStyle/>
          <a:p>
            <a:pPr>
              <a:lnSpc>
                <a:spcPct val="100000"/>
              </a:lnSpc>
            </a:pPr>
            <a:r>
              <a:rPr sz="1200">
                <a:solidFill>
                  <a:srgbClr val="101010"/>
                </a:solidFill>
                <a:latin typeface="Calibri"/>
              </a:rPr>
              <a:t>• Run the plan side-by-side with the OLD plan for ONE FULL MONTH.</a:t>
            </a:r>
          </a:p>
          <a:p>
            <a:pPr>
              <a:lnSpc>
                <a:spcPct val="100000"/>
              </a:lnSpc>
            </a:pPr>
            <a:r>
              <a:rPr sz="1200">
                <a:solidFill>
                  <a:srgbClr val="101010"/>
                </a:solidFill>
                <a:latin typeface="Calibri"/>
              </a:rPr>
              <a:t>• Pay agents the HIGHER of the two each month during the pilot.</a:t>
            </a:r>
          </a:p>
          <a:p>
            <a:pPr>
              <a:lnSpc>
                <a:spcPct val="100000"/>
              </a:lnSpc>
            </a:pPr>
            <a:r>
              <a:rPr sz="1200">
                <a:solidFill>
                  <a:srgbClr val="101010"/>
                </a:solidFill>
                <a:latin typeface="Calibri"/>
              </a:rPr>
              <a:t>• Use the manual tracker to verify coverage / PIF / collected.</a:t>
            </a:r>
          </a:p>
          <a:p>
            <a:pPr>
              <a:lnSpc>
                <a:spcPct val="100000"/>
              </a:lnSpc>
            </a:pPr>
            <a:r>
              <a:rPr sz="1200">
                <a:solidFill>
                  <a:srgbClr val="101010"/>
                </a:solidFill>
                <a:latin typeface="Calibri"/>
              </a:rPr>
              <a:t>• End of month: compare actual paid vs forecast and adjust if needed.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7200" y="4663440"/>
            <a:ext cx="11247120" cy="1691640"/>
          </a:xfrm>
          <a:prstGeom prst="rect">
            <a:avLst/>
          </a:prstGeom>
          <a:solidFill>
            <a:srgbClr val="FFF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57200" y="4663440"/>
            <a:ext cx="228600" cy="1691640"/>
          </a:xfrm>
          <a:prstGeom prst="rect">
            <a:avLst/>
          </a:prstGeom>
          <a:solidFill>
            <a:srgbClr val="BF9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14400" y="4754880"/>
            <a:ext cx="228600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400" b="1" i="0">
                <a:solidFill>
                  <a:srgbClr val="BF9000"/>
                </a:solidFill>
                <a:latin typeface="Calibri"/>
              </a:rPr>
              <a:t>WEEK 7-10+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383280" y="4754880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800" b="1" i="0">
                <a:solidFill>
                  <a:srgbClr val="1F4E78"/>
                </a:solidFill>
                <a:latin typeface="Calibri"/>
              </a:rPr>
              <a:t>FULL ROLLOUT + REVIEWS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14400" y="5166360"/>
            <a:ext cx="10515600" cy="1143000"/>
          </a:xfrm>
          <a:prstGeom prst="rect">
            <a:avLst/>
          </a:prstGeom>
          <a:noFill/>
          <a:ln>
            <a:noFill/>
          </a:ln>
        </p:spPr>
        <p:txBody>
          <a:bodyPr wrap="square" tIns="91440" bIns="91440">
            <a:spAutoFit/>
          </a:bodyPr>
          <a:lstStyle/>
          <a:p>
            <a:pPr>
              <a:lnSpc>
                <a:spcPct val="100000"/>
              </a:lnSpc>
            </a:pPr>
            <a:r>
              <a:rPr sz="1200">
                <a:solidFill>
                  <a:srgbClr val="101010"/>
                </a:solidFill>
                <a:latin typeface="Calibri"/>
              </a:rPr>
              <a:t>• Switch to NEW plan exclusively.</a:t>
            </a:r>
          </a:p>
          <a:p>
            <a:pPr>
              <a:lnSpc>
                <a:spcPct val="100000"/>
              </a:lnSpc>
            </a:pPr>
            <a:r>
              <a:rPr sz="1200">
                <a:solidFill>
                  <a:srgbClr val="101010"/>
                </a:solidFill>
                <a:latin typeface="Calibri"/>
              </a:rPr>
              <a:t>• Run monthly review at the 40% safe-net flag.</a:t>
            </a:r>
          </a:p>
          <a:p>
            <a:pPr>
              <a:lnSpc>
                <a:spcPct val="100000"/>
              </a:lnSpc>
            </a:pPr>
            <a:r>
              <a:rPr sz="1200">
                <a:solidFill>
                  <a:srgbClr val="101010"/>
                </a:solidFill>
                <a:latin typeface="Calibri"/>
              </a:rPr>
              <a:t>• At week 12 (90 days after first paid policies), run the FIRST CHARGEBACK review.</a:t>
            </a:r>
          </a:p>
          <a:p>
            <a:pPr>
              <a:lnSpc>
                <a:spcPct val="100000"/>
              </a:lnSpc>
            </a:pPr>
            <a:r>
              <a:rPr sz="1200">
                <a:solidFill>
                  <a:srgbClr val="101010"/>
                </a:solidFill>
                <a:latin typeface="Calibri"/>
              </a:rPr>
              <a:t>• At 90 days end: re-baseline rates if the renewal book has started to build.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F4E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3108960"/>
            <a:ext cx="12188952" cy="91440"/>
          </a:xfrm>
          <a:prstGeom prst="rect">
            <a:avLst/>
          </a:prstGeom>
          <a:solidFill>
            <a:srgbClr val="BF9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914400"/>
            <a:ext cx="11091672" cy="91440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5400" b="1" i="0">
                <a:solidFill>
                  <a:srgbClr val="FFFFFF"/>
                </a:solidFill>
                <a:latin typeface="Calibri"/>
              </a:rPr>
              <a:t>Decision Time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828800"/>
            <a:ext cx="11091672" cy="73152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2400" b="0" i="0">
                <a:solidFill>
                  <a:srgbClr val="BDD7EE"/>
                </a:solidFill>
                <a:latin typeface="Calibri"/>
              </a:rPr>
              <a:t>Plan B with the new minimums.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3474720"/>
            <a:ext cx="11091672" cy="45720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800" b="0" i="0">
                <a:solidFill>
                  <a:srgbClr val="FFFFFF"/>
                </a:solidFill>
                <a:latin typeface="Calibri"/>
              </a:rPr>
              <a:t>Workbook companion file: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3931920"/>
            <a:ext cx="11091672" cy="45720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2000" b="1" i="0">
                <a:solidFill>
                  <a:srgbClr val="BDD7EE"/>
                </a:solidFill>
                <a:latin typeface="Calibri"/>
              </a:rPr>
              <a:t>Bonus_Plan_FINAL.xlsx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4754880"/>
            <a:ext cx="11091672" cy="45720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800" b="0" i="1">
                <a:solidFill>
                  <a:srgbClr val="BDD7EE"/>
                </a:solidFill>
                <a:latin typeface="Calibri"/>
              </a:rPr>
              <a:t>Two options. One decision. Ready to roll out in 10 weeks.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