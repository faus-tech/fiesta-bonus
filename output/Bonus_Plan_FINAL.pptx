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Fiesta Bonus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0" i="0">
                <a:solidFill>
                  <a:srgbClr val="BDD7EE"/>
                </a:solidFill>
                <a:latin typeface="Calibri"/>
              </a:rPr>
              <a:t>Final Proposal for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91672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Premium-Tiered Base + Per-Policy Collected Incentive + Book Retention Bonus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1091672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BDD7EE"/>
                </a:solidFill>
                <a:latin typeface="Calibri"/>
              </a:rPr>
              <a:t>With $45,000 NB premium / 30% retention minimums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1091672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1">
                <a:solidFill>
                  <a:srgbClr val="BDD7EE"/>
                </a:solidFill>
                <a:latin typeface="Calibri"/>
              </a:rPr>
              <a:t>Modeled on actual Jan-Apr 2026 production: Abel, Dialinerys, Melissa, Flavia, Thalia, Monica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Glossary - What These Terms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Skip this slide if you know the insurance jargon.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2 / 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97280"/>
          <a:ext cx="1124712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18320"/>
              </a:tblGrid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NEW BUSINESS - first time the customer is on the books.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REWRITE - cancel an existing policy and write a NEW one (usually at a different carrier). Churns the book.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RENEWAL - the existing policy renews at the SAME carrier. Customer stays put.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PIF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PAID IN FULL - customer pays the entire premium upfront. Zero chargeback risk.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BODILY INJURY liability - pays the OTHER person's injuries if your customer caused the accident.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UNINSURED MOTORIST - pays YOUR customer if hit by an uninsured driver. Cannot exist without BI.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PIP / 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PERSONAL INJURY PROTECTION and PROPERTY DAMAGE liability. Required in Florida.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Comp / Coll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COMPREHENSIVE / COLLISION - covers your customer's OWN car damage.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Collected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% of premium the customer actually paid. Down payment / total = collected 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Safe Net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Money left after corporate royalty (21%) and overhead (30%). Bonus comes from this pool.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Chargeback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If a policy cancels within 90 days, the bonus is reversed.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Kicker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Bonus multiplier on the collected %. Higher down = bigger multiplier.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Minimum /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A monthly premium threshold the agent must hit to earn that bonus 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FLIP scenario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Hypothetical: 'what if ALL rewrites had been renewals?'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SWAP scenario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Hypothetical: 'what if HALF the rewrites became renewals?'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We're Changing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The current plan pays for activity, not for the right activity.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3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What the current plan does today: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210312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Counts NB and RWR together toward a 35-policy tier - so rewriting and writing new are the SAME.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renewals - agents have zero reason to keep a customer with the current carrier.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collected money - a $50 down looks the same as a $500 down at payout time.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coverage upsell (BI / UM / Comp/Coll).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PIF (paid in full) - even though PIF has the least chargeback risk.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Has no profitability tie - the bonus is set without reference to commission economics.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The cost of that design: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Agents rewrite customers between carriers to grow their count - even when the customer would have renewed.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Customer is moved, the policy starts a NEW 6-month term, persistency drops.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The agency loses the renewal commission it would have earned by keeping the customer in place.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We are paying premium bonus dollars for the worst kind of activity: churning the 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We Want the New Plan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Four behaviors. Each one is rewarded.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82880" cy="219456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70AD47"/>
                </a:solidFill>
                <a:latin typeface="Calibri"/>
              </a:rPr>
              <a:t>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01010"/>
                </a:solidFill>
                <a:latin typeface="Calibri"/>
              </a:rPr>
              <a:t>More new business - but only the kind we can actually keep.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486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182880" cy="2194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2E75B6"/>
                </a:solidFill>
                <a:latin typeface="Calibri"/>
              </a:rP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01010"/>
                </a:solidFill>
                <a:latin typeface="Calibri"/>
              </a:rPr>
              <a:t>Bigger down payments and more PIF - less chargeback, more retention.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5486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182880" cy="219456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BF9000"/>
                </a:solidFill>
                <a:latin typeface="Calibri"/>
              </a:rPr>
              <a:t>RETAIN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01010"/>
                </a:solidFill>
                <a:latin typeface="Calibri"/>
              </a:rPr>
              <a:t>Renew customers instead of rewriting them. Loyalty is a real number.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66160"/>
            <a:ext cx="5486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566160"/>
            <a:ext cx="182880" cy="2194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0332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D7D31"/>
                </a:solidFill>
                <a:latin typeface="Calibri"/>
              </a:rPr>
              <a:t>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4340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01010"/>
                </a:solidFill>
                <a:latin typeface="Calibri"/>
              </a:rPr>
              <a:t>Bonus comes out of safe-net commission, not out of owner's pocket.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BONUS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Same idea as today's 30/38/50 count tiers, but driven by monthly WRITTEN PREMIUM. $1,000 NB at $100k.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5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1. NEW BUSINESS - 5 tiers by monthly written premium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28016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201168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Monthly NB premium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 pays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T1 (min req)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$55,000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$85,000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Above $100k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+$5k of premium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+$50 (1%)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96012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2. REWRITES - same breakpoints, pays ~HALF (gated by NB $45k)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28016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219456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Monthly RWR premium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 pays (~half of NB)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$55,000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$85,000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Above $100k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+$5k of premium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+$25 (0.5%)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749039"/>
            <a:ext cx="1161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3. RENEWALS - own tiers starting at $25k, gated by 30% retention rate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069080"/>
          <a:ext cx="11612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  <a:gridCol w="1371600"/>
                <a:gridCol w="1371600"/>
                <a:gridCol w="1463040"/>
                <a:gridCol w="2286000"/>
              </a:tblGrid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Above $100k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Monthly REN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$65,000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+$5k of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REN pays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+$40 (0.8%)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5532120"/>
            <a:ext cx="1161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4. RULES ON TOP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852160"/>
          <a:ext cx="1161288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08960"/>
                <a:gridCol w="5943600"/>
              </a:tblGrid>
              <a:tr h="23774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3774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NB monthly minimum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$45,000 NB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Equals T1 entry. NB &lt; $45k -&gt; NB pay = $0 (also blocks RWR)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REN monthly minimum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30% retention rate of book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Retain &lt; 30% -&gt; REN pay = 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Chargeback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 months (90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100% bonus reversed if policy cancels/rewrites within 90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Minimum Requirements (NEW)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NB premium &gt;= $45,000/mo + REN retention &gt;= 30% of book. RWR follows NB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6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Why we added a minimum at all: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The old plan required 35 NB+RWR policies. That counts rewriting. The new minimum is premium-based and SPLITS NB from REN - so the agent must be writing new business AND building a renewal book. RWR has no own minimum because we don't reward rewriting volume directly.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4688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4389120"/>
              </a:tblGrid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REAL months pass (24)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SWAP months pass (24)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Plain English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NB &gt;= $45,000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4/24 (17%)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4/24 (17%)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Top performers only - $45k is a stretch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REN retention &gt;= 30%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modeled 75% (75% &gt;= 30%)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75% &gt;= 30% pass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Industry typical retention; model assumes 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BOTH gates (for RWR)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0 (0%)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6 (25%)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Once renewal book exists, RWR also pays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389120"/>
            <a:ext cx="1124712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DOES THE MINIMUM COVER AGENT SALARY?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101010"/>
                </a:solidFill>
                <a:latin typeface="Calibri"/>
              </a:rPr>
              <a:t>• Agent salary basis: $16-$22/hr x 40 hr/wk = $2,773-$3,813/mo (midpoint $3,300).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01010"/>
                </a:solidFill>
                <a:latin typeface="Calibri"/>
              </a:rPr>
              <a:t>• At 25% collected (today's typical): $11,250 collected x 11% x (1-21%) = ~$978 retained (30% of salary).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01010"/>
                </a:solidFill>
                <a:latin typeface="Calibri"/>
              </a:rPr>
              <a:t>• At 50% collected (typical push target): ~$1,955 retained (59% of salary).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01010"/>
                </a:solidFill>
                <a:latin typeface="Calibri"/>
              </a:rPr>
              <a:t>• At 75% collected (top performer): ~$2,933 retained (89% of salary) - covers salary AND generates profit.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01010"/>
                </a:solidFill>
                <a:latin typeface="Calibri"/>
              </a:rPr>
              <a:t>• The MINIMUM is the floor. The COLLECTED KICKER is the lever to cover salary and earn bonus on 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Safe Net - What It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The commission the agency EXPECTS to keep, after royalty and overhead.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7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How commission actually works: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2011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Most carriers pay commission UPFRONT on the WRITTEN premium (advance). Some pay AS EARNED on collected.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On advance carriers, if the customer stops paying, the carrier reverses the unearned commission (chargeback).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Commission RATES vary 8-15% across carriers. We use 11% as a conservative blended rate.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Long-run net commission ~= COLLECTED premium x commission rate. That's what the workbook uses.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657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303520"/>
              </a:tblGrid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Example: $1,500 policy, $150 down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1. Written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Carrier's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2. Commission advance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Premium x 11% blended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$165 advance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3. Net commission expected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Collected x 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$150 x 11% = $16.50 expected to 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4. After royalty (21%)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x 0.79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$13.04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5. After overhead reserve (30%)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x 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$9.13 SAFE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6. Bonus review threshold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Safe net x 40%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$3.65 max bonus on this 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Safe Net - Real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Abel Guaina, January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8 / 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972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4846320"/>
              </a:tblGrid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NB + RWR + REN written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$73,734.92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What Abel sold and renewed in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Carrier commission advance (x 11%)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$8,110.84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Carriers paid us this much upfront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Total collected from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$12,858.65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Cash that came 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Expected retained commission (x 11%)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$1,414.45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After chargeback math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After 17.5% royalty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$1,117.42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After corporate 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SAFE NET (after 40% overhead reserve)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$782.19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Available for bonus + profit + taxes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Review threshold (40% of safe 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$312.88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Bonus targets above this get flagged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New plan target (no min): $252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$252.00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32% of safe net - well under threshold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Takeaway: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$782 of safe net means Abel's January contribution can support a bonus up to ~$313 before ownership wants a second look. Under the new plan, Abel's January target is $252 - about 32% of safe net, well below the 40% review threshold.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does CURRENT bonus DROP when RWR becomes REN?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Renewals pay MORE than rewrites - but only under the new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9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F4E78"/>
                </a:solidFill>
                <a:latin typeface="Calibri"/>
              </a:rPr>
              <a:t>Short answer: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01010"/>
                </a:solidFill>
                <a:latin typeface="Calibri"/>
              </a:rPr>
              <a:t>The CURRENT plan does NOT pay anything for renewals. It only counts NB + RWR toward the 35-policy tier. When 50% of RWR moves to REN, the NB+RWR count drops, the tier drops, the bonus drops. Renewals 'paying more' is only true under the NEW plan, where the REN tier pays a separate bonus once retention rate hits 30%.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Concrete example - Dialinerys Dieguez, March: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9184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97280"/>
                <a:gridCol w="1097280"/>
                <a:gridCol w="1097280"/>
                <a:gridCol w="2377440"/>
                <a:gridCol w="2560320"/>
              </a:tblGrid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Current pays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New plan pays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SWAP (50% RWR -&gt; REN)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$680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$700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-34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+34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-$340 (BAD)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+$100 (GOOD)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Bottom line: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Per swapped policy: Current loses ~$10 from the count tier. New plan gains by climbing the REN premium tiers as the renewal book grows.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Under Current, the agency literally pays LESS when the agent does the right thing.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Under the new plan, the agent gets MORE for retaining instead of rewriting - the exact incentive we want.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Step-By-Step: How the Bonus Is Calculated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Worked example: Dialinerys Dieguez, March 2026. Same agent, same month, three scenarios.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REAL (today)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3703320" cy="5212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4E78"/>
                </a:solidFill>
                <a:latin typeface="Calibri"/>
              </a:rPr>
              <a:t>Monthly volume: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1391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NB: 38 policies, $52k written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1051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RWR: 69 policies, $96k written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0710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REN: 7 policies, $6k written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20370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4E78"/>
                </a:solidFill>
                <a:latin typeface="Calibri"/>
              </a:rPr>
              <a:t>Hit a premium tier: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40030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NB $52k -&gt; T1 $45k = $250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59689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RWR $96k -&gt; T4 $85k = $350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9349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REN $6k -&gt; Below T1 = 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99008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4E78"/>
                </a:solidFill>
                <a:latin typeface="Calibri"/>
              </a:rPr>
              <a:t>TARGET TOTAL = $600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18668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4E78"/>
                </a:solidFill>
                <a:latin typeface="Calibri"/>
              </a:rPr>
              <a:t>Apply gates: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38328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NB $52k vs $45k: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57987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REN retention 75% vs 30%: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77647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RWR (follows NB):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97306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4E78"/>
                </a:solidFill>
                <a:latin typeface="Calibri"/>
              </a:rPr>
              <a:t>PAID = $600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50% SWAP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1371600"/>
            <a:ext cx="3703320" cy="5212080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141732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Monthly volume: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161391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NB: 38 policies, $52k written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181051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RWR: 35 policies, $48k written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200710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REN: 41 policies, $54k written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220370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Hit a premium tier: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240030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NB $52k -&gt; T1 $45k = $250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259689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RWR $48k -&gt; T1 $45k = $100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279349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REN $54k -&gt; T2 $40k = $350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299008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TARGET TOTAL = $700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318668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Apply gates: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338328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NB $52k vs $45k: 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357987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REN retention 75% vs 30%: 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377647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RWR (follows NB): 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968" y="397306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PAID = $700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 FLIP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74736" y="1371600"/>
            <a:ext cx="3703320" cy="52120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66176" y="141732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F9000"/>
                </a:solidFill>
                <a:latin typeface="Calibri"/>
              </a:rPr>
              <a:t>Monthly volume: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6" y="161391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NB: 38 policies, $52k written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181051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RWR: 7 policies, $6k written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6176" y="200710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REN: 69 policies, $96k written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6" y="220370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F9000"/>
                </a:solidFill>
                <a:latin typeface="Calibri"/>
              </a:rPr>
              <a:t>Hit a premium tier: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6" y="240030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NB $52k -&gt; T1 $45k = $250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6" y="259689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RWR $6k -&gt; Below T1 = 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66176" y="279349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REN $96k -&gt; T4 $80k = $550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66176" y="299008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F9000"/>
                </a:solidFill>
                <a:latin typeface="Calibri"/>
              </a:rPr>
              <a:t>TARGET TOTAL = $800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66176" y="318668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F9000"/>
                </a:solidFill>
                <a:latin typeface="Calibri"/>
              </a:rPr>
              <a:t>Apply gates: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6176" y="338328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NB $52k vs $45k: 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6176" y="357987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REN retention 75% vs 30%: PASS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66176" y="377647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RWR (follows NB): PASS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66176" y="397306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F9000"/>
                </a:solidFill>
                <a:latin typeface="Calibri"/>
              </a:rPr>
              <a:t>PAID = $800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Abel Guaina - Month by Month, All Three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All values are NEW PLAN WITH MIN. $W = written premium, $C = collected.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11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F4E78"/>
                </a:solidFill>
                <a:latin typeface="Calibri"/>
              </a:rPr>
              <a:t>REAL (today)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3444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$148k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$99k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274320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50% SWAP (RWR-&gt;REN)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01752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$148k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452628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100% FLIP (RWR&lt;-&gt;REN)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80060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$148k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$99k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$1000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" y="6400800"/>
            <a:ext cx="1161288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1">
                <a:solidFill>
                  <a:srgbClr val="1F4E78"/>
                </a:solidFill>
                <a:latin typeface="Calibri"/>
              </a:rPr>
              <a:t>Today's current plan pays $1,300. New plan WITH MIN: REAL $250 | SWAP $250 | FLIP $1,000.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Dialinerys Dieguez - Month by Month, All Three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All values are NEW PLAN WITH MIN. $W = written premium, $C = collected.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12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F4E78"/>
                </a:solidFill>
                <a:latin typeface="Calibri"/>
              </a:rPr>
              <a:t>REAL (today)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3444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$96k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$19.7k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$16.7k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$172k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274320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50% SWAP (RWR-&gt;REN)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01752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$10.4k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$9.9k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$12.9k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$700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$11.3k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$172k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$2000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452628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100% FLIP (RWR&lt;-&gt;REN)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80060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$96k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$19.7k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$800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$16.7k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$172k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$2400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" y="6400800"/>
            <a:ext cx="1161288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1">
                <a:solidFill>
                  <a:srgbClr val="1F4E78"/>
                </a:solidFill>
                <a:latin typeface="Calibri"/>
              </a:rPr>
              <a:t>Today's current plan pays $3,140. New plan WITH MIN: REAL $1,050 | SWAP $2,000 | FLIP $2,400.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Melissa Hernandez - Month by Month, All Three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All values are NEW PLAN WITH MIN. $W = written premium, $C = collected.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13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F4E78"/>
                </a:solidFill>
                <a:latin typeface="Calibri"/>
              </a:rPr>
              <a:t>REAL (today)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3444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$11.9k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$214k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274320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50% SWAP (RWR-&gt;REN)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01752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452628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100% FLIP (RWR&lt;-&gt;REN)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80060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$11.9k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$214k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$1400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" y="6400800"/>
            <a:ext cx="1161288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1">
                <a:solidFill>
                  <a:srgbClr val="1F4E78"/>
                </a:solidFill>
                <a:latin typeface="Calibri"/>
              </a:rPr>
              <a:t>Today's current plan pays $2,370. New plan WITH MIN: REAL $0 | SWAP $750 | FLIP $1,400.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Flavia Parra - Month by Month, All Three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All values are NEW PLAN WITH MIN. $W = written premium, $C = collected.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14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F4E78"/>
                </a:solidFill>
                <a:latin typeface="Calibri"/>
              </a:rPr>
              <a:t>REAL (today)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3444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$9.1k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274320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50% SWAP (RWR-&gt;REN)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01752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452628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100% FLIP (RWR&lt;-&gt;REN)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80060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$9.1k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" y="6400800"/>
            <a:ext cx="1161288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1">
                <a:solidFill>
                  <a:srgbClr val="1F4E78"/>
                </a:solidFill>
                <a:latin typeface="Calibri"/>
              </a:rPr>
              <a:t>Today's current plan pays $2,070. New plan WITH MIN: REAL $0 | SWAP $0 | FLIP $850.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Thalia Rojas - Month by Month, All Three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All values are NEW PLAN WITH MIN. $W = written premium, $C = collected.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15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F4E78"/>
                </a:solidFill>
                <a:latin typeface="Calibri"/>
              </a:rPr>
              <a:t>REAL (today)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3444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$121k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274320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50% SWAP (RWR-&gt;REN)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01752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452628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100% FLIP (RWR&lt;-&gt;REN)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80060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$121k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" y="6400800"/>
            <a:ext cx="1161288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1">
                <a:solidFill>
                  <a:srgbClr val="1F4E78"/>
                </a:solidFill>
                <a:latin typeface="Calibri"/>
              </a:rPr>
              <a:t>Today's current plan pays $1,400. New plan WITH MIN: REAL $0 | SWAP $0 | FLIP $750.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Monica Valdes - Month by Month, All Three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All values are NEW PLAN WITH MIN. $W = written premium, $C = collected.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16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F4E78"/>
                </a:solidFill>
                <a:latin typeface="Calibri"/>
              </a:rPr>
              <a:t>REAL (today)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3444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$17.0k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$170k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274320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50% SWAP (RWR-&gt;REN)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01752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$17.0k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$375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$97k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$875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452628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F9000"/>
                </a:solidFill>
                <a:latin typeface="Calibri"/>
              </a:rPr>
              <a:t>100% FLIP (RWR&lt;-&gt;REN)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800600"/>
          <a:ext cx="7863840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502920"/>
                <a:gridCol w="777240"/>
                <a:gridCol w="777240"/>
                <a:gridCol w="502920"/>
                <a:gridCol w="777240"/>
                <a:gridCol w="777240"/>
                <a:gridCol w="502920"/>
                <a:gridCol w="777240"/>
                <a:gridCol w="777240"/>
                <a:gridCol w="1188720"/>
              </a:tblGrid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NB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RWR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REN#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 $C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New plan WITH MIN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$1.4k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$8.2k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$47k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$17.0k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$5.3k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$625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$6.2k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$0.3k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$7.3k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3317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$36k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$170k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$1575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" y="6400800"/>
            <a:ext cx="1161288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1">
                <a:solidFill>
                  <a:srgbClr val="1F4E78"/>
                </a:solidFill>
                <a:latin typeface="Calibri"/>
              </a:rPr>
              <a:t>Today's current plan pays $1,940. New plan WITH MIN: REAL $375 | SWAP $875 | FLIP $1,575.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Headline - 4-Month Totals Across 3 Scenarios (6 agents)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REAL = today. 50% SWAP = half of rewrites become renewals. 100% FLIP = renewals &amp; rewrites fully swapped.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17 / 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9728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1463040"/>
                <a:gridCol w="1463040"/>
                <a:gridCol w="3931920"/>
              </a:tblGrid>
              <a:tr h="5029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REAL (today)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50% SWAP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100% FLIP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029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01010"/>
                          </a:solidFill>
                          <a:latin typeface="Calibri"/>
                        </a:rPr>
                        <a:t>Current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$12,220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$7,110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CRASHES - current pays $0 for 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01010"/>
                          </a:solidFill>
                          <a:latin typeface="Calibri"/>
                        </a:rPr>
                        <a:t>New plan - no minimum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$2,925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$3,875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$7,975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Calculated target before applying minimums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01010"/>
                          </a:solidFill>
                          <a:latin typeface="Calibri"/>
                        </a:rPr>
                        <a:t>New plan WITH MIN (RECOMMENDED)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$3,875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$7,975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Pays when NB &gt;= $45k/mo and retention &gt;=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The headline: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23774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Current plan COLLAPSES under the flip ($2,750 vs today's $12,220). It only rewards rewrite VOLUME.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New plan WITH MIN under 100% FLIP = $7,975 (65% of today's $12,220). The agency keeps more profit while still rewarding the right behavior.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New plan rewards what the current plan ignores: writing bigger NB books AND keeping renewals - each has its own premium tier ladder.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The pitch to the agent: 'today you're earning $509/mo on rewrites. Under the new plan, when you renew instead, the REN tier kicks in - up to $800 at $100k retained.'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We Protect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Three layers. 90-day chargeback is the strongest.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18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49039" cy="521208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749039" cy="7315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MINIMUM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NB premium ≥ $45,000/mo + REN retention ≥ 30%. RWR follows NB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If the agent is not producing baseline volume, NO bonus that month. Easy to understand, easy to enforce.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188720"/>
            <a:ext cx="3749039" cy="52120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188720"/>
            <a:ext cx="3749039" cy="73152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2344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REVIEW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0312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If monthly bonus &gt; 40% of safe net, ownership reviews.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47472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Soft flag, not auto-cut. Catches outlier months where collection is unusually 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4464" y="1188720"/>
            <a:ext cx="3749039" cy="521208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1188720"/>
            <a:ext cx="3749039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2344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90-DAY CHARGEBACK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10312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100% of the paid bonus is REVERSED if the policy cancels or rewrites within 90 days.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47472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This is the real profit shield. Matches the carrier's commission chargeback exposure exactly. If the agency loses commission, the agent loses bonus.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The Bonus Plan with $45,000 NB + 30% retention minimums. Pilot 90 days, then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19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28600" cy="13716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F4E78"/>
                </a:solidFill>
                <a:latin typeface="Calibri"/>
              </a:rPr>
              <a:t>THE NEW BONUS PLAN - with $45,000 NB premium + 30% retention minimums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01010"/>
                </a:solidFill>
                <a:latin typeface="Calibri"/>
              </a:rPr>
              <a:t>Balanced for agent motivation, retention upside, profit protection, and clean payroll math.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Why the new plan beats today's: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Same structure as today (count tiers -&gt; $X) but driven by PREMIUM written, not policy count.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Pays for RENEWALS (today's plan pays $0) - REN gets its own tier ladder starting at $25k.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Bigger jumps at the top tiers - $1,000 NB at $100k premium, with linear 1% upside above.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Costs LESS at full target than today's count-tier plan - new plan FLIP $7,975 vs current $12,220.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Levers to fine-tune over time: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1) Tier amounts (lower entry / higher top to motivate harder).   2) Tier breakpoints ($45k entry / $100k top - tighten or loosen the ladder).   3) Retention rate gate (30% today - dial up over time as the renewal book builds).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Three phases. ~10 weeks from approval to first chargeback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20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1691640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28600" cy="1691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WEEK 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188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APPROVE + COMMUNICATE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Ownership signs off on the new plan rules and minimum thresholds.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Manager rolls out the rules to the agents.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Print the Manual Tracker (in the workbook) for each desk.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11247120" cy="169164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228600" cy="169164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70AD47"/>
                </a:solidFill>
                <a:latin typeface="Calibri"/>
              </a:rPr>
              <a:t>WEEK 3-6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71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PILOT MONTH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Run the plan side-by-side with the OLD plan for ONE FULL MONTH.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Pay agents the HIGHER of the two each month during the pilot.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Use the manual tracker to verify coverage / PIF / collected.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End of month: compare actual paid vs forecast and adjust if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11247120" cy="169164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228600" cy="169164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BF9000"/>
                </a:solidFill>
                <a:latin typeface="Calibri"/>
              </a:rPr>
              <a:t>WEEK 7-10+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FULL ROLLOUT +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Switch to NEW plan exclusively.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Run monthly review at the 40% safe-net flag.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At week 12 (90 days after first paid policies), run the FIRST CHARGEBACK review.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At 90 days end: re-baseline rates if the renewal book has started to build.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Decision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0" i="0">
                <a:solidFill>
                  <a:srgbClr val="BDD7EE"/>
                </a:solidFill>
                <a:latin typeface="Calibri"/>
              </a:rPr>
              <a:t>The new bonus plan with NB &amp; retention minimums.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Workbook companion file: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BDD7EE"/>
                </a:solidFill>
                <a:latin typeface="Calibri"/>
              </a:rPr>
              <a:t>Bonus_Plan_FINAL.xlsx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1">
                <a:solidFill>
                  <a:srgbClr val="BDD7EE"/>
                </a:solidFill>
                <a:latin typeface="Calibri"/>
              </a:rPr>
              <a:t>One plan. One decision. Ready to roll out in 10 weeks.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