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Fiesta Bonus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0" i="0">
                <a:solidFill>
                  <a:srgbClr val="BDD7EE"/>
                </a:solidFill>
                <a:latin typeface="Calibri"/>
              </a:rPr>
              <a:t>Final Proposal for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Premium-Tiered Base + Per-Policy Collected Incentive + Book Retention Bonus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BDD7EE"/>
                </a:solidFill>
                <a:latin typeface="Calibri"/>
              </a:rPr>
              <a:t>With $45,000 NB premium / 30% retention minimums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BDD7EE"/>
                </a:solidFill>
                <a:latin typeface="Calibri"/>
              </a:rPr>
              <a:t>Modeled on actual Jan-Apr 2026 production: Abel, Dialinerys, Melissa, Flavia, Thalia, Monica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Glossary - What These Terms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Skip this slide if you know the insurance jargon.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NEW BUSINESS - first time the customer is on the books.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REWRITE - cancel an existing policy and write a NEW one (usually at a different carrier). Churns the book.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RENEWAL - the existing policy renews at the SAME carrier. Customer stays put.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PAID IN FULL - customer pays the entire premium upfront. Zero chargeback risk.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BODILY INJURY liability - pays the OTHER person's injuries if your customer caused the accident.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UNINSURED MOTORIST - pays YOUR customer if hit by an uninsured driver. Cannot exist without BI.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PIP /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PERSONAL INJURY PROTECTION and PROPERTY DAMAGE liability. Required in Florida.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Comp / Coll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COMPREHENSIVE / COLLISION - covers your customer's OWN car damage.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% of premium the customer actually paid. Down payment / total = collected 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Money left after corporate royalty (21%) and overhead (30%). Bonus comes from this pool.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If a policy cancels within 90 days, the bonus is reversed.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Kicker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multiplier on the collected %. Higher down = bigger multiplier.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Minimum /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 monthly premium threshold the agent must hit to earn that bonus line.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FLIP scenario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ALL rewrites had been renewals?'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SWAP scenario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HALF the rewrites became renewals?'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We're Changing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current plan pays for activity, not for the right activity.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What the current plan does today: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Counts NB and RWR together toward a 35-policy tier - so rewriting and writing new are the SAME.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renewals - agents have zero reason to keep a customer with the current carrier.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collected money - a $50 down looks the same as a $500 down at payout time.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coverage upsell (BI / UM / Comp/Coll).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PIF (paid in full) - even though PIF has the least chargeback risk.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Has no profitability tie - the bonus is set without reference to commission economics.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cost of that design: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Agents rewrite customers between carriers to grow their count - even when the customer would have renewed.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Customer is moved, the policy starts a NEW 6-month term, persistency drops.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The agency loses the renewal commission it would have earned by keeping the customer in place.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We are paying premium bonus dollars for the worst kind of activity: churning the book.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We Want the New Plan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Four behaviors. Each one is rewarded.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4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182880" cy="219456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70AD47"/>
                </a:solidFill>
                <a:latin typeface="Calibri"/>
              </a:rPr>
              <a:t>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More new business - but only the kind we can actually keep.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188720"/>
            <a:ext cx="182880" cy="21945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2E75B6"/>
                </a:solidFill>
                <a:latin typeface="Calibri"/>
              </a:rPr>
              <a:t>COLLECT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Bigger down payments and more PIF - less chargeback, more retention.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182880" cy="21945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BF9000"/>
                </a:solidFill>
                <a:latin typeface="Calibri"/>
              </a:rPr>
              <a:t>RETAIN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Renew customers instead of rewriting them. Loyalty is a real number.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3566160"/>
            <a:ext cx="182880" cy="21945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7D31"/>
                </a:solidFill>
                <a:latin typeface="Calibri"/>
              </a:rPr>
              <a:t>PROFIT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Bonus comes out of safe-net commission, not out of owner's pocket.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BONUS PLAN (boss-approved framework)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No tiers. Flat per-policy base. Per-policy collected incentive on policies &gt;$1,200. Plus a book retention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1. PER-POLICY BASE (TIERED by written premium)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80160"/>
          <a:ext cx="56692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54480"/>
                <a:gridCol w="914400"/>
                <a:gridCol w="1371600"/>
              </a:tblGrid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Premium tier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Under $1,200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$1,200 - $1,799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$1,800 - $2,499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$2,500 - $2,999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$3,000+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$13+$2/$1k (max $25)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2. COLLECTED INCENTIVE (only on policies &gt; $1,200)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280160"/>
          <a:ext cx="566928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68880"/>
              </a:tblGrid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Collected % of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Extra per policy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Below 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 (no incentive)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25% to 49%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50% to 99%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PIF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283464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3. BOOK RETENTION BONUS (paid every month, NOT gated by minimums)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154680"/>
          <a:ext cx="1161288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743200"/>
                <a:gridCol w="4754880"/>
              </a:tblGrid>
              <a:tr h="41148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 values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41148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% of NB premium written 6 months ago still on the books today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Retention Rate x $300/mo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70% retention -&gt; $210/mo | 80% -&gt; $240/mo | 90% -&gt; $270/mo | 100% -&gt; $300/mo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5196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4. RULES ON TOP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572000"/>
          <a:ext cx="11612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108960"/>
                <a:gridCol w="594360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monthly minimum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 NB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If NB premium &lt; $35k that month, NB pay = 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monthly minimum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30% retention of book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If retention &lt; 30%, REN pay = 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RWR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gate met (or both)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RWR paid when NB gate met. Meeting both also works.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 months (90 days)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bonus reversed if policy cancels/rewrites within 90 days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Excel tracker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Required for every 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Agent enters policy info + down + premium. No entry = no bonus.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Renewal book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Assigned per agent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Newer agents inherit a renewal book from former employees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Minimum Requirements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NB premium &gt;= $45,000/mo + REN retention &gt;= 30% of book. RWR follows NB gate.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added a minimum at all: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  <a:latin typeface="Calibri"/>
              </a:rPr>
              <a:t>The old plan required 35 NB+RWR policies. That counts rewriting. The new minimum is premium-based and SPLITS NB from REN - so the agent must be writing new business AND building a renewal book. RWR has no own minimum because we don't reward rewriting volume directly.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468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43891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REAL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SWAP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&gt;= 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Top performers only - $45k is a stretch goal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retention &gt;= 30%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modeled 75% (75% &gt;= 30%)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75% &gt;= 30% pass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Industry typical retention; model assumes 75%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BOTH gates (for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Once renewal book exists, RWR also pays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389120"/>
            <a:ext cx="11247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DOES THE MINIMUM COVER AGENT SALARY?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Agent salary basis: $16-$22/hr x 40 hr/wk = $2,773-$3,813/mo (midpoint $3,300).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25% collected (today's typical): $11,250 collected x 11% x (1-21%) = ~$978 retained (30%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50% collected (kicker target): ~$1,955 retained (59%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75% collected (top performer): ~$2,933 retained (89% of salary) - covers salary AND generates profit.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The MINIMUM is the floor. The COLLECTED KICKER is the lever to cover salary and earn bonus on top.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Collected % Kicker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Bigger down payments = less chargeback = bigger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7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8872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4846320"/>
                <a:gridCol w="228600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Multiplier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$10 target -&gt; Pays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Below 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1.00 (none)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Premium barely collected. No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15% - 24%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1.10 (+10%)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Minimum down. Small kicker.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25% - 49%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1.15 (+15%)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Standard down. Standard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50% - 99%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1.20 (+20%)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High collection. Stronger kicker.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100% (PIF)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1.25 (+25%)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Paid in full. Top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incentivize collected % (not just written premium):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Down payment + PIF money is the ONLY money we are SURE we will keep. Everything else can be charged back.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Bigger down -&gt; smaller monthly bills -&gt; customer is less likely to cancel -&gt; we keep more commission.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PIF (paid in full) = no chargeback risk at all. PIF earns the biggest kicker AND a PIF dollar add-on.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Some carriers pay commission as advance on written premium (chargeback if customer cancels). Some pay as-earned on collected. Either way - net commission ~= collected x rate. The kicker rewards retention through collection.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What It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commission the agency EXPECTS to keep, after royalty and overhead.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8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How commission actually works: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Most carriers pay commission UPFRONT on the WRITTEN premium (advance). Some pay AS EARNED on collected.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On advance carriers, if the customer stops paying, the carrier reverses the unearned commission (chargeback).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Commission RATES vary 8-15% across carriers. We use 11% as a conservative blended rate.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Long-run net commission ~= COLLECTED premium x commission rate. That's what the workbook uses.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53035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Example: $1,500 policy, $150 down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1.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Carrier's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2. Commission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Premium x 11% blended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$165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3. Net commission expected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x 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$150 x 11% = $16.50 expected to keep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4. After royalty (21%)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$13.04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5. After overhead reserve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$9.13 SAFE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6. Bonus review threshold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Safe net x 40%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$3.65 max bonus on this policy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Real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Abel Guaina, January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9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48463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 + RWR + REN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$73,734.92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What Abel sold and renewed in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Carrier commission advance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$8,110.84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Carriers paid us this much upfront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Total collected from customers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$12,858.65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Cash that came 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Expected retained commission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$1,414.45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chargeback math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After 17.5% royalty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$1,117.42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corporate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 (after 40% overhead reserve)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$782.19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Available for bonus + profit + taxes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Review threshold (40% of safe net)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$312.88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targets above this get flagged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A target (no min): $252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$252.00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32% of safe net - 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B target (no min): $399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$399.46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51% of safe net - flagged for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Takeaway: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$700 of safe net means Abel's January contribution can support a bonus up to ~$280 before ownership wants a second look. The actual bonus depends on the plan rules - Plan A pays $252 (under threshold), Plan B pays $399 (above threshold, flagged but not auto-cut).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does CURRENT bonus DROP when RWR becomes REN?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Renewals pay MORE than rewrites - but only under the new plans.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10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1F4E78"/>
                </a:solidFill>
                <a:latin typeface="Calibri"/>
              </a:rPr>
              <a:t>Short answer: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101010"/>
                </a:solidFill>
                <a:latin typeface="Calibri"/>
              </a:rPr>
              <a:t>The CURRENT plan does NOT pay anything for renewals. It only counts NB + RWR toward the 35-policy tier. When 50% of RWR moves to REN, the NB+RWR count drops, the tier drops, the bonus drops. Renewals 'paying more' is only true under the NEW plans (REN pays $4-$6 vs RWR $2).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Concrete example - Dialinerys Dieguez, March: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9184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97280"/>
                <a:gridCol w="1097280"/>
                <a:gridCol w="2377440"/>
                <a:gridCol w="2560320"/>
              </a:tblGrid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Current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 B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SWAP (50% RWR -&gt; 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$842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-$340 (BAD)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+$113 (GOOD)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Bottom line: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Per swapped policy: Current loses ~$10 from the count tier. Plan B gains $4-$6 net ($4-$6 REN - $2 RWR).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Current, the agency literally pays LESS when the agent does the right thing.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Plan B, the agent gets MORE for retaining instead of rewriting - the exact incentive we want.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Step-By-Step: How the Bonus Is Calculated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Worked example: Dialinerys Dieguez, March 2026. Same agent, same month, three scenarios.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71600"/>
            <a:ext cx="3703320" cy="5212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Volume: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69, $96k W / $19.7k C (20%, avg $1,395)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7, $6k W / $3.1k C (52%, avg $852)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Per-policy BASE (tiered):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tier 'Under $1,200': 7 x $4 = $28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'$1,200-$1,799': 69 x $3 = $207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Collected incentive (&gt;$1,200 only):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+$0/pol x 43% = $0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+$3/pol x 14% = $3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+$0/pol x 44% = $0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Retention (75% x $300) = $225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TARGET TOTAL = $729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Apply gates: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(both): PASS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95604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PAID = $729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4528" y="1371600"/>
            <a:ext cx="3703320" cy="521208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15968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Volume: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35, $48k W / $9.9k C (20%, avg $1,375)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5968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41, $54k W / $12.9k C (24%, avg $1,319)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15968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Per-policy BASE (tiered):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968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tier '$1,200-$1,799': 41 x $6 = $246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8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'$1,200-$1,799': 35 x $3 = $105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5968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Collected incentive (&gt;$1,200 only):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5968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+$0/pol x 43% = 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15968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+$0/pol x 40% =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15968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+$0/pol x 43% = 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5968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Retention (75% x $300) = $225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5968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TARGET TOTAL = $842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15968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Apply gates: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8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5968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15968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(both): PASS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15968" y="495604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PAID = $842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74736" y="1371600"/>
            <a:ext cx="3703320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66176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Volume: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66176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66176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7, $6k W / $3.1k C (52%, avg $852)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6176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69, $96k W / $19.7k C (20%, avg $1,395)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6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Per-policy BASE (tiered):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66176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6176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tier '$1,200-$1,799': 69 x $6 = $414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66176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'Under $1,200': 7 x $2 = $14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6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Collected incentive (&gt;$1,200 only):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6176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+$0/pol x 43% = 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6176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+$0/pol x 44% = 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6176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+$3/pol x 14% = $3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6176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Retention (75% x $300) = $225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6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TARGET TOTAL = $922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Apply gates: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66176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66176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66176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(both): PASS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66176" y="495604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PAID = $922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Abel Guaina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12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$1519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$1506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$1,300. Plan B WITH MIN: REAL $1,301 | SWAP $1,519 | FLIP $1,506.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Dialinerys Dieguez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$842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$735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$2459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$513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$561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$922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$770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$2766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$3,140. Plan B WITH MIN: REAL $1,933 | SWAP $2,459 | FLIP $2,766.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Melissa Hernandez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14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$1366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$513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$417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$2,370. Plan B WITH MIN: REAL $908 | SWAP $1,366 | FLIP $1,750.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Flavia Parra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$414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$341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$2,070. Plan B WITH MIN: REAL $919 | SWAP $1,214 | FLIP $1,482.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Thalia Rojas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$340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$342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$1267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$1358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$1,400. Plan B WITH MIN: REAL $998 | SWAP $1,267 | FLIP $1,358.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Monica Valdes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17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$711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$753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$1956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$1,940. Plan B WITH MIN: REAL $1,392 | SWAP $1,704 | FLIP $1,956.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Headline - 4-Month Totals Across 3 Scenarios (6 agents)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REAL = today. 50% SWAP = half of rewrites become renewals. 100% FLIP = renewals &amp; rewrites fully swapped.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18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463040"/>
                <a:gridCol w="1463040"/>
                <a:gridCol w="4297680"/>
              </a:tblGrid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REAL (today)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50% SWAP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100% FLIP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Current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CRASHES - current pays $0 for 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$11,842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$13,079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$13,730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- new plan pays REN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WITH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$7,452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$9,530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$10,818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as REN gate opens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$11,842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$13,079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$13,730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Top motivator - FLIP exceeds today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WITH MIN (RECOMMENDED)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$7,452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$9,530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$10,818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FLIP matches today's $12k pay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headline: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73736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Current plan COLLAPSES under the flip ($2,750 vs today's $12,220). It only rewards rewrite VOLUME.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WITH MIN under 100% FLIP = $10,818. Compare to today's current $12,220: agents earn the SAME for doing the RIGHT behavior.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no-min under FLIP = $13,730, which is ABOVE today's pay. Some headroom if ownership wants to be more generous.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The pitch to the agent: 'today you're earning $509/mo on rewrites. Under the new plan, when you renew instead, you earn the same dollars - but the customer stays put.'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How We Protect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layers. 90-day chargeback is the strongest.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19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3749039" cy="52120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3749039" cy="7315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MINIMUM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NB premium ≥ $45,000/mo + REN retention ≥ 30%. RWR follows NB gate.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If the agent is not producing baseline volume, NO bonus that month. Easy to understand, easy to enforce.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188720"/>
            <a:ext cx="3749039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188720"/>
            <a:ext cx="3749039" cy="73152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REVIEW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If monthly bonus &gt; 40% of safe net, ownership reviews.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Soft flag, not auto-cut. Catches outlier months where collection is unusually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188720"/>
            <a:ext cx="3749039" cy="521208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188720"/>
            <a:ext cx="3749039" cy="7315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90-DAY CHARGEBACK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of the paid bonus is REVERSED if the policy cancels or rewrites within 90 days.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This is the real profit shield. Matches the carrier's commission chargeback exposure exactly. If the agency loses commission, the agent loses bonus.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Bonus Plan with $45,000 NB + 30% retention minimums. Pilot 90 days, then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20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3716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F4E78"/>
                </a:solidFill>
                <a:latin typeface="Calibri"/>
              </a:rPr>
              <a:t>THE BONUS PLAN (Plan A) - with $45,000 NB premium + 30% retention minimums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01010"/>
                </a:solidFill>
                <a:latin typeface="Calibri"/>
              </a:rPr>
              <a:t>Best balance of agent motivation, sales-story clarity, profitability protection, and pay-near-current when behavior shifts.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Plan B over Plan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has the strongest UPSELL story: 'every BI+UM bundle is worth $5'. Easy to coach, easy to defend.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pays closest to today's number when behavior shifts (close to par in SWAP scenario).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rewards coverage QUALITY - which carriers prefer and persistency improves.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A is leaner (lower cost) - keep as fallback if Plan B is too generous.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Levers to fine-tune over 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1) Coverage adoption (estimated 35% of NB, 30% of REN - track actual).   2) Minimum thresholds - softer ($25k/$15k) if too punishing, tighter ($45k/$25k) if too easy.   3) PIF and kicker amounts to balance pay vs profit.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phases. ~10 weeks from approval to first chargeback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69164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691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1887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WEEK 1-2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1887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APPROVE + COMMUNICATE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0020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Ownership picks Plan A or B and signs off on minimums.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Manager rolls out the rules to the agents.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Print the Agent Quick Reference (in the workbook) for each desk.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11247120" cy="169164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228600" cy="169164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7180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70AD47"/>
                </a:solidFill>
                <a:latin typeface="Calibri"/>
              </a:rPr>
              <a:t>WEEK 3-6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71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PILOT MONTH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8328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the plan side-by-side with the OLD plan for ONE FULL MONTH.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Pay agents the HIGHER of the two each month during the pilot.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Use the manual tracker to verify coverage / PIF / collected.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End of month: compare actual paid vs forecast and adjust if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63440"/>
            <a:ext cx="11247120" cy="16916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228600" cy="16916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BF9000"/>
                </a:solidFill>
                <a:latin typeface="Calibri"/>
              </a:rPr>
              <a:t>WEEK 7-10+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7548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FULL ROLLOUT +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6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Switch to NEW plan exclusively.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monthly review at the 40% safe-net flag.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week 12 (90 days after first paid policies), run the FIRST CHARGEBACK review.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90 days end: re-baseline rates if the renewal book has started to build.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Decision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400" b="0" i="0">
                <a:solidFill>
                  <a:srgbClr val="BDD7EE"/>
                </a:solidFill>
                <a:latin typeface="Calibri"/>
              </a:rPr>
              <a:t>Plan B with the new minimums.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Workbook companion file: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BDD7EE"/>
                </a:solidFill>
                <a:latin typeface="Calibri"/>
              </a:rPr>
              <a:t>Bonus_Plan_FINAL.xlsx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1">
                <a:solidFill>
                  <a:srgbClr val="BDD7EE"/>
                </a:solidFill>
                <a:latin typeface="Calibri"/>
              </a:rPr>
              <a:t>Two options. One decision. Ready to roll out in 10 weeks.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