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Fiesta Bonus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0" i="0">
                <a:solidFill>
                  <a:srgbClr val="BDD7EE"/>
                </a:solidFill>
                <a:latin typeface="Calibri"/>
              </a:rPr>
              <a:t>Final Proposal for Ownership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Premium-Tiered Base + Per-Policy Collected Incentive + Book Retention Bonus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BDD7EE"/>
                </a:solidFill>
                <a:latin typeface="Calibri"/>
              </a:rPr>
              <a:t>With $45,000 NB premium / 30% retention minimums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BDD7EE"/>
                </a:solidFill>
                <a:latin typeface="Calibri"/>
              </a:rPr>
              <a:t>Modeled on actual Jan-Apr 2026 production: Abel, Dialinerys, Melissa, Flavia, Thalia, Monica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Glossary - What These Terms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Skip this slide if you know the insurance jargon.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NEW BUSINESS - first time the customer is on the books.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REWRITE - cancel an existing policy and write a NEW one (usually at a different carrier). Churns the book.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RENEWAL - the existing policy renews at the SAME carrier. Customer stays put.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PIF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PAID IN FULL - customer pays the entire premium upfront. Zero chargeback risk.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BODILY INJURY liability - pays the OTHER person's injuries if your customer caused the accident.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UNINSURED MOTORIST - pays YOUR customer if hit by an uninsured driver. Cannot exist without BI.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PIP /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PERSONAL INJURY PROTECTION and PROPERTY DAMAGE liability. Required in Florida.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Comp / Coll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COMPREHENSIVE / COLLISION - covers your customer's OWN car damage.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Collected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% of premium the customer actually paid. Down payment / total = collected %.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Safe Net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Money left after corporate royalty (21%) and overhead (30%). Bonus comes from this pool.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If a policy cancels within 90 days, the bonus is reversed.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Kicker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multiplier on the collected %. Higher down = bigger multiplier.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Minimum /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 monthly premium threshold the agent must hit to earn that bonus line.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FLIP scenario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Hypothetical: 'what if ALL rewrites had been renewals?'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SWAP scenario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Hypothetical: 'what if HALF the rewrites became renewals?'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We're Changing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current plan pays for activity, not for the right activity.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What the current plan does today: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Counts NB and RWR together toward a 35-policy tier - so rewriting and writing new are the SAME.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renewals - agents have zero reason to keep a customer with the current carrier.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collected money - a $50 down looks the same as a $500 down at payout time.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coverage upsell (BI / UM / Comp/Coll).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PIF (paid in full) - even though PIF has the least chargeback risk.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Has no profitability tie - the bonus is set without reference to commission economics.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cost of that design: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Agents rewrite customers between carriers to grow their count - even when the customer would have renewed.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Customer is moved, the policy starts a NEW 6-month term, persistency drops.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The agency loses the renewal commission it would have earned by keeping the customer in place.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We are paying premium bonus dollars for the worst kind of activity: churning the book.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What We Want the New Plan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Four behaviors. Each one is rewarded.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4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182880" cy="219456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70AD47"/>
                </a:solidFill>
                <a:latin typeface="Calibri"/>
              </a:rPr>
              <a:t>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More new business - but only the kind we can actually keep.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188720"/>
            <a:ext cx="182880" cy="21945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2E75B6"/>
                </a:solidFill>
                <a:latin typeface="Calibri"/>
              </a:rPr>
              <a:t>COLLECT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Bigger down payments and more PIF - less chargeback, more retention.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566160"/>
            <a:ext cx="182880" cy="21945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BF9000"/>
                </a:solidFill>
                <a:latin typeface="Calibri"/>
              </a:rPr>
              <a:t>RETAIN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Renew customers instead of rewriting them. Loyalty is a real number.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3566160"/>
            <a:ext cx="182880" cy="219456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7D31"/>
                </a:solidFill>
                <a:latin typeface="Calibri"/>
              </a:rPr>
              <a:t>PROFIT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Bonus comes out of safe-net commission, not out of owner's pocket.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BONUS PLAN (boss-approved framework)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No tiers. Flat per-policy base. Per-policy collected incentive on policies &gt;$1,200. Plus a book retention bonus.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5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1. PER-POLICY BASE for NB and RWR (TIERED by written premium)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28016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1371600"/>
              </a:tblGrid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Premium tier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Under $1,200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$1,200 - $1,799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$1,800 - $2,499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$2,500 - $2,999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$3,000+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$13+$2/$1k (max $25)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 (renewals)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see Section 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see Section 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2. COLLECTED INCENTIVE (only on policies &gt; $1,200)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280160"/>
          <a:ext cx="56692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68880"/>
              </a:tblGrid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Collected % of premium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Extra per policy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Below 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 (no incentive)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15% to 19%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20% to 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25% to 99%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100% PIF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2834640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3. RENEWALS = RETENTION BONUS ONLY (NO per-policy REN pay - avoids double-paying)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154680"/>
          <a:ext cx="1161288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743200"/>
                <a:gridCol w="4754880"/>
              </a:tblGrid>
              <a:tr h="41148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Formula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 values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41148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Renewals are paid as ONE bonus scaling with the premium retained. No per-policy REN base or collected incentive.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 written premium x 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$50k REN -&gt; $250/mo | $25k REN -&gt; $125/mo | $10k REN -&gt; $50/mo. Bigger book + bigger premium = bigger bonus.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51960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4. RULES ON TOP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572000"/>
          <a:ext cx="116128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108960"/>
                <a:gridCol w="594360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NB monthly minimum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$45,000 NB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If NB premium &lt; $35k that month, NB pay = 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 monthly minimum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30% retention of book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If retention &lt; 30%, REN pay = 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RWR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NB gate met (or both)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RWR paid when NB gate met. Meeting both also works.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 months (90 days)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100% bonus reversed if policy cancels/rewrites within 90 days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Excel tracker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Required for every policy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Agent enters policy info + down + premium. No entry = no bonus.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Renewal book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Assigned per agent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Newer agents inherit a renewal book from former employees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Minimum Requirements (NEW)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NB premium &gt;= $45,000/mo + REN retention &gt;= 30% of book. RWR follows NB gate.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6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added a minimum at all: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  <a:latin typeface="Calibri"/>
              </a:rPr>
              <a:t>The old plan required 35 NB+RWR policies. That counts rewriting. The new minimum is premium-based and SPLITS NB from REN - so the agent must be writing new business AND building a renewal book. RWR has no own minimum because we don't reward rewriting volume directly.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468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43891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REAL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SWAP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&gt;= $45,000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4/24 (17%)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4/24 (17%)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Top performers only - $45k is a stretch goal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retention &gt;= 30%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modeled 75% (75% &gt;= 30%)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75% &gt;= 30% pass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Industry typical retention; model assumes 75%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BOTH gates (for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0 (0%)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Once renewal book exists, RWR also pays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4389120"/>
            <a:ext cx="1124712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DOES THE MINIMUM COVER AGENT SALARY?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Agent salary basis: $16-$22/hr x 40 hr/wk = $2,773-$3,813/mo (midpoint $3,300).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25% collected (today's typical): $11,250 collected x 11% x (1-21%) = ~$978 retained (30%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50% collected (kicker target): ~$1,955 retained (59%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75% collected (top performer): ~$2,933 retained (89% of salary) - covers salary AND generates profit.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The MINIMUM is the floor. The COLLECTED KICKER is the lever to cover salary and earn bonus on top.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Collected % Kicker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Bigger down payments = less chargeback = bigger bonus.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7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8872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4846320"/>
                <a:gridCol w="228600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Collected %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Per-policy kicker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$7 NB base -&gt; Pays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Below 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$0 (none)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Premium barely collected. No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15% - 19%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Minimum down. Small bump.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 + $1 = $8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20% - 24%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Standard down.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 + $2 = $9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25% - 99%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High collection. Big bump.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 + $5 = $12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100% PIF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Paid in full. Top - zero chargeback risk.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 + $8 = $15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incentivize collected % (not just written premium):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Down payment + PIF money is the ONLY money we are SURE we will keep. Everything else can be charged back.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Bigger down -&gt; smaller monthly bills -&gt; customer is less likely to cancel -&gt; we keep more commission.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PIF (paid in full) = no chargeback risk at all. PIF earns the biggest kicker AND a PIF dollar add-on.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Some carriers pay commission as advance on written premium (chargeback if customer cancels). Some pay as-earned on collected. Either way - net commission ~= collected x rate. The kicker rewards retention through collection.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What It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commission the agency EXPECTS to keep, after royalty and overhead.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8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How commission actually works: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Most carriers pay commission UPFRONT on the WRITTEN premium (advance). Some pay AS EARNED on collected.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On advance carriers, if the customer stops paying, the carrier reverses the unearned commission (chargeback).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Commission RATES vary 8-15% across carriers. We use 11% as a conservative blended rate.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Long-run net commission ~= COLLECTED premium x commission rate. That's what the workbook uses.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5760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53035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Example: $1,500 policy, $150 down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1.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Carrier's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2. Commission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Premium x 11% blended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$165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3. Net commission expected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Collected x 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$150 x 11% = $16.50 expected to keep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4. After royalty (21%)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$13.04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5. After overhead reserve (30%)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$9.13 SAFE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6. Bonus review threshold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Safe net x 40%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$3.65 max bonus on this policy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Real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Abel Guaina, January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9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48463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NB + RWR + REN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$73,734.92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What Abel sold and renewed in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Carrier commission advance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$8,110.84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Carriers paid us this much upfront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Total collected from customers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$12,858.65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Cash that came 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Expected retained commission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$1,414.45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chargeback math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After 17.5% royalty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$1,117.42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corporate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SAFE NET (after 40% overhead reserve)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$782.19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Available for bonus + profit + taxes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Review threshold (40% of safe net)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$312.88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targets above this get flagged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New plan target (no min): $252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$252.00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32% of safe net - well under threshold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Takeaway: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972800" cy="10058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$782 of safe net means Abel's January contribution can support a bonus up to ~$313 before ownership wants a second look. Under the new plan, Abel's January target is $252 - about 32% of safe net, well below the 40% review threshold.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does CURRENT bonus DROP when RWR becomes REN?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Renewals pay MORE than rewrites - but only under the new plan.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10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1F4E78"/>
                </a:solidFill>
                <a:latin typeface="Calibri"/>
              </a:rPr>
              <a:t>Short answer: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101010"/>
                </a:solidFill>
                <a:latin typeface="Calibri"/>
              </a:rPr>
              <a:t>The CURRENT plan does NOT pay anything for renewals. It only counts NB + RWR toward the 35-policy tier. When 50% of RWR moves to REN, the NB+RWR count drops, the tier drops, the bonus drops. Renewals 'paying more' is only true under the NEW plan, where the retention bonus pays for premium retained.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Concrete example - Dialinerys Dieguez, March: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91840"/>
          <a:ext cx="112471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  <a:gridCol w="1097280"/>
                <a:gridCol w="1097280"/>
                <a:gridCol w="2377440"/>
                <a:gridCol w="2560320"/>
              </a:tblGrid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Current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New plan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$597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SWAP (50% RWR -&gt; REN)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-$340 (BAD)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+$108 (GOOD)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Bottom line: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86400"/>
            <a:ext cx="10972800" cy="10972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Per swapped policy: Current loses ~$10 from the count tier. New plan gains via the retention bonus ($5 per $1,000 retained) and RWR step-down ($2-$4 per RWR).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Current, the agency literally pays LESS when the agent does the right thing.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the new plan, the agent gets MORE for retaining instead of rewriting - the exact incentive we want.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Step-By-Step: How the Bonus Is Calculated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Worked example: Dialinerys Dieguez, March 2026. Same agent, same month, three scenarios.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71600"/>
            <a:ext cx="3703320" cy="5212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Volume: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(20%, avg $1,380)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69, $96k W / $19.7k C (20%, avg $1,395)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7, $6k W / $3.1k C (52%, avg $852)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Per-policy BASE (NB &amp; RWR only):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tier '$1,200-$1,799': 38 x $7 = $266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tier '$1,200-$1,799': 69 x $3 = $207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Collected incentive (&gt;$1,200 NB &amp; RWR only):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+$2/pol x 43% = $33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+$2/pol x 44% = $61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Renewals paid via retention bonus only: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Retention = REN $6k x 0.5% = $30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TARGET TOTAL = $597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Apply gates: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PAID = $597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24528" y="1371600"/>
            <a:ext cx="3703320" cy="521208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5968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Volume: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(20%, avg $1,380)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35, $48k W / $9.9k C (20%, avg $1,375)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5968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41, $54k W / $12.9k C (24%, avg $1,319)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15968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Per-policy BASE (NB &amp; RWR only):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15968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tier '$1,200-$1,799': 38 x $7 = $266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tier '$1,200-$1,799': 35 x $3 = $105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5968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Collected incentive (&gt;$1,200 NB &amp; RWR only):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8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+$2/pol x 43% = $33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5968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+$2/pol x 43% = $30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5968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Renewals paid via retention bonus only: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15968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Retention = REN $54k x 0.5% = $270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15968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TARGET TOTAL = $704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15968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Apply gates: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5968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15968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15968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15968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PAID = $704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74736" y="1371600"/>
            <a:ext cx="3703320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66176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Volume: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66176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(20%, avg $1,380)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66176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7, $6k W / $3.1k C (52%, avg $852)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66176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69, $96k W / $19.7k C (20%, avg $1,395)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66176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Per-policy BASE (NB &amp; RWR only):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66176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tier '$1,200-$1,799': 38 x $7 = $266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66176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tier 'Under $1,200': 7 x $2 = $14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66176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Collected incentive (&gt;$1,200 NB &amp; RWR only):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66176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+$2/pol x 43% = $33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66176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+$5/pol x 14% = $5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66176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Renewals paid via retention bonus only: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6176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Retention = REN $96k x 0.5% = $481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6176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TARGET TOTAL = $799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6176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Apply gates: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6176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6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66176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66176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PAID = $799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Abel Guaina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NEW PLAN WITH MIN.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12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$349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$716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$1,300. New plan WITH MIN: REAL $427 | SWAP $642 | FLIP $716.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Dialinerys Dieguez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NEW PLAN WITH MIN.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$272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$704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$624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$1828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$428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$799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$2133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$3,140. New plan WITH MIN: REAL $1,300 | SWAP $1,828 | FLIP $2,133.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Melissa Hernandez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NEW PLAN WITH MIN.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14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$1068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$2,370. New plan WITH MIN: REAL $10 | SWAP $545 | FLIP $1,068.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Flavia Parra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NEW PLAN WITH MIN.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15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$688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$2,070. New plan WITH MIN: REAL $22 | SWAP $366 | FLIP $688.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Thalia Rojas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NEW PLAN WITH MIN.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16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$141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$605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$1,400. New plan WITH MIN: REAL $102 | SWAP $405 | FLIP $605.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Monica Valdes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NEW PLAN WITH MIN.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17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$552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$941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New plan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$608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$1264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$1,940. New plan WITH MIN: REAL $557 | SWAP $941 | FLIP $1,264.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Headline - 4-Month Totals Across 3 Scenarios (6 agents)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REAL = today. 50% SWAP = half of rewrites become renewals. 100% FLIP = renewals &amp; rewrites fully swapped.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18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97280"/>
          <a:ext cx="11430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463040"/>
                <a:gridCol w="1463040"/>
                <a:gridCol w="1463040"/>
                <a:gridCol w="3931920"/>
              </a:tblGrid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REAL (today)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50% SWAP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100% FLIP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Current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CRASHES - current pays $0 for 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New plan - no minimum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$7,322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$8,637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$9,638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Calculated target before applying minimums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New plan WITH MIN (RECOMMENDED)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$2,419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$4,725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$6,475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Pays when NB &gt;= $45k/mo and retention &gt;= 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6576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headline: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10972800" cy="23774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Current plan COLLAPSES under the flip ($2,750 vs today's $12,220). It only rewards rewrite VOLUME.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New plan WITH MIN under 100% FLIP = $6,475 (53% of today's $12,220). The agency keeps more profit while still rewarding the right behavior.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New plan rewards what the current plan ignores: keeping the customer (retention bonus) and collecting more money upfront (kicker).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The pitch to the agent: 'today you're earning $509/mo on rewrites. Under the new plan, when you renew instead, the retention bonus pays you for the premium you kept on the books.'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How We Protect Profit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layers. 90-day chargeback is the strongest.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19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3749039" cy="52120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3749039" cy="73152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MINIMUM 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NB premium ≥ $45,000/mo + REN retention ≥ 30%. RWR follows NB gate.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If the agent is not producing baseline volume, NO bonus that month. Easy to understand, easy to enforce.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188720"/>
            <a:ext cx="3749039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188720"/>
            <a:ext cx="3749039" cy="73152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REVIEW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If monthly bonus &gt; 40% of safe net, ownership reviews.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Soft flag, not auto-cut. Catches outlier months where collection is unusually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188720"/>
            <a:ext cx="3749039" cy="521208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188720"/>
            <a:ext cx="3749039" cy="7315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90-DAY CHARGEBACK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of the paid bonus is REVERSED if the policy cancels or rewrites within 90 days.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This is the real profit shield. Matches the carrier's commission chargeback exposure exactly. If the agency loses commission, the agent loses bonus.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Bonus Plan with $45,000 NB + 30% retention minimums. Pilot 90 days, then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20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3716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3716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F4E78"/>
                </a:solidFill>
                <a:latin typeface="Calibri"/>
              </a:rPr>
              <a:t>THE NEW BONUS PLAN - with $45,000 NB premium + 30% retention minimums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737360"/>
            <a:ext cx="10332720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101010"/>
                </a:solidFill>
                <a:latin typeface="Calibri"/>
              </a:rPr>
              <a:t>Balanced for agent motivation, retention upside, profit protection, and clean payroll math.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the new plan beats today's: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Pays for RENEWALS (today's plan pays $0 for renewals) - turns retention into a paying behavior.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Pays MORE on bigger premium policies via NB tiers - aligns agent pay with agency commission.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Pays MORE on policies with higher collected % via the kicker - rewards getting cash up front.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Costs LESS at full target than today's count-tier plan - new plan FLIP $6,475 vs current $12,220.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Levers to fine-tune over 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Calibri"/>
              </a:rPr>
              <a:t>1) Retention bonus rate (0.5% today - dial up if too lean, down if too rich).   2) Minimum thresholds (NB $45k / retention 30% - soften if too punishing, tighten if too easy).   3) Per-policy NB tier amounts and collected-kicker bands.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phases. ~10 weeks from approval to first chargeback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69164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6916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1887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WEEK 1-2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1887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APPROVE + COMMUNICATE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60020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Ownership signs off on the new plan rules and minimum thresholds.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Manager rolls out the rules to the agents.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Print the Manual Tracker (in the workbook) for each desk.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11247120" cy="169164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228600" cy="169164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7180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70AD47"/>
                </a:solidFill>
                <a:latin typeface="Calibri"/>
              </a:rPr>
              <a:t>WEEK 3-6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71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PILOT MONTH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8328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the plan side-by-side with the OLD plan for ONE FULL MONTH.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Pay agents the HIGHER of the two each month during the pilot.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Use the manual tracker to verify coverage / PIF / collected.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End of month: compare actual paid vs forecast and adjust if needed.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63440"/>
            <a:ext cx="11247120" cy="16916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663440"/>
            <a:ext cx="228600" cy="16916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7548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BF9000"/>
                </a:solidFill>
                <a:latin typeface="Calibri"/>
              </a:rPr>
              <a:t>WEEK 7-10+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7548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FULL ROLLOUT + REVIEWS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6636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Switch to NEW plan exclusively.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monthly review at the 40% safe-net flag.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week 12 (90 days after first paid policies), run the FIRST CHARGEBACK review.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90 days end: re-baseline rates if the renewal book has started to build.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Decision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400" b="0" i="0">
                <a:solidFill>
                  <a:srgbClr val="BDD7EE"/>
                </a:solidFill>
                <a:latin typeface="Calibri"/>
              </a:rPr>
              <a:t>The new bonus plan with NB &amp; retention minimums.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Workbook companion file: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BDD7EE"/>
                </a:solidFill>
                <a:latin typeface="Calibri"/>
              </a:rPr>
              <a:t>Bonus_Plan_FINAL.xlsx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1">
                <a:solidFill>
                  <a:srgbClr val="BDD7EE"/>
                </a:solidFill>
                <a:latin typeface="Calibri"/>
              </a:rPr>
              <a:t>One plan. One decision. Ready to roll out in 10 weeks.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